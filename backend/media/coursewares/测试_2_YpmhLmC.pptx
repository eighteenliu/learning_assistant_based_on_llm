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44"/>
  </p:notesMasterIdLst>
  <p:handoutMasterIdLst>
    <p:handoutMasterId r:id="rId45"/>
  </p:handoutMasterIdLst>
  <p:sldIdLst>
    <p:sldId id="256" r:id="rId2"/>
    <p:sldId id="257" r:id="rId3"/>
    <p:sldId id="308" r:id="rId4"/>
    <p:sldId id="325" r:id="rId5"/>
    <p:sldId id="343" r:id="rId6"/>
    <p:sldId id="346" r:id="rId7"/>
    <p:sldId id="348" r:id="rId8"/>
    <p:sldId id="350" r:id="rId9"/>
    <p:sldId id="312" r:id="rId10"/>
    <p:sldId id="313" r:id="rId11"/>
    <p:sldId id="309" r:id="rId12"/>
    <p:sldId id="315" r:id="rId13"/>
    <p:sldId id="289" r:id="rId14"/>
    <p:sldId id="290" r:id="rId15"/>
    <p:sldId id="291" r:id="rId16"/>
    <p:sldId id="292" r:id="rId17"/>
    <p:sldId id="293" r:id="rId18"/>
    <p:sldId id="336" r:id="rId19"/>
    <p:sldId id="316" r:id="rId20"/>
    <p:sldId id="359" r:id="rId21"/>
    <p:sldId id="360" r:id="rId22"/>
    <p:sldId id="361" r:id="rId23"/>
    <p:sldId id="362" r:id="rId24"/>
    <p:sldId id="363" r:id="rId25"/>
    <p:sldId id="364" r:id="rId26"/>
    <p:sldId id="335" r:id="rId27"/>
    <p:sldId id="307" r:id="rId28"/>
    <p:sldId id="274" r:id="rId29"/>
    <p:sldId id="331" r:id="rId30"/>
    <p:sldId id="286" r:id="rId31"/>
    <p:sldId id="351" r:id="rId32"/>
    <p:sldId id="353" r:id="rId33"/>
    <p:sldId id="354" r:id="rId34"/>
    <p:sldId id="355" r:id="rId35"/>
    <p:sldId id="357" r:id="rId36"/>
    <p:sldId id="358" r:id="rId37"/>
    <p:sldId id="319" r:id="rId38"/>
    <p:sldId id="269" r:id="rId39"/>
    <p:sldId id="306" r:id="rId40"/>
    <p:sldId id="322" r:id="rId41"/>
    <p:sldId id="365" r:id="rId42"/>
    <p:sldId id="323" r:id="rId4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46" autoAdjust="0"/>
    <p:restoredTop sz="84133" autoAdjust="0"/>
  </p:normalViewPr>
  <p:slideViewPr>
    <p:cSldViewPr>
      <p:cViewPr varScale="1">
        <p:scale>
          <a:sx n="91" d="100"/>
          <a:sy n="91" d="100"/>
        </p:scale>
        <p:origin x="-516" y="-108"/>
      </p:cViewPr>
      <p:guideLst>
        <p:guide orient="horz" pos="2160"/>
        <p:guide pos="2880"/>
      </p:guideLst>
    </p:cSldViewPr>
  </p:slideViewPr>
  <p:outlineViewPr>
    <p:cViewPr>
      <p:scale>
        <a:sx n="33" d="100"/>
        <a:sy n="33" d="100"/>
      </p:scale>
      <p:origin x="0" y="12672"/>
    </p:cViewPr>
  </p:outlineViewPr>
  <p:notesTextViewPr>
    <p:cViewPr>
      <p:scale>
        <a:sx n="100" d="100"/>
        <a:sy n="100" d="100"/>
      </p:scale>
      <p:origin x="0" y="0"/>
    </p:cViewPr>
  </p:notesTextViewPr>
  <p:notesViewPr>
    <p:cSldViewPr>
      <p:cViewPr varScale="1">
        <p:scale>
          <a:sx n="81" d="100"/>
          <a:sy n="81" d="100"/>
        </p:scale>
        <p:origin x="-2046"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05E2C3-3A6D-4598-98FF-BF2CF59C05FB}" type="doc">
      <dgm:prSet loTypeId="urn:microsoft.com/office/officeart/2005/8/layout/cycle3" loCatId="cycle" qsTypeId="urn:microsoft.com/office/officeart/2005/8/quickstyle/simple3" qsCatId="simple" csTypeId="urn:microsoft.com/office/officeart/2005/8/colors/accent1_2" csCatId="accent1" phldr="1"/>
      <dgm:spPr/>
      <dgm:t>
        <a:bodyPr/>
        <a:lstStyle/>
        <a:p>
          <a:endParaRPr lang="en-US"/>
        </a:p>
      </dgm:t>
    </dgm:pt>
    <dgm:pt modelId="{4873ACB2-68DE-4210-8EFA-20CDCB3C4493}">
      <dgm:prSet phldrT="[Text]" custT="1"/>
      <dgm:spPr>
        <a:solidFill>
          <a:schemeClr val="accent1">
            <a:lumMod val="40000"/>
            <a:lumOff val="60000"/>
          </a:schemeClr>
        </a:solidFill>
      </dgm:spPr>
      <dgm:t>
        <a:bodyPr/>
        <a:lstStyle/>
        <a:p>
          <a:r>
            <a:rPr lang="en-US" sz="1900" dirty="0" smtClean="0"/>
            <a:t>Develop solicitation and incorporate geo preference points into scoring criteria</a:t>
          </a:r>
          <a:endParaRPr lang="en-US" sz="1900" dirty="0"/>
        </a:p>
      </dgm:t>
    </dgm:pt>
    <dgm:pt modelId="{826F701D-D468-49DC-A1C9-4FAEF00AE6AF}" type="parTrans" cxnId="{2D4D8613-8979-4EE4-A3F5-71388A93A451}">
      <dgm:prSet/>
      <dgm:spPr/>
      <dgm:t>
        <a:bodyPr/>
        <a:lstStyle/>
        <a:p>
          <a:endParaRPr lang="en-US"/>
        </a:p>
      </dgm:t>
    </dgm:pt>
    <dgm:pt modelId="{C42AFE05-07D3-42F7-9934-D04411B988CB}" type="sibTrans" cxnId="{2D4D8613-8979-4EE4-A3F5-71388A93A451}">
      <dgm:prSet/>
      <dgm:spPr/>
      <dgm:t>
        <a:bodyPr/>
        <a:lstStyle/>
        <a:p>
          <a:endParaRPr lang="en-US"/>
        </a:p>
      </dgm:t>
    </dgm:pt>
    <dgm:pt modelId="{1BC2FAD5-C62C-4A42-AE81-14EDA2A28525}">
      <dgm:prSet phldrT="[Text]" custT="1"/>
      <dgm:spPr>
        <a:solidFill>
          <a:schemeClr val="accent1">
            <a:lumMod val="40000"/>
            <a:lumOff val="60000"/>
          </a:schemeClr>
        </a:solidFill>
      </dgm:spPr>
      <dgm:t>
        <a:bodyPr/>
        <a:lstStyle/>
        <a:p>
          <a:r>
            <a:rPr lang="en-US" sz="1900" dirty="0" smtClean="0"/>
            <a:t>Publicly announce the IFB/RFP</a:t>
          </a:r>
          <a:endParaRPr lang="en-US" sz="1900" dirty="0"/>
        </a:p>
      </dgm:t>
    </dgm:pt>
    <dgm:pt modelId="{EED13CA9-CEC5-4066-BF92-8817BA8AE0D8}" type="parTrans" cxnId="{CEEEF02A-8B52-4CC6-A8D5-7CAF47027E1B}">
      <dgm:prSet/>
      <dgm:spPr/>
      <dgm:t>
        <a:bodyPr/>
        <a:lstStyle/>
        <a:p>
          <a:endParaRPr lang="en-US"/>
        </a:p>
      </dgm:t>
    </dgm:pt>
    <dgm:pt modelId="{37EDF47C-C377-4B25-931C-1B93FC397037}" type="sibTrans" cxnId="{CEEEF02A-8B52-4CC6-A8D5-7CAF47027E1B}">
      <dgm:prSet/>
      <dgm:spPr/>
      <dgm:t>
        <a:bodyPr/>
        <a:lstStyle/>
        <a:p>
          <a:endParaRPr lang="en-US"/>
        </a:p>
      </dgm:t>
    </dgm:pt>
    <dgm:pt modelId="{0CD47BE5-48C8-440D-B8A2-2FA884967CAC}">
      <dgm:prSet phldrT="[Text]" custT="1"/>
      <dgm:spPr>
        <a:solidFill>
          <a:schemeClr val="accent1">
            <a:lumMod val="40000"/>
            <a:lumOff val="60000"/>
          </a:schemeClr>
        </a:solidFill>
      </dgm:spPr>
      <dgm:t>
        <a:bodyPr/>
        <a:lstStyle/>
        <a:p>
          <a:r>
            <a:rPr lang="en-US" sz="1900" dirty="0" smtClean="0"/>
            <a:t>Evaluate</a:t>
          </a:r>
          <a:r>
            <a:rPr lang="en-US" sz="1900" baseline="0" dirty="0" smtClean="0"/>
            <a:t> bidders using established criteria</a:t>
          </a:r>
          <a:endParaRPr lang="en-US" sz="1900" dirty="0"/>
        </a:p>
      </dgm:t>
    </dgm:pt>
    <dgm:pt modelId="{4C78A962-A2DF-42AB-816E-B8783B6C8D05}" type="parTrans" cxnId="{11CD56FB-EAB2-48DB-81AE-80876B309246}">
      <dgm:prSet/>
      <dgm:spPr/>
      <dgm:t>
        <a:bodyPr/>
        <a:lstStyle/>
        <a:p>
          <a:endParaRPr lang="en-US"/>
        </a:p>
      </dgm:t>
    </dgm:pt>
    <dgm:pt modelId="{DB4FB77A-21FB-4F7F-A96A-64F4EC0823E8}" type="sibTrans" cxnId="{11CD56FB-EAB2-48DB-81AE-80876B309246}">
      <dgm:prSet/>
      <dgm:spPr/>
      <dgm:t>
        <a:bodyPr/>
        <a:lstStyle/>
        <a:p>
          <a:endParaRPr lang="en-US"/>
        </a:p>
      </dgm:t>
    </dgm:pt>
    <dgm:pt modelId="{7E5155B9-7C3B-4F38-B5F7-B1DCF1D61D15}">
      <dgm:prSet phldrT="[Text]" custT="1"/>
      <dgm:spPr>
        <a:solidFill>
          <a:schemeClr val="accent1">
            <a:lumMod val="40000"/>
            <a:lumOff val="60000"/>
          </a:schemeClr>
        </a:solidFill>
      </dgm:spPr>
      <dgm:t>
        <a:bodyPr/>
        <a:lstStyle/>
        <a:p>
          <a:r>
            <a:rPr lang="en-US" sz="1900" dirty="0" smtClean="0"/>
            <a:t>Producers of locally-grown unprocessed products receive extra points in scoring</a:t>
          </a:r>
          <a:endParaRPr lang="en-US" sz="1900" dirty="0"/>
        </a:p>
      </dgm:t>
    </dgm:pt>
    <dgm:pt modelId="{2E2077D5-6AFF-4535-B89E-9243347DF17A}" type="parTrans" cxnId="{9E00A485-9798-4F1D-B203-C1824C98C9CA}">
      <dgm:prSet/>
      <dgm:spPr/>
      <dgm:t>
        <a:bodyPr/>
        <a:lstStyle/>
        <a:p>
          <a:endParaRPr lang="en-US"/>
        </a:p>
      </dgm:t>
    </dgm:pt>
    <dgm:pt modelId="{3DF13E59-7D9D-4942-8DB6-079651557176}" type="sibTrans" cxnId="{9E00A485-9798-4F1D-B203-C1824C98C9CA}">
      <dgm:prSet/>
      <dgm:spPr/>
      <dgm:t>
        <a:bodyPr/>
        <a:lstStyle/>
        <a:p>
          <a:endParaRPr lang="en-US"/>
        </a:p>
      </dgm:t>
    </dgm:pt>
    <dgm:pt modelId="{A1B3CD0D-65A0-4B35-86C6-F53D4B306772}">
      <dgm:prSet phldrT="[Text]" custT="1"/>
      <dgm:spPr>
        <a:solidFill>
          <a:schemeClr val="accent1">
            <a:lumMod val="40000"/>
            <a:lumOff val="60000"/>
          </a:schemeClr>
        </a:solidFill>
      </dgm:spPr>
      <dgm:t>
        <a:bodyPr/>
        <a:lstStyle/>
        <a:p>
          <a:r>
            <a:rPr lang="en-US" sz="1900" dirty="0" smtClean="0"/>
            <a:t>Determine most responsive and responsible bidder at lowest price</a:t>
          </a:r>
          <a:endParaRPr lang="en-US" sz="1900" dirty="0"/>
        </a:p>
      </dgm:t>
    </dgm:pt>
    <dgm:pt modelId="{94F28C2F-57D0-40A8-87A1-005B77062153}" type="parTrans" cxnId="{4FF9D297-DB12-4C6B-ADCC-9E6E022E4056}">
      <dgm:prSet/>
      <dgm:spPr/>
      <dgm:t>
        <a:bodyPr/>
        <a:lstStyle/>
        <a:p>
          <a:endParaRPr lang="en-US"/>
        </a:p>
      </dgm:t>
    </dgm:pt>
    <dgm:pt modelId="{6D5B1EF0-B736-41CB-9B2B-AED9490432A6}" type="sibTrans" cxnId="{4FF9D297-DB12-4C6B-ADCC-9E6E022E4056}">
      <dgm:prSet/>
      <dgm:spPr/>
      <dgm:t>
        <a:bodyPr/>
        <a:lstStyle/>
        <a:p>
          <a:endParaRPr lang="en-US"/>
        </a:p>
      </dgm:t>
    </dgm:pt>
    <dgm:pt modelId="{D985EFC8-B056-4013-A9D3-81A311782C55}" type="pres">
      <dgm:prSet presAssocID="{4005E2C3-3A6D-4598-98FF-BF2CF59C05FB}" presName="Name0" presStyleCnt="0">
        <dgm:presLayoutVars>
          <dgm:dir/>
          <dgm:resizeHandles val="exact"/>
        </dgm:presLayoutVars>
      </dgm:prSet>
      <dgm:spPr/>
      <dgm:t>
        <a:bodyPr/>
        <a:lstStyle/>
        <a:p>
          <a:endParaRPr lang="en-US"/>
        </a:p>
      </dgm:t>
    </dgm:pt>
    <dgm:pt modelId="{DE2D0B45-3DF9-4060-87C5-29731E8DD829}" type="pres">
      <dgm:prSet presAssocID="{4005E2C3-3A6D-4598-98FF-BF2CF59C05FB}" presName="cycle" presStyleCnt="0"/>
      <dgm:spPr/>
    </dgm:pt>
    <dgm:pt modelId="{7F082004-9039-4CC5-8B05-BCBFA0C0BCE7}" type="pres">
      <dgm:prSet presAssocID="{4873ACB2-68DE-4210-8EFA-20CDCB3C4493}" presName="nodeFirstNode" presStyleLbl="node1" presStyleIdx="0" presStyleCnt="5" custScaleX="110642" custScaleY="113430">
        <dgm:presLayoutVars>
          <dgm:bulletEnabled val="1"/>
        </dgm:presLayoutVars>
      </dgm:prSet>
      <dgm:spPr/>
      <dgm:t>
        <a:bodyPr/>
        <a:lstStyle/>
        <a:p>
          <a:endParaRPr lang="en-US"/>
        </a:p>
      </dgm:t>
    </dgm:pt>
    <dgm:pt modelId="{ADE849B6-1534-4D6E-9062-A5A16B6B84FA}" type="pres">
      <dgm:prSet presAssocID="{C42AFE05-07D3-42F7-9934-D04411B988CB}" presName="sibTransFirstNode" presStyleLbl="bgShp" presStyleIdx="0" presStyleCnt="1"/>
      <dgm:spPr/>
      <dgm:t>
        <a:bodyPr/>
        <a:lstStyle/>
        <a:p>
          <a:endParaRPr lang="en-US"/>
        </a:p>
      </dgm:t>
    </dgm:pt>
    <dgm:pt modelId="{F18FF581-A13C-4719-9EEF-EBA393C64274}" type="pres">
      <dgm:prSet presAssocID="{1BC2FAD5-C62C-4A42-AE81-14EDA2A28525}" presName="nodeFollowingNodes" presStyleLbl="node1" presStyleIdx="1" presStyleCnt="5" custScaleX="110642" custScaleY="113430">
        <dgm:presLayoutVars>
          <dgm:bulletEnabled val="1"/>
        </dgm:presLayoutVars>
      </dgm:prSet>
      <dgm:spPr/>
      <dgm:t>
        <a:bodyPr/>
        <a:lstStyle/>
        <a:p>
          <a:endParaRPr lang="en-US"/>
        </a:p>
      </dgm:t>
    </dgm:pt>
    <dgm:pt modelId="{35BB771B-56FB-40D3-B8F2-C650B76E5CFB}" type="pres">
      <dgm:prSet presAssocID="{0CD47BE5-48C8-440D-B8A2-2FA884967CAC}" presName="nodeFollowingNodes" presStyleLbl="node1" presStyleIdx="2" presStyleCnt="5" custScaleX="110642" custScaleY="113430" custRadScaleRad="108715" custRadScaleInc="-13482">
        <dgm:presLayoutVars>
          <dgm:bulletEnabled val="1"/>
        </dgm:presLayoutVars>
      </dgm:prSet>
      <dgm:spPr/>
      <dgm:t>
        <a:bodyPr/>
        <a:lstStyle/>
        <a:p>
          <a:endParaRPr lang="en-US"/>
        </a:p>
      </dgm:t>
    </dgm:pt>
    <dgm:pt modelId="{11F26D17-7ABC-4082-9800-08A826EDCC54}" type="pres">
      <dgm:prSet presAssocID="{7E5155B9-7C3B-4F38-B5F7-B1DCF1D61D15}" presName="nodeFollowingNodes" presStyleLbl="node1" presStyleIdx="3" presStyleCnt="5" custScaleX="110642" custScaleY="113430" custRadScaleRad="107105" custRadScaleInc="11988">
        <dgm:presLayoutVars>
          <dgm:bulletEnabled val="1"/>
        </dgm:presLayoutVars>
      </dgm:prSet>
      <dgm:spPr/>
      <dgm:t>
        <a:bodyPr/>
        <a:lstStyle/>
        <a:p>
          <a:endParaRPr lang="en-US"/>
        </a:p>
      </dgm:t>
    </dgm:pt>
    <dgm:pt modelId="{A6ABBB07-CF19-45FD-A07E-15E9B7C38B50}" type="pres">
      <dgm:prSet presAssocID="{A1B3CD0D-65A0-4B35-86C6-F53D4B306772}" presName="nodeFollowingNodes" presStyleLbl="node1" presStyleIdx="4" presStyleCnt="5" custScaleX="110642" custScaleY="113430">
        <dgm:presLayoutVars>
          <dgm:bulletEnabled val="1"/>
        </dgm:presLayoutVars>
      </dgm:prSet>
      <dgm:spPr/>
      <dgm:t>
        <a:bodyPr/>
        <a:lstStyle/>
        <a:p>
          <a:endParaRPr lang="en-US"/>
        </a:p>
      </dgm:t>
    </dgm:pt>
  </dgm:ptLst>
  <dgm:cxnLst>
    <dgm:cxn modelId="{2D4D8613-8979-4EE4-A3F5-71388A93A451}" srcId="{4005E2C3-3A6D-4598-98FF-BF2CF59C05FB}" destId="{4873ACB2-68DE-4210-8EFA-20CDCB3C4493}" srcOrd="0" destOrd="0" parTransId="{826F701D-D468-49DC-A1C9-4FAEF00AE6AF}" sibTransId="{C42AFE05-07D3-42F7-9934-D04411B988CB}"/>
    <dgm:cxn modelId="{9E00A485-9798-4F1D-B203-C1824C98C9CA}" srcId="{4005E2C3-3A6D-4598-98FF-BF2CF59C05FB}" destId="{7E5155B9-7C3B-4F38-B5F7-B1DCF1D61D15}" srcOrd="3" destOrd="0" parTransId="{2E2077D5-6AFF-4535-B89E-9243347DF17A}" sibTransId="{3DF13E59-7D9D-4942-8DB6-079651557176}"/>
    <dgm:cxn modelId="{4FF9D297-DB12-4C6B-ADCC-9E6E022E4056}" srcId="{4005E2C3-3A6D-4598-98FF-BF2CF59C05FB}" destId="{A1B3CD0D-65A0-4B35-86C6-F53D4B306772}" srcOrd="4" destOrd="0" parTransId="{94F28C2F-57D0-40A8-87A1-005B77062153}" sibTransId="{6D5B1EF0-B736-41CB-9B2B-AED9490432A6}"/>
    <dgm:cxn modelId="{846BDD5F-22B7-4A30-950E-E4DC0A6EC309}" type="presOf" srcId="{0CD47BE5-48C8-440D-B8A2-2FA884967CAC}" destId="{35BB771B-56FB-40D3-B8F2-C650B76E5CFB}" srcOrd="0" destOrd="0" presId="urn:microsoft.com/office/officeart/2005/8/layout/cycle3"/>
    <dgm:cxn modelId="{AABC1D51-990A-4126-84CD-8CA35E7FE62C}" type="presOf" srcId="{C42AFE05-07D3-42F7-9934-D04411B988CB}" destId="{ADE849B6-1534-4D6E-9062-A5A16B6B84FA}" srcOrd="0" destOrd="0" presId="urn:microsoft.com/office/officeart/2005/8/layout/cycle3"/>
    <dgm:cxn modelId="{96AE68D6-B0BF-4C5E-A44F-D12E538CEC28}" type="presOf" srcId="{1BC2FAD5-C62C-4A42-AE81-14EDA2A28525}" destId="{F18FF581-A13C-4719-9EEF-EBA393C64274}" srcOrd="0" destOrd="0" presId="urn:microsoft.com/office/officeart/2005/8/layout/cycle3"/>
    <dgm:cxn modelId="{22AA1D3C-9B63-4273-9E55-688A2A3C6936}" type="presOf" srcId="{A1B3CD0D-65A0-4B35-86C6-F53D4B306772}" destId="{A6ABBB07-CF19-45FD-A07E-15E9B7C38B50}" srcOrd="0" destOrd="0" presId="urn:microsoft.com/office/officeart/2005/8/layout/cycle3"/>
    <dgm:cxn modelId="{CEEEF02A-8B52-4CC6-A8D5-7CAF47027E1B}" srcId="{4005E2C3-3A6D-4598-98FF-BF2CF59C05FB}" destId="{1BC2FAD5-C62C-4A42-AE81-14EDA2A28525}" srcOrd="1" destOrd="0" parTransId="{EED13CA9-CEC5-4066-BF92-8817BA8AE0D8}" sibTransId="{37EDF47C-C377-4B25-931C-1B93FC397037}"/>
    <dgm:cxn modelId="{AD1776B3-1B7C-4452-A4BA-DC0C7BBE864D}" type="presOf" srcId="{4005E2C3-3A6D-4598-98FF-BF2CF59C05FB}" destId="{D985EFC8-B056-4013-A9D3-81A311782C55}" srcOrd="0" destOrd="0" presId="urn:microsoft.com/office/officeart/2005/8/layout/cycle3"/>
    <dgm:cxn modelId="{11CD56FB-EAB2-48DB-81AE-80876B309246}" srcId="{4005E2C3-3A6D-4598-98FF-BF2CF59C05FB}" destId="{0CD47BE5-48C8-440D-B8A2-2FA884967CAC}" srcOrd="2" destOrd="0" parTransId="{4C78A962-A2DF-42AB-816E-B8783B6C8D05}" sibTransId="{DB4FB77A-21FB-4F7F-A96A-64F4EC0823E8}"/>
    <dgm:cxn modelId="{6E957C30-940B-423B-8A97-2D71CECD10A6}" type="presOf" srcId="{4873ACB2-68DE-4210-8EFA-20CDCB3C4493}" destId="{7F082004-9039-4CC5-8B05-BCBFA0C0BCE7}" srcOrd="0" destOrd="0" presId="urn:microsoft.com/office/officeart/2005/8/layout/cycle3"/>
    <dgm:cxn modelId="{D3D9CE13-82BA-48FB-83C0-5E10FACE07E0}" type="presOf" srcId="{7E5155B9-7C3B-4F38-B5F7-B1DCF1D61D15}" destId="{11F26D17-7ABC-4082-9800-08A826EDCC54}" srcOrd="0" destOrd="0" presId="urn:microsoft.com/office/officeart/2005/8/layout/cycle3"/>
    <dgm:cxn modelId="{219CA219-549F-4118-83FF-453DE7AFB33C}" type="presParOf" srcId="{D985EFC8-B056-4013-A9D3-81A311782C55}" destId="{DE2D0B45-3DF9-4060-87C5-29731E8DD829}" srcOrd="0" destOrd="0" presId="urn:microsoft.com/office/officeart/2005/8/layout/cycle3"/>
    <dgm:cxn modelId="{6982283B-5343-431E-9ED1-96F2670432BF}" type="presParOf" srcId="{DE2D0B45-3DF9-4060-87C5-29731E8DD829}" destId="{7F082004-9039-4CC5-8B05-BCBFA0C0BCE7}" srcOrd="0" destOrd="0" presId="urn:microsoft.com/office/officeart/2005/8/layout/cycle3"/>
    <dgm:cxn modelId="{52F4DA65-4D0B-4FD6-98FA-29B45CC35038}" type="presParOf" srcId="{DE2D0B45-3DF9-4060-87C5-29731E8DD829}" destId="{ADE849B6-1534-4D6E-9062-A5A16B6B84FA}" srcOrd="1" destOrd="0" presId="urn:microsoft.com/office/officeart/2005/8/layout/cycle3"/>
    <dgm:cxn modelId="{A51BD69D-C806-4FF1-8E2B-8BB10178327B}" type="presParOf" srcId="{DE2D0B45-3DF9-4060-87C5-29731E8DD829}" destId="{F18FF581-A13C-4719-9EEF-EBA393C64274}" srcOrd="2" destOrd="0" presId="urn:microsoft.com/office/officeart/2005/8/layout/cycle3"/>
    <dgm:cxn modelId="{72CE13D4-8C6C-4E03-BA8A-FEFCE531B93B}" type="presParOf" srcId="{DE2D0B45-3DF9-4060-87C5-29731E8DD829}" destId="{35BB771B-56FB-40D3-B8F2-C650B76E5CFB}" srcOrd="3" destOrd="0" presId="urn:microsoft.com/office/officeart/2005/8/layout/cycle3"/>
    <dgm:cxn modelId="{A58686F7-EF4B-4309-8AB3-676975131DAE}" type="presParOf" srcId="{DE2D0B45-3DF9-4060-87C5-29731E8DD829}" destId="{11F26D17-7ABC-4082-9800-08A826EDCC54}" srcOrd="4" destOrd="0" presId="urn:microsoft.com/office/officeart/2005/8/layout/cycle3"/>
    <dgm:cxn modelId="{6C553E02-3282-4ABF-91C4-447A2D9402B8}" type="presParOf" srcId="{DE2D0B45-3DF9-4060-87C5-29731E8DD829}" destId="{A6ABBB07-CF19-45FD-A07E-15E9B7C38B50}"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05E2C3-3A6D-4598-98FF-BF2CF59C05FB}" type="doc">
      <dgm:prSet loTypeId="urn:microsoft.com/office/officeart/2005/8/layout/cycle3" loCatId="cycle" qsTypeId="urn:microsoft.com/office/officeart/2005/8/quickstyle/simple3" qsCatId="simple" csTypeId="urn:microsoft.com/office/officeart/2005/8/colors/accent1_2" csCatId="accent1" phldr="1"/>
      <dgm:spPr/>
      <dgm:t>
        <a:bodyPr/>
        <a:lstStyle/>
        <a:p>
          <a:endParaRPr lang="en-US"/>
        </a:p>
      </dgm:t>
    </dgm:pt>
    <dgm:pt modelId="{4873ACB2-68DE-4210-8EFA-20CDCB3C4493}">
      <dgm:prSet phldrT="[Text]" custT="1"/>
      <dgm:spPr>
        <a:solidFill>
          <a:schemeClr val="accent1">
            <a:lumMod val="40000"/>
            <a:lumOff val="60000"/>
          </a:schemeClr>
        </a:solidFill>
      </dgm:spPr>
      <dgm:t>
        <a:bodyPr/>
        <a:lstStyle/>
        <a:p>
          <a:r>
            <a:rPr lang="en-US" sz="1900" dirty="0" smtClean="0"/>
            <a:t>Develop your specs in writing</a:t>
          </a:r>
          <a:endParaRPr lang="en-US" sz="1900" dirty="0"/>
        </a:p>
      </dgm:t>
    </dgm:pt>
    <dgm:pt modelId="{826F701D-D468-49DC-A1C9-4FAEF00AE6AF}" type="parTrans" cxnId="{2D4D8613-8979-4EE4-A3F5-71388A93A451}">
      <dgm:prSet/>
      <dgm:spPr/>
      <dgm:t>
        <a:bodyPr/>
        <a:lstStyle/>
        <a:p>
          <a:endParaRPr lang="en-US"/>
        </a:p>
      </dgm:t>
    </dgm:pt>
    <dgm:pt modelId="{C42AFE05-07D3-42F7-9934-D04411B988CB}" type="sibTrans" cxnId="{2D4D8613-8979-4EE4-A3F5-71388A93A451}">
      <dgm:prSet/>
      <dgm:spPr/>
      <dgm:t>
        <a:bodyPr/>
        <a:lstStyle/>
        <a:p>
          <a:endParaRPr lang="en-US"/>
        </a:p>
      </dgm:t>
    </dgm:pt>
    <dgm:pt modelId="{1BC2FAD5-C62C-4A42-AE81-14EDA2A28525}">
      <dgm:prSet phldrT="[Text]" custT="1"/>
      <dgm:spPr>
        <a:solidFill>
          <a:schemeClr val="accent1">
            <a:lumMod val="40000"/>
            <a:lumOff val="60000"/>
          </a:schemeClr>
        </a:solidFill>
      </dgm:spPr>
      <dgm:t>
        <a:bodyPr/>
        <a:lstStyle/>
        <a:p>
          <a:r>
            <a:rPr lang="en-US" sz="1900" dirty="0" smtClean="0"/>
            <a:t>Identify sources eligible, able, and willing to provide products</a:t>
          </a:r>
          <a:endParaRPr lang="en-US" sz="1900" dirty="0"/>
        </a:p>
      </dgm:t>
    </dgm:pt>
    <dgm:pt modelId="{EED13CA9-CEC5-4066-BF92-8817BA8AE0D8}" type="parTrans" cxnId="{CEEEF02A-8B52-4CC6-A8D5-7CAF47027E1B}">
      <dgm:prSet/>
      <dgm:spPr/>
      <dgm:t>
        <a:bodyPr/>
        <a:lstStyle/>
        <a:p>
          <a:endParaRPr lang="en-US"/>
        </a:p>
      </dgm:t>
    </dgm:pt>
    <dgm:pt modelId="{37EDF47C-C377-4B25-931C-1B93FC397037}" type="sibTrans" cxnId="{CEEEF02A-8B52-4CC6-A8D5-7CAF47027E1B}">
      <dgm:prSet/>
      <dgm:spPr/>
      <dgm:t>
        <a:bodyPr/>
        <a:lstStyle/>
        <a:p>
          <a:endParaRPr lang="en-US"/>
        </a:p>
      </dgm:t>
    </dgm:pt>
    <dgm:pt modelId="{0CD47BE5-48C8-440D-B8A2-2FA884967CAC}">
      <dgm:prSet phldrT="[Text]" custT="1"/>
      <dgm:spPr>
        <a:solidFill>
          <a:schemeClr val="accent1">
            <a:lumMod val="40000"/>
            <a:lumOff val="60000"/>
          </a:schemeClr>
        </a:solidFill>
      </dgm:spPr>
      <dgm:t>
        <a:bodyPr/>
        <a:lstStyle/>
        <a:p>
          <a:r>
            <a:rPr lang="en-US" sz="1900" dirty="0" smtClean="0"/>
            <a:t>Contact at least three s</a:t>
          </a:r>
          <a:r>
            <a:rPr lang="en-US" sz="1800" dirty="0" smtClean="0"/>
            <a:t>ources</a:t>
          </a:r>
          <a:endParaRPr lang="en-US" sz="1900" dirty="0"/>
        </a:p>
      </dgm:t>
    </dgm:pt>
    <dgm:pt modelId="{4C78A962-A2DF-42AB-816E-B8783B6C8D05}" type="parTrans" cxnId="{11CD56FB-EAB2-48DB-81AE-80876B309246}">
      <dgm:prSet/>
      <dgm:spPr/>
      <dgm:t>
        <a:bodyPr/>
        <a:lstStyle/>
        <a:p>
          <a:endParaRPr lang="en-US"/>
        </a:p>
      </dgm:t>
    </dgm:pt>
    <dgm:pt modelId="{DB4FB77A-21FB-4F7F-A96A-64F4EC0823E8}" type="sibTrans" cxnId="{11CD56FB-EAB2-48DB-81AE-80876B309246}">
      <dgm:prSet/>
      <dgm:spPr/>
      <dgm:t>
        <a:bodyPr/>
        <a:lstStyle/>
        <a:p>
          <a:endParaRPr lang="en-US"/>
        </a:p>
      </dgm:t>
    </dgm:pt>
    <dgm:pt modelId="{7E5155B9-7C3B-4F38-B5F7-B1DCF1D61D15}">
      <dgm:prSet phldrT="[Text]" custT="1"/>
      <dgm:spPr>
        <a:solidFill>
          <a:schemeClr val="accent1">
            <a:lumMod val="40000"/>
            <a:lumOff val="60000"/>
          </a:schemeClr>
        </a:solidFill>
      </dgm:spPr>
      <dgm:t>
        <a:bodyPr/>
        <a:lstStyle/>
        <a:p>
          <a:r>
            <a:rPr lang="en-US" sz="1900" dirty="0" smtClean="0"/>
            <a:t>Evaluate bidders’ response to your specs</a:t>
          </a:r>
          <a:endParaRPr lang="en-US" sz="1900" dirty="0"/>
        </a:p>
      </dgm:t>
    </dgm:pt>
    <dgm:pt modelId="{2E2077D5-6AFF-4535-B89E-9243347DF17A}" type="parTrans" cxnId="{9E00A485-9798-4F1D-B203-C1824C98C9CA}">
      <dgm:prSet/>
      <dgm:spPr/>
      <dgm:t>
        <a:bodyPr/>
        <a:lstStyle/>
        <a:p>
          <a:endParaRPr lang="en-US"/>
        </a:p>
      </dgm:t>
    </dgm:pt>
    <dgm:pt modelId="{3DF13E59-7D9D-4942-8DB6-079651557176}" type="sibTrans" cxnId="{9E00A485-9798-4F1D-B203-C1824C98C9CA}">
      <dgm:prSet/>
      <dgm:spPr/>
      <dgm:t>
        <a:bodyPr/>
        <a:lstStyle/>
        <a:p>
          <a:endParaRPr lang="en-US"/>
        </a:p>
      </dgm:t>
    </dgm:pt>
    <dgm:pt modelId="{A1B3CD0D-65A0-4B35-86C6-F53D4B306772}">
      <dgm:prSet phldrT="[Text]" custT="1"/>
      <dgm:spPr>
        <a:solidFill>
          <a:schemeClr val="accent1">
            <a:lumMod val="40000"/>
            <a:lumOff val="60000"/>
          </a:schemeClr>
        </a:solidFill>
      </dgm:spPr>
      <dgm:t>
        <a:bodyPr/>
        <a:lstStyle/>
        <a:p>
          <a:r>
            <a:rPr lang="en-US" sz="1900" dirty="0" smtClean="0"/>
            <a:t>Determine most responsive and responsible bidder at lowest price</a:t>
          </a:r>
          <a:endParaRPr lang="en-US" sz="1900" dirty="0"/>
        </a:p>
      </dgm:t>
    </dgm:pt>
    <dgm:pt modelId="{94F28C2F-57D0-40A8-87A1-005B77062153}" type="parTrans" cxnId="{4FF9D297-DB12-4C6B-ADCC-9E6E022E4056}">
      <dgm:prSet/>
      <dgm:spPr/>
      <dgm:t>
        <a:bodyPr/>
        <a:lstStyle/>
        <a:p>
          <a:endParaRPr lang="en-US"/>
        </a:p>
      </dgm:t>
    </dgm:pt>
    <dgm:pt modelId="{6D5B1EF0-B736-41CB-9B2B-AED9490432A6}" type="sibTrans" cxnId="{4FF9D297-DB12-4C6B-ADCC-9E6E022E4056}">
      <dgm:prSet/>
      <dgm:spPr/>
      <dgm:t>
        <a:bodyPr/>
        <a:lstStyle/>
        <a:p>
          <a:endParaRPr lang="en-US"/>
        </a:p>
      </dgm:t>
    </dgm:pt>
    <dgm:pt modelId="{D985EFC8-B056-4013-A9D3-81A311782C55}" type="pres">
      <dgm:prSet presAssocID="{4005E2C3-3A6D-4598-98FF-BF2CF59C05FB}" presName="Name0" presStyleCnt="0">
        <dgm:presLayoutVars>
          <dgm:dir/>
          <dgm:resizeHandles val="exact"/>
        </dgm:presLayoutVars>
      </dgm:prSet>
      <dgm:spPr/>
      <dgm:t>
        <a:bodyPr/>
        <a:lstStyle/>
        <a:p>
          <a:endParaRPr lang="en-US"/>
        </a:p>
      </dgm:t>
    </dgm:pt>
    <dgm:pt modelId="{DE2D0B45-3DF9-4060-87C5-29731E8DD829}" type="pres">
      <dgm:prSet presAssocID="{4005E2C3-3A6D-4598-98FF-BF2CF59C05FB}" presName="cycle" presStyleCnt="0"/>
      <dgm:spPr/>
    </dgm:pt>
    <dgm:pt modelId="{7F082004-9039-4CC5-8B05-BCBFA0C0BCE7}" type="pres">
      <dgm:prSet presAssocID="{4873ACB2-68DE-4210-8EFA-20CDCB3C4493}" presName="nodeFirstNode" presStyleLbl="node1" presStyleIdx="0" presStyleCnt="5" custScaleX="110642" custScaleY="113430">
        <dgm:presLayoutVars>
          <dgm:bulletEnabled val="1"/>
        </dgm:presLayoutVars>
      </dgm:prSet>
      <dgm:spPr/>
      <dgm:t>
        <a:bodyPr/>
        <a:lstStyle/>
        <a:p>
          <a:endParaRPr lang="en-US"/>
        </a:p>
      </dgm:t>
    </dgm:pt>
    <dgm:pt modelId="{ADE849B6-1534-4D6E-9062-A5A16B6B84FA}" type="pres">
      <dgm:prSet presAssocID="{C42AFE05-07D3-42F7-9934-D04411B988CB}" presName="sibTransFirstNode" presStyleLbl="bgShp" presStyleIdx="0" presStyleCnt="1"/>
      <dgm:spPr/>
      <dgm:t>
        <a:bodyPr/>
        <a:lstStyle/>
        <a:p>
          <a:endParaRPr lang="en-US"/>
        </a:p>
      </dgm:t>
    </dgm:pt>
    <dgm:pt modelId="{F18FF581-A13C-4719-9EEF-EBA393C64274}" type="pres">
      <dgm:prSet presAssocID="{1BC2FAD5-C62C-4A42-AE81-14EDA2A28525}" presName="nodeFollowingNodes" presStyleLbl="node1" presStyleIdx="1" presStyleCnt="5" custScaleX="110642" custScaleY="113430">
        <dgm:presLayoutVars>
          <dgm:bulletEnabled val="1"/>
        </dgm:presLayoutVars>
      </dgm:prSet>
      <dgm:spPr/>
      <dgm:t>
        <a:bodyPr/>
        <a:lstStyle/>
        <a:p>
          <a:endParaRPr lang="en-US"/>
        </a:p>
      </dgm:t>
    </dgm:pt>
    <dgm:pt modelId="{35BB771B-56FB-40D3-B8F2-C650B76E5CFB}" type="pres">
      <dgm:prSet presAssocID="{0CD47BE5-48C8-440D-B8A2-2FA884967CAC}" presName="nodeFollowingNodes" presStyleLbl="node1" presStyleIdx="2" presStyleCnt="5" custScaleX="110642" custScaleY="113430" custRadScaleRad="108715" custRadScaleInc="-13482">
        <dgm:presLayoutVars>
          <dgm:bulletEnabled val="1"/>
        </dgm:presLayoutVars>
      </dgm:prSet>
      <dgm:spPr/>
      <dgm:t>
        <a:bodyPr/>
        <a:lstStyle/>
        <a:p>
          <a:endParaRPr lang="en-US"/>
        </a:p>
      </dgm:t>
    </dgm:pt>
    <dgm:pt modelId="{11F26D17-7ABC-4082-9800-08A826EDCC54}" type="pres">
      <dgm:prSet presAssocID="{7E5155B9-7C3B-4F38-B5F7-B1DCF1D61D15}" presName="nodeFollowingNodes" presStyleLbl="node1" presStyleIdx="3" presStyleCnt="5" custScaleX="110642" custScaleY="113430" custRadScaleRad="107105" custRadScaleInc="11988">
        <dgm:presLayoutVars>
          <dgm:bulletEnabled val="1"/>
        </dgm:presLayoutVars>
      </dgm:prSet>
      <dgm:spPr/>
      <dgm:t>
        <a:bodyPr/>
        <a:lstStyle/>
        <a:p>
          <a:endParaRPr lang="en-US"/>
        </a:p>
      </dgm:t>
    </dgm:pt>
    <dgm:pt modelId="{A6ABBB07-CF19-45FD-A07E-15E9B7C38B50}" type="pres">
      <dgm:prSet presAssocID="{A1B3CD0D-65A0-4B35-86C6-F53D4B306772}" presName="nodeFollowingNodes" presStyleLbl="node1" presStyleIdx="4" presStyleCnt="5" custScaleX="110642" custScaleY="113430">
        <dgm:presLayoutVars>
          <dgm:bulletEnabled val="1"/>
        </dgm:presLayoutVars>
      </dgm:prSet>
      <dgm:spPr/>
      <dgm:t>
        <a:bodyPr/>
        <a:lstStyle/>
        <a:p>
          <a:endParaRPr lang="en-US"/>
        </a:p>
      </dgm:t>
    </dgm:pt>
  </dgm:ptLst>
  <dgm:cxnLst>
    <dgm:cxn modelId="{2D4D8613-8979-4EE4-A3F5-71388A93A451}" srcId="{4005E2C3-3A6D-4598-98FF-BF2CF59C05FB}" destId="{4873ACB2-68DE-4210-8EFA-20CDCB3C4493}" srcOrd="0" destOrd="0" parTransId="{826F701D-D468-49DC-A1C9-4FAEF00AE6AF}" sibTransId="{C42AFE05-07D3-42F7-9934-D04411B988CB}"/>
    <dgm:cxn modelId="{99E5F6C7-14B1-4EE0-A4D0-61FC9C91FB9E}" type="presOf" srcId="{C42AFE05-07D3-42F7-9934-D04411B988CB}" destId="{ADE849B6-1534-4D6E-9062-A5A16B6B84FA}" srcOrd="0" destOrd="0" presId="urn:microsoft.com/office/officeart/2005/8/layout/cycle3"/>
    <dgm:cxn modelId="{9E00A485-9798-4F1D-B203-C1824C98C9CA}" srcId="{4005E2C3-3A6D-4598-98FF-BF2CF59C05FB}" destId="{7E5155B9-7C3B-4F38-B5F7-B1DCF1D61D15}" srcOrd="3" destOrd="0" parTransId="{2E2077D5-6AFF-4535-B89E-9243347DF17A}" sibTransId="{3DF13E59-7D9D-4942-8DB6-079651557176}"/>
    <dgm:cxn modelId="{4A8821F9-D19C-4488-A39C-CE540BB9200E}" type="presOf" srcId="{0CD47BE5-48C8-440D-B8A2-2FA884967CAC}" destId="{35BB771B-56FB-40D3-B8F2-C650B76E5CFB}" srcOrd="0" destOrd="0" presId="urn:microsoft.com/office/officeart/2005/8/layout/cycle3"/>
    <dgm:cxn modelId="{1DF02886-2F7B-4F6E-A036-256F0BFF46A2}" type="presOf" srcId="{4873ACB2-68DE-4210-8EFA-20CDCB3C4493}" destId="{7F082004-9039-4CC5-8B05-BCBFA0C0BCE7}" srcOrd="0" destOrd="0" presId="urn:microsoft.com/office/officeart/2005/8/layout/cycle3"/>
    <dgm:cxn modelId="{4FF9D297-DB12-4C6B-ADCC-9E6E022E4056}" srcId="{4005E2C3-3A6D-4598-98FF-BF2CF59C05FB}" destId="{A1B3CD0D-65A0-4B35-86C6-F53D4B306772}" srcOrd="4" destOrd="0" parTransId="{94F28C2F-57D0-40A8-87A1-005B77062153}" sibTransId="{6D5B1EF0-B736-41CB-9B2B-AED9490432A6}"/>
    <dgm:cxn modelId="{DCD7E375-7C61-4053-A5AC-847F8D9A0115}" type="presOf" srcId="{4005E2C3-3A6D-4598-98FF-BF2CF59C05FB}" destId="{D985EFC8-B056-4013-A9D3-81A311782C55}" srcOrd="0" destOrd="0" presId="urn:microsoft.com/office/officeart/2005/8/layout/cycle3"/>
    <dgm:cxn modelId="{4ED1F096-9235-401C-8A79-544B4BBA0C51}" type="presOf" srcId="{A1B3CD0D-65A0-4B35-86C6-F53D4B306772}" destId="{A6ABBB07-CF19-45FD-A07E-15E9B7C38B50}" srcOrd="0" destOrd="0" presId="urn:microsoft.com/office/officeart/2005/8/layout/cycle3"/>
    <dgm:cxn modelId="{91B665E3-65E1-4037-99D1-6B66BA1BD545}" type="presOf" srcId="{1BC2FAD5-C62C-4A42-AE81-14EDA2A28525}" destId="{F18FF581-A13C-4719-9EEF-EBA393C64274}" srcOrd="0" destOrd="0" presId="urn:microsoft.com/office/officeart/2005/8/layout/cycle3"/>
    <dgm:cxn modelId="{5FC90B05-5328-4530-B4DD-82F14467D969}" type="presOf" srcId="{7E5155B9-7C3B-4F38-B5F7-B1DCF1D61D15}" destId="{11F26D17-7ABC-4082-9800-08A826EDCC54}" srcOrd="0" destOrd="0" presId="urn:microsoft.com/office/officeart/2005/8/layout/cycle3"/>
    <dgm:cxn modelId="{CEEEF02A-8B52-4CC6-A8D5-7CAF47027E1B}" srcId="{4005E2C3-3A6D-4598-98FF-BF2CF59C05FB}" destId="{1BC2FAD5-C62C-4A42-AE81-14EDA2A28525}" srcOrd="1" destOrd="0" parTransId="{EED13CA9-CEC5-4066-BF92-8817BA8AE0D8}" sibTransId="{37EDF47C-C377-4B25-931C-1B93FC397037}"/>
    <dgm:cxn modelId="{11CD56FB-EAB2-48DB-81AE-80876B309246}" srcId="{4005E2C3-3A6D-4598-98FF-BF2CF59C05FB}" destId="{0CD47BE5-48C8-440D-B8A2-2FA884967CAC}" srcOrd="2" destOrd="0" parTransId="{4C78A962-A2DF-42AB-816E-B8783B6C8D05}" sibTransId="{DB4FB77A-21FB-4F7F-A96A-64F4EC0823E8}"/>
    <dgm:cxn modelId="{007B0FFF-028D-4486-A2BE-6077CE401E68}" type="presParOf" srcId="{D985EFC8-B056-4013-A9D3-81A311782C55}" destId="{DE2D0B45-3DF9-4060-87C5-29731E8DD829}" srcOrd="0" destOrd="0" presId="urn:microsoft.com/office/officeart/2005/8/layout/cycle3"/>
    <dgm:cxn modelId="{E0DECA51-CDFD-4E9A-8478-33AA457F3232}" type="presParOf" srcId="{DE2D0B45-3DF9-4060-87C5-29731E8DD829}" destId="{7F082004-9039-4CC5-8B05-BCBFA0C0BCE7}" srcOrd="0" destOrd="0" presId="urn:microsoft.com/office/officeart/2005/8/layout/cycle3"/>
    <dgm:cxn modelId="{63E4FA88-1BB7-494F-94BA-7BF87BCEE243}" type="presParOf" srcId="{DE2D0B45-3DF9-4060-87C5-29731E8DD829}" destId="{ADE849B6-1534-4D6E-9062-A5A16B6B84FA}" srcOrd="1" destOrd="0" presId="urn:microsoft.com/office/officeart/2005/8/layout/cycle3"/>
    <dgm:cxn modelId="{65CB0E70-E9C4-4FD0-B81D-3B0F4F5A3FCA}" type="presParOf" srcId="{DE2D0B45-3DF9-4060-87C5-29731E8DD829}" destId="{F18FF581-A13C-4719-9EEF-EBA393C64274}" srcOrd="2" destOrd="0" presId="urn:microsoft.com/office/officeart/2005/8/layout/cycle3"/>
    <dgm:cxn modelId="{DCAB376A-0AD1-4F71-9371-E44B7EE5FBDE}" type="presParOf" srcId="{DE2D0B45-3DF9-4060-87C5-29731E8DD829}" destId="{35BB771B-56FB-40D3-B8F2-C650B76E5CFB}" srcOrd="3" destOrd="0" presId="urn:microsoft.com/office/officeart/2005/8/layout/cycle3"/>
    <dgm:cxn modelId="{CFFBFAA9-9D15-4E1A-B4F1-23D6AB588DB5}" type="presParOf" srcId="{DE2D0B45-3DF9-4060-87C5-29731E8DD829}" destId="{11F26D17-7ABC-4082-9800-08A826EDCC54}" srcOrd="4" destOrd="0" presId="urn:microsoft.com/office/officeart/2005/8/layout/cycle3"/>
    <dgm:cxn modelId="{BFD38D97-1D0C-42C4-8B2F-A40788A41681}" type="presParOf" srcId="{DE2D0B45-3DF9-4060-87C5-29731E8DD829}" destId="{A6ABBB07-CF19-45FD-A07E-15E9B7C38B50}"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849B6-1534-4D6E-9062-A5A16B6B84FA}">
      <dsp:nvSpPr>
        <dsp:cNvPr id="0" name=""/>
        <dsp:cNvSpPr/>
      </dsp:nvSpPr>
      <dsp:spPr>
        <a:xfrm>
          <a:off x="1807889" y="-114916"/>
          <a:ext cx="4918621" cy="4918621"/>
        </a:xfrm>
        <a:prstGeom prst="circularArrow">
          <a:avLst>
            <a:gd name="adj1" fmla="val 5544"/>
            <a:gd name="adj2" fmla="val 330680"/>
            <a:gd name="adj3" fmla="val 13508153"/>
            <a:gd name="adj4" fmla="val 17551175"/>
            <a:gd name="adj5" fmla="val 5757"/>
          </a:avLst>
        </a:prstGeom>
        <a:solidFill>
          <a:schemeClr val="accent1">
            <a:tint val="40000"/>
            <a:hueOff val="0"/>
            <a:satOff val="0"/>
            <a:lumOff val="0"/>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dsp:style>
    </dsp:sp>
    <dsp:sp modelId="{7F082004-9039-4CC5-8B05-BCBFA0C0BCE7}">
      <dsp:nvSpPr>
        <dsp:cNvPr id="0" name=""/>
        <dsp:cNvSpPr/>
      </dsp:nvSpPr>
      <dsp:spPr>
        <a:xfrm>
          <a:off x="2985436" y="-77731"/>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Develop solicitation and incorporate geo preference points into scoring criteria</a:t>
          </a:r>
          <a:endParaRPr lang="en-US" sz="1900" kern="1200" dirty="0"/>
        </a:p>
      </dsp:txBody>
      <dsp:txXfrm>
        <a:off x="3049583" y="-13584"/>
        <a:ext cx="2435232" cy="1185767"/>
      </dsp:txXfrm>
    </dsp:sp>
    <dsp:sp modelId="{F18FF581-A13C-4719-9EEF-EBA393C64274}">
      <dsp:nvSpPr>
        <dsp:cNvPr id="0" name=""/>
        <dsp:cNvSpPr/>
      </dsp:nvSpPr>
      <dsp:spPr>
        <a:xfrm>
          <a:off x="4980271" y="1371600"/>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Publicly announce the IFB/RFP</a:t>
          </a:r>
          <a:endParaRPr lang="en-US" sz="1900" kern="1200" dirty="0"/>
        </a:p>
      </dsp:txBody>
      <dsp:txXfrm>
        <a:off x="5044418" y="1435747"/>
        <a:ext cx="2435232" cy="1185767"/>
      </dsp:txXfrm>
    </dsp:sp>
    <dsp:sp modelId="{35BB771B-56FB-40D3-B8F2-C650B76E5CFB}">
      <dsp:nvSpPr>
        <dsp:cNvPr id="0" name=""/>
        <dsp:cNvSpPr/>
      </dsp:nvSpPr>
      <dsp:spPr>
        <a:xfrm>
          <a:off x="4572010" y="3657596"/>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Evaluate</a:t>
          </a:r>
          <a:r>
            <a:rPr lang="en-US" sz="1900" kern="1200" baseline="0" dirty="0" smtClean="0"/>
            <a:t> bidders using established criteria</a:t>
          </a:r>
          <a:endParaRPr lang="en-US" sz="1900" kern="1200" dirty="0"/>
        </a:p>
      </dsp:txBody>
      <dsp:txXfrm>
        <a:off x="4636157" y="3721743"/>
        <a:ext cx="2435232" cy="1185767"/>
      </dsp:txXfrm>
    </dsp:sp>
    <dsp:sp modelId="{11F26D17-7ABC-4082-9800-08A826EDCC54}">
      <dsp:nvSpPr>
        <dsp:cNvPr id="0" name=""/>
        <dsp:cNvSpPr/>
      </dsp:nvSpPr>
      <dsp:spPr>
        <a:xfrm>
          <a:off x="1447793" y="3657597"/>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Producers of locally-grown unprocessed products receive extra points in scoring</a:t>
          </a:r>
          <a:endParaRPr lang="en-US" sz="1900" kern="1200" dirty="0"/>
        </a:p>
      </dsp:txBody>
      <dsp:txXfrm>
        <a:off x="1511940" y="3721744"/>
        <a:ext cx="2435232" cy="1185767"/>
      </dsp:txXfrm>
    </dsp:sp>
    <dsp:sp modelId="{A6ABBB07-CF19-45FD-A07E-15E9B7C38B50}">
      <dsp:nvSpPr>
        <dsp:cNvPr id="0" name=""/>
        <dsp:cNvSpPr/>
      </dsp:nvSpPr>
      <dsp:spPr>
        <a:xfrm>
          <a:off x="990602" y="1371600"/>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Determine most responsive and responsible bidder at lowest price</a:t>
          </a:r>
          <a:endParaRPr lang="en-US" sz="1900" kern="1200" dirty="0"/>
        </a:p>
      </dsp:txBody>
      <dsp:txXfrm>
        <a:off x="1054749" y="1435747"/>
        <a:ext cx="2435232" cy="11857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849B6-1534-4D6E-9062-A5A16B6B84FA}">
      <dsp:nvSpPr>
        <dsp:cNvPr id="0" name=""/>
        <dsp:cNvSpPr/>
      </dsp:nvSpPr>
      <dsp:spPr>
        <a:xfrm>
          <a:off x="1807889" y="-114916"/>
          <a:ext cx="4918621" cy="4918621"/>
        </a:xfrm>
        <a:prstGeom prst="circularArrow">
          <a:avLst>
            <a:gd name="adj1" fmla="val 5544"/>
            <a:gd name="adj2" fmla="val 330680"/>
            <a:gd name="adj3" fmla="val 13508153"/>
            <a:gd name="adj4" fmla="val 17551175"/>
            <a:gd name="adj5" fmla="val 5757"/>
          </a:avLst>
        </a:prstGeom>
        <a:solidFill>
          <a:schemeClr val="accent1">
            <a:tint val="40000"/>
            <a:hueOff val="0"/>
            <a:satOff val="0"/>
            <a:lumOff val="0"/>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dsp:style>
    </dsp:sp>
    <dsp:sp modelId="{7F082004-9039-4CC5-8B05-BCBFA0C0BCE7}">
      <dsp:nvSpPr>
        <dsp:cNvPr id="0" name=""/>
        <dsp:cNvSpPr/>
      </dsp:nvSpPr>
      <dsp:spPr>
        <a:xfrm>
          <a:off x="2985436" y="-77731"/>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Develop your specs in writing</a:t>
          </a:r>
          <a:endParaRPr lang="en-US" sz="1900" kern="1200" dirty="0"/>
        </a:p>
      </dsp:txBody>
      <dsp:txXfrm>
        <a:off x="3049583" y="-13584"/>
        <a:ext cx="2435232" cy="1185767"/>
      </dsp:txXfrm>
    </dsp:sp>
    <dsp:sp modelId="{F18FF581-A13C-4719-9EEF-EBA393C64274}">
      <dsp:nvSpPr>
        <dsp:cNvPr id="0" name=""/>
        <dsp:cNvSpPr/>
      </dsp:nvSpPr>
      <dsp:spPr>
        <a:xfrm>
          <a:off x="4980271" y="1371600"/>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Identify sources eligible, able, and willing to provide products</a:t>
          </a:r>
          <a:endParaRPr lang="en-US" sz="1900" kern="1200" dirty="0"/>
        </a:p>
      </dsp:txBody>
      <dsp:txXfrm>
        <a:off x="5044418" y="1435747"/>
        <a:ext cx="2435232" cy="1185767"/>
      </dsp:txXfrm>
    </dsp:sp>
    <dsp:sp modelId="{35BB771B-56FB-40D3-B8F2-C650B76E5CFB}">
      <dsp:nvSpPr>
        <dsp:cNvPr id="0" name=""/>
        <dsp:cNvSpPr/>
      </dsp:nvSpPr>
      <dsp:spPr>
        <a:xfrm>
          <a:off x="4572010" y="3657596"/>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Contact at least three s</a:t>
          </a:r>
          <a:r>
            <a:rPr lang="en-US" sz="1800" kern="1200" dirty="0" smtClean="0"/>
            <a:t>ources</a:t>
          </a:r>
          <a:endParaRPr lang="en-US" sz="1900" kern="1200" dirty="0"/>
        </a:p>
      </dsp:txBody>
      <dsp:txXfrm>
        <a:off x="4636157" y="3721743"/>
        <a:ext cx="2435232" cy="1185767"/>
      </dsp:txXfrm>
    </dsp:sp>
    <dsp:sp modelId="{11F26D17-7ABC-4082-9800-08A826EDCC54}">
      <dsp:nvSpPr>
        <dsp:cNvPr id="0" name=""/>
        <dsp:cNvSpPr/>
      </dsp:nvSpPr>
      <dsp:spPr>
        <a:xfrm>
          <a:off x="1447793" y="3657597"/>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Evaluate bidders’ response to your specs</a:t>
          </a:r>
          <a:endParaRPr lang="en-US" sz="1900" kern="1200" dirty="0"/>
        </a:p>
      </dsp:txBody>
      <dsp:txXfrm>
        <a:off x="1511940" y="3721744"/>
        <a:ext cx="2435232" cy="1185767"/>
      </dsp:txXfrm>
    </dsp:sp>
    <dsp:sp modelId="{A6ABBB07-CF19-45FD-A07E-15E9B7C38B50}">
      <dsp:nvSpPr>
        <dsp:cNvPr id="0" name=""/>
        <dsp:cNvSpPr/>
      </dsp:nvSpPr>
      <dsp:spPr>
        <a:xfrm>
          <a:off x="990602" y="1371600"/>
          <a:ext cx="2563526" cy="1314061"/>
        </a:xfrm>
        <a:prstGeom prst="roundRect">
          <a:avLst/>
        </a:prstGeom>
        <a:solidFill>
          <a:schemeClr val="accent1">
            <a:lumMod val="40000"/>
            <a:lumOff val="60000"/>
          </a:schemeClr>
        </a:solidFill>
        <a:ln>
          <a:noFill/>
        </a:ln>
        <a:effectLst>
          <a:outerShdw blurRad="95000" rotWithShape="0">
            <a:srgbClr val="000000">
              <a:alpha val="50000"/>
            </a:srgbClr>
          </a:outerShdw>
          <a:softEdge rad="12700"/>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kern="1200" dirty="0" smtClean="0"/>
            <a:t>Determine most responsive and responsible bidder at lowest price</a:t>
          </a:r>
          <a:endParaRPr lang="en-US" sz="1900" kern="1200" dirty="0"/>
        </a:p>
      </dsp:txBody>
      <dsp:txXfrm>
        <a:off x="1054749" y="1435747"/>
        <a:ext cx="2435232" cy="1185767"/>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smtClean="0">
                <a:latin typeface="+mn-lt"/>
              </a:defRPr>
            </a:lvl1pPr>
          </a:lstStyle>
          <a:p>
            <a:pPr>
              <a:defRPr/>
            </a:pPr>
            <a:fld id="{7F8AB68F-A450-45F2-8E47-646CAC1B3F25}" type="datetimeFigureOut">
              <a:rPr lang="en-US"/>
              <a:pPr>
                <a:defRPr/>
              </a:pPr>
              <a:t>3/21/2012</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dirty="0"/>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smtClean="0">
                <a:latin typeface="+mn-lt"/>
              </a:defRPr>
            </a:lvl1pPr>
          </a:lstStyle>
          <a:p>
            <a:pPr>
              <a:defRPr/>
            </a:pPr>
            <a:fld id="{F35551D4-7894-44A7-B8EE-07FBB1691600}" type="slidenum">
              <a:rPr lang="en-US"/>
              <a:pPr>
                <a:defRPr/>
              </a:pPr>
              <a:t>‹#›</a:t>
            </a:fld>
            <a:endParaRPr lang="en-US" dirty="0"/>
          </a:p>
        </p:txBody>
      </p:sp>
    </p:spTree>
    <p:extLst>
      <p:ext uri="{BB962C8B-B14F-4D97-AF65-F5344CB8AC3E}">
        <p14:creationId xmlns:p14="http://schemas.microsoft.com/office/powerpoint/2010/main" val="1908771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smtClean="0">
                <a:latin typeface="+mn-lt"/>
              </a:defRPr>
            </a:lvl1pPr>
          </a:lstStyle>
          <a:p>
            <a:pPr>
              <a:defRPr/>
            </a:pPr>
            <a:fld id="{B38C3954-FE00-4D0B-AED1-496A40A355F2}" type="datetimeFigureOut">
              <a:rPr lang="en-US"/>
              <a:pPr>
                <a:defRPr/>
              </a:pPr>
              <a:t>3/21/2012</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smtClean="0">
                <a:latin typeface="+mn-lt"/>
              </a:defRPr>
            </a:lvl1pPr>
          </a:lstStyle>
          <a:p>
            <a:pPr>
              <a:defRPr/>
            </a:pPr>
            <a:fld id="{174D8287-576B-49FF-ADAB-5F3A75A9567C}" type="slidenum">
              <a:rPr lang="en-US"/>
              <a:pPr>
                <a:defRPr/>
              </a:pPr>
              <a:t>‹#›</a:t>
            </a:fld>
            <a:endParaRPr lang="en-US" dirty="0"/>
          </a:p>
        </p:txBody>
      </p:sp>
    </p:spTree>
    <p:extLst>
      <p:ext uri="{BB962C8B-B14F-4D97-AF65-F5344CB8AC3E}">
        <p14:creationId xmlns:p14="http://schemas.microsoft.com/office/powerpoint/2010/main" val="110234115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1</a:t>
            </a:fld>
            <a:endParaRPr lang="en-US" dirty="0"/>
          </a:p>
        </p:txBody>
      </p:sp>
    </p:spTree>
    <p:extLst>
      <p:ext uri="{BB962C8B-B14F-4D97-AF65-F5344CB8AC3E}">
        <p14:creationId xmlns:p14="http://schemas.microsoft.com/office/powerpoint/2010/main" val="3719193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BBCACFD-3195-4CA3-BFB5-FE6812312F28}" type="slidenum">
              <a:rPr lang="en-US"/>
              <a:pPr fontAlgn="base">
                <a:spcBef>
                  <a:spcPct val="0"/>
                </a:spcBef>
                <a:spcAft>
                  <a:spcPct val="0"/>
                </a:spcAft>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a:t>
            </a:fld>
            <a:endParaRPr lang="en-US" dirty="0"/>
          </a:p>
        </p:txBody>
      </p:sp>
    </p:spTree>
    <p:extLst>
      <p:ext uri="{BB962C8B-B14F-4D97-AF65-F5344CB8AC3E}">
        <p14:creationId xmlns:p14="http://schemas.microsoft.com/office/powerpoint/2010/main" val="287441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p:spPr>
      </p:sp>
      <p:sp>
        <p:nvSpPr>
          <p:cNvPr id="3789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37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EA4D568-D12E-45D4-8E3E-6162A835C1F1}" type="slidenum">
              <a:rPr lang="en-US"/>
              <a:pPr fontAlgn="base">
                <a:spcBef>
                  <a:spcPct val="0"/>
                </a:spcBef>
                <a:spcAft>
                  <a:spcPct val="0"/>
                </a:spcAft>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5</a:t>
            </a:fld>
            <a:endParaRPr lang="en-US" dirty="0"/>
          </a:p>
        </p:txBody>
      </p:sp>
    </p:spTree>
    <p:extLst>
      <p:ext uri="{BB962C8B-B14F-4D97-AF65-F5344CB8AC3E}">
        <p14:creationId xmlns:p14="http://schemas.microsoft.com/office/powerpoint/2010/main" val="1292629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6</a:t>
            </a:fld>
            <a:endParaRPr lang="en-US" dirty="0"/>
          </a:p>
        </p:txBody>
      </p:sp>
    </p:spTree>
    <p:extLst>
      <p:ext uri="{BB962C8B-B14F-4D97-AF65-F5344CB8AC3E}">
        <p14:creationId xmlns:p14="http://schemas.microsoft.com/office/powerpoint/2010/main" val="3714738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7</a:t>
            </a:fld>
            <a:endParaRPr lang="en-US" dirty="0"/>
          </a:p>
        </p:txBody>
      </p:sp>
    </p:spTree>
    <p:extLst>
      <p:ext uri="{BB962C8B-B14F-4D97-AF65-F5344CB8AC3E}">
        <p14:creationId xmlns:p14="http://schemas.microsoft.com/office/powerpoint/2010/main" val="2013478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8</a:t>
            </a:fld>
            <a:endParaRPr lang="en-US" dirty="0"/>
          </a:p>
        </p:txBody>
      </p:sp>
    </p:spTree>
    <p:extLst>
      <p:ext uri="{BB962C8B-B14F-4D97-AF65-F5344CB8AC3E}">
        <p14:creationId xmlns:p14="http://schemas.microsoft.com/office/powerpoint/2010/main" val="490720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fontAlgn="auto">
              <a:spcBef>
                <a:spcPts val="0"/>
              </a:spcBef>
              <a:spcAft>
                <a:spcPts val="0"/>
              </a:spcAft>
              <a:defRPr/>
            </a:pPr>
            <a:endParaRPr lang="en-US" sz="1400" dirty="0"/>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6996607-18AA-4D9E-A801-23A2E6A0D10B}" type="slidenum">
              <a:rPr lang="en-US"/>
              <a:pPr fontAlgn="base">
                <a:spcBef>
                  <a:spcPct val="0"/>
                </a:spcBef>
                <a:spcAft>
                  <a:spcPct val="0"/>
                </a:spcAft>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39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AABA7F0-44A7-4E24-9AE8-6A527589F3A4}" type="slidenum">
              <a:rPr lang="en-US"/>
              <a:pPr fontAlgn="base">
                <a:spcBef>
                  <a:spcPct val="0"/>
                </a:spcBef>
                <a:spcAft>
                  <a:spcPct val="0"/>
                </a:spcAft>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0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739E238-1DC2-4539-BD69-E295B187A57C}" type="slidenum">
              <a:rPr lang="en-US"/>
              <a:pPr fontAlgn="base">
                <a:spcBef>
                  <a:spcPct val="0"/>
                </a:spcBef>
                <a:spcAft>
                  <a:spcPct val="0"/>
                </a:spcAft>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19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0971186-9A7C-4EE4-8776-5BCDA3B900BC}" type="slidenum">
              <a:rPr lang="en-US"/>
              <a:pPr fontAlgn="base">
                <a:spcBef>
                  <a:spcPct val="0"/>
                </a:spcBef>
                <a:spcAft>
                  <a:spcPct val="0"/>
                </a:spcAft>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3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16A5CE5-A415-461E-9622-B4CC094DF810}" type="slidenum">
              <a:rPr lang="en-US"/>
              <a:pPr fontAlgn="base">
                <a:spcBef>
                  <a:spcPct val="0"/>
                </a:spcBef>
                <a:spcAft>
                  <a:spcPct val="0"/>
                </a:spcAft>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E6B242D-9394-45E1-BE46-1007F3F0608C}" type="slidenum">
              <a:rPr lang="en-US"/>
              <a:pPr fontAlgn="base">
                <a:spcBef>
                  <a:spcPct val="0"/>
                </a:spcBef>
                <a:spcAft>
                  <a:spcPct val="0"/>
                </a:spcAft>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61240B2-4761-4F0B-9FC5-E57981A0EC60}" type="slidenum">
              <a:rPr lang="en-US"/>
              <a:pPr fontAlgn="base">
                <a:spcBef>
                  <a:spcPct val="0"/>
                </a:spcBef>
                <a:spcAft>
                  <a:spcPct val="0"/>
                </a:spcAft>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16</a:t>
            </a:fld>
            <a:endParaRPr lang="en-US" dirty="0"/>
          </a:p>
        </p:txBody>
      </p:sp>
    </p:spTree>
    <p:extLst>
      <p:ext uri="{BB962C8B-B14F-4D97-AF65-F5344CB8AC3E}">
        <p14:creationId xmlns:p14="http://schemas.microsoft.com/office/powerpoint/2010/main" val="2086642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C488112-29F5-4634-B7C3-35B04A65AD0E}" type="slidenum">
              <a:rPr lang="en-US"/>
              <a:pPr fontAlgn="base">
                <a:spcBef>
                  <a:spcPct val="0"/>
                </a:spcBef>
                <a:spcAft>
                  <a:spcPct val="0"/>
                </a:spcAft>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2F67C12-D22A-42D9-AC74-E3A7C7BA4216}" type="slidenum">
              <a:rPr lang="en-US"/>
              <a:pPr fontAlgn="base">
                <a:spcBef>
                  <a:spcPct val="0"/>
                </a:spcBef>
                <a:spcAft>
                  <a:spcPct val="0"/>
                </a:spcAft>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A15615E-68F1-4129-B1E0-ED72AE1312E4}" type="slidenum">
              <a:rPr lang="en-US"/>
              <a:pPr fontAlgn="base">
                <a:spcBef>
                  <a:spcPct val="0"/>
                </a:spcBef>
                <a:spcAft>
                  <a:spcPct val="0"/>
                </a:spcAft>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20</a:t>
            </a:fld>
            <a:endParaRPr lang="en-US" dirty="0"/>
          </a:p>
        </p:txBody>
      </p:sp>
    </p:spTree>
    <p:extLst>
      <p:ext uri="{BB962C8B-B14F-4D97-AF65-F5344CB8AC3E}">
        <p14:creationId xmlns:p14="http://schemas.microsoft.com/office/powerpoint/2010/main" val="1321456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21</a:t>
            </a:fld>
            <a:endParaRPr lang="en-US" dirty="0"/>
          </a:p>
        </p:txBody>
      </p:sp>
    </p:spTree>
    <p:extLst>
      <p:ext uri="{BB962C8B-B14F-4D97-AF65-F5344CB8AC3E}">
        <p14:creationId xmlns:p14="http://schemas.microsoft.com/office/powerpoint/2010/main" val="37769493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22</a:t>
            </a:fld>
            <a:endParaRPr lang="en-US" dirty="0"/>
          </a:p>
        </p:txBody>
      </p:sp>
    </p:spTree>
    <p:extLst>
      <p:ext uri="{BB962C8B-B14F-4D97-AF65-F5344CB8AC3E}">
        <p14:creationId xmlns:p14="http://schemas.microsoft.com/office/powerpoint/2010/main" val="16014757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23</a:t>
            </a:fld>
            <a:endParaRPr lang="en-US" dirty="0"/>
          </a:p>
        </p:txBody>
      </p:sp>
    </p:spTree>
    <p:extLst>
      <p:ext uri="{BB962C8B-B14F-4D97-AF65-F5344CB8AC3E}">
        <p14:creationId xmlns:p14="http://schemas.microsoft.com/office/powerpoint/2010/main" val="39426159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24</a:t>
            </a:fld>
            <a:endParaRPr lang="en-US" dirty="0"/>
          </a:p>
        </p:txBody>
      </p:sp>
    </p:spTree>
    <p:extLst>
      <p:ext uri="{BB962C8B-B14F-4D97-AF65-F5344CB8AC3E}">
        <p14:creationId xmlns:p14="http://schemas.microsoft.com/office/powerpoint/2010/main" val="3409926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25</a:t>
            </a:fld>
            <a:endParaRPr lang="en-US" dirty="0"/>
          </a:p>
        </p:txBody>
      </p:sp>
    </p:spTree>
    <p:extLst>
      <p:ext uri="{BB962C8B-B14F-4D97-AF65-F5344CB8AC3E}">
        <p14:creationId xmlns:p14="http://schemas.microsoft.com/office/powerpoint/2010/main" val="1112456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solidFill>
                <a:schemeClr val="bg1"/>
              </a:solidFill>
            </a:endParaRPr>
          </a:p>
        </p:txBody>
      </p:sp>
      <p:sp>
        <p:nvSpPr>
          <p:cNvPr id="51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3BDC38A-6266-40DE-B7BC-95E3F672253B}" type="slidenum">
              <a:rPr lang="en-US"/>
              <a:pPr fontAlgn="base">
                <a:spcBef>
                  <a:spcPct val="0"/>
                </a:spcBef>
                <a:spcAft>
                  <a:spcPct val="0"/>
                </a:spcAft>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solidFill>
                <a:schemeClr val="bg1"/>
              </a:solidFill>
            </a:endParaRPr>
          </a:p>
        </p:txBody>
      </p:sp>
      <p:sp>
        <p:nvSpPr>
          <p:cNvPr id="52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097C8B3-0859-449B-B547-00C15A05204C}" type="slidenum">
              <a:rPr lang="en-US"/>
              <a:pPr fontAlgn="base">
                <a:spcBef>
                  <a:spcPct val="0"/>
                </a:spcBef>
                <a:spcAft>
                  <a:spcPct val="0"/>
                </a:spcAft>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marL="0" lvl="2" defTabSz="930275">
              <a:spcBef>
                <a:spcPct val="0"/>
              </a:spcBef>
            </a:pPr>
            <a:endParaRPr lang="en-US" dirty="0" smtClean="0"/>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E08BD42-EF4D-44F0-8A6B-4E79B6FCA92B}" type="slidenum">
              <a:rPr lang="en-US"/>
              <a:pPr fontAlgn="base">
                <a:spcBef>
                  <a:spcPct val="0"/>
                </a:spcBef>
                <a:spcAft>
                  <a:spcPct val="0"/>
                </a:spcAft>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smtClean="0"/>
              <a:t>I’m not sure what you mean by Wholesaler – I interpret that to be a wholesale distributor that buys from farms and redistributes the product by selling in to customers i.e. a produce vendor, Sysco Foods, etc..</a:t>
            </a:r>
          </a:p>
        </p:txBody>
      </p:sp>
      <p:sp>
        <p:nvSpPr>
          <p:cNvPr id="54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B7E0AB6-E7F3-44CD-A79D-B6E06E5CAE63}" type="slidenum">
              <a:rPr lang="en-US"/>
              <a:pPr fontAlgn="base">
                <a:spcBef>
                  <a:spcPct val="0"/>
                </a:spcBef>
                <a:spcAft>
                  <a:spcPct val="0"/>
                </a:spcAft>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55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C360C8D-2A3D-4979-9AEF-F9763E12A5DA}" type="slidenum">
              <a:rPr lang="en-US"/>
              <a:pPr fontAlgn="base">
                <a:spcBef>
                  <a:spcPct val="0"/>
                </a:spcBef>
                <a:spcAft>
                  <a:spcPct val="0"/>
                </a:spcAft>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31</a:t>
            </a:fld>
            <a:endParaRPr lang="en-US" dirty="0"/>
          </a:p>
        </p:txBody>
      </p:sp>
    </p:spTree>
    <p:extLst>
      <p:ext uri="{BB962C8B-B14F-4D97-AF65-F5344CB8AC3E}">
        <p14:creationId xmlns:p14="http://schemas.microsoft.com/office/powerpoint/2010/main" val="31339828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32</a:t>
            </a:fld>
            <a:endParaRPr lang="en-US" dirty="0"/>
          </a:p>
        </p:txBody>
      </p:sp>
    </p:spTree>
    <p:extLst>
      <p:ext uri="{BB962C8B-B14F-4D97-AF65-F5344CB8AC3E}">
        <p14:creationId xmlns:p14="http://schemas.microsoft.com/office/powerpoint/2010/main" val="3719319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33</a:t>
            </a:fld>
            <a:endParaRPr lang="en-US" dirty="0"/>
          </a:p>
        </p:txBody>
      </p:sp>
    </p:spTree>
    <p:extLst>
      <p:ext uri="{BB962C8B-B14F-4D97-AF65-F5344CB8AC3E}">
        <p14:creationId xmlns:p14="http://schemas.microsoft.com/office/powerpoint/2010/main" val="1705446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34</a:t>
            </a:fld>
            <a:endParaRPr lang="en-US" dirty="0"/>
          </a:p>
        </p:txBody>
      </p:sp>
    </p:spTree>
    <p:extLst>
      <p:ext uri="{BB962C8B-B14F-4D97-AF65-F5344CB8AC3E}">
        <p14:creationId xmlns:p14="http://schemas.microsoft.com/office/powerpoint/2010/main" val="6850794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35</a:t>
            </a:fld>
            <a:endParaRPr lang="en-US" dirty="0"/>
          </a:p>
        </p:txBody>
      </p:sp>
    </p:spTree>
    <p:extLst>
      <p:ext uri="{BB962C8B-B14F-4D97-AF65-F5344CB8AC3E}">
        <p14:creationId xmlns:p14="http://schemas.microsoft.com/office/powerpoint/2010/main" val="15969247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36</a:t>
            </a:fld>
            <a:endParaRPr lang="en-US" dirty="0"/>
          </a:p>
        </p:txBody>
      </p:sp>
    </p:spTree>
    <p:extLst>
      <p:ext uri="{BB962C8B-B14F-4D97-AF65-F5344CB8AC3E}">
        <p14:creationId xmlns:p14="http://schemas.microsoft.com/office/powerpoint/2010/main" val="33613774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AB207F8-638B-4A96-A170-72E60FF4BB8C}" type="slidenum">
              <a:rPr lang="en-US"/>
              <a:pPr fontAlgn="base">
                <a:spcBef>
                  <a:spcPct val="0"/>
                </a:spcBef>
                <a:spcAft>
                  <a:spcPct val="0"/>
                </a:spcAft>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583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46494FA-1BFA-4F91-A253-928CBC1E29CF}" type="slidenum">
              <a:rPr lang="en-US"/>
              <a:pPr fontAlgn="base">
                <a:spcBef>
                  <a:spcPct val="0"/>
                </a:spcBef>
                <a:spcAft>
                  <a:spcPct val="0"/>
                </a:spcAft>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593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5E9F0A0-ABDB-4B59-BAC1-00D6FDA0FB66}" type="slidenum">
              <a:rPr lang="en-US"/>
              <a:pPr fontAlgn="base">
                <a:spcBef>
                  <a:spcPct val="0"/>
                </a:spcBef>
                <a:spcAft>
                  <a:spcPct val="0"/>
                </a:spcAft>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40</a:t>
            </a:fld>
            <a:endParaRPr lang="en-US" dirty="0"/>
          </a:p>
        </p:txBody>
      </p:sp>
    </p:spTree>
    <p:extLst>
      <p:ext uri="{BB962C8B-B14F-4D97-AF65-F5344CB8AC3E}">
        <p14:creationId xmlns:p14="http://schemas.microsoft.com/office/powerpoint/2010/main" val="36462749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74D8287-576B-49FF-ADAB-5F3A75A9567C}" type="slidenum">
              <a:rPr lang="en-US" smtClean="0"/>
              <a:pPr>
                <a:defRPr/>
              </a:pPr>
              <a:t>41</a:t>
            </a:fld>
            <a:endParaRPr lang="en-US" dirty="0"/>
          </a:p>
        </p:txBody>
      </p:sp>
    </p:spTree>
    <p:extLst>
      <p:ext uri="{BB962C8B-B14F-4D97-AF65-F5344CB8AC3E}">
        <p14:creationId xmlns:p14="http://schemas.microsoft.com/office/powerpoint/2010/main" val="26475299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
        <p:nvSpPr>
          <p:cNvPr id="604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059A655-D454-46F0-9876-C66F9011E7DE}" type="slidenum">
              <a:rPr lang="en-US"/>
              <a:pPr fontAlgn="base">
                <a:spcBef>
                  <a:spcPct val="0"/>
                </a:spcBef>
                <a:spcAft>
                  <a:spcPct val="0"/>
                </a:spcAft>
              </a:pPr>
              <a:t>42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p:nvCxnSpPr>
        <p:spPr>
          <a:xfrm>
            <a:off x="1463675" y="3549650"/>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4708525" y="3549650"/>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4540250" y="3525838"/>
            <a:ext cx="46038" cy="46037"/>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endParaRPr lang="en-US" dirty="0"/>
          </a:p>
        </p:txBody>
      </p:sp>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8" name="Title 27"/>
          <p:cNvSpPr>
            <a:spLocks noGrp="1"/>
          </p:cNvSpPr>
          <p:nvPr>
            <p:ph type="ctrTitle"/>
          </p:nvPr>
        </p:nvSpPr>
        <p:spPr>
          <a:xfrm>
            <a:off x="457200" y="1433732"/>
            <a:ext cx="8305800" cy="1981200"/>
          </a:xfrm>
          <a:ln w="6350" cap="rnd">
            <a:noFill/>
          </a:ln>
        </p:spPr>
        <p:txBody>
          <a:bodyPr>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lang="en-US" smtClean="0"/>
              <a:t>Click to edit Master title style</a:t>
            </a:r>
            <a:endParaRPr lang="en-US"/>
          </a:p>
        </p:txBody>
      </p:sp>
      <p:sp>
        <p:nvSpPr>
          <p:cNvPr id="7" name="Date Placeholder 14"/>
          <p:cNvSpPr>
            <a:spLocks noGrp="1"/>
          </p:cNvSpPr>
          <p:nvPr>
            <p:ph type="dt" sz="half" idx="10"/>
          </p:nvPr>
        </p:nvSpPr>
        <p:spPr/>
        <p:txBody>
          <a:bodyPr/>
          <a:lstStyle>
            <a:lvl1pPr>
              <a:defRPr/>
            </a:lvl1pPr>
          </a:lstStyle>
          <a:p>
            <a:pPr>
              <a:defRPr/>
            </a:pPr>
            <a:fld id="{B748C09A-3DB6-4ECA-B879-7EB53003233F}" type="datetimeFigureOut">
              <a:rPr lang="en-US"/>
              <a:pPr>
                <a:defRPr/>
              </a:pPr>
              <a:t>3/21/2012</a:t>
            </a:fld>
            <a:endParaRPr lang="en-US" dirty="0"/>
          </a:p>
        </p:txBody>
      </p:sp>
      <p:sp>
        <p:nvSpPr>
          <p:cNvPr id="8" name="Slide Number Placeholder 15"/>
          <p:cNvSpPr>
            <a:spLocks noGrp="1"/>
          </p:cNvSpPr>
          <p:nvPr>
            <p:ph type="sldNum" sz="quarter" idx="11"/>
          </p:nvPr>
        </p:nvSpPr>
        <p:spPr/>
        <p:txBody>
          <a:bodyPr/>
          <a:lstStyle>
            <a:lvl1pPr>
              <a:defRPr/>
            </a:lvl1pPr>
          </a:lstStyle>
          <a:p>
            <a:pPr>
              <a:defRPr/>
            </a:pPr>
            <a:fld id="{3EAE120E-8B00-4AEB-8F53-6661FC500B1B}" type="slidenum">
              <a:rPr lang="en-US"/>
              <a:pPr>
                <a:defRPr/>
              </a:pPr>
              <a:t>‹#›</a:t>
            </a:fld>
            <a:endParaRPr lang="en-US" dirty="0"/>
          </a:p>
        </p:txBody>
      </p:sp>
      <p:sp>
        <p:nvSpPr>
          <p:cNvPr id="10" name="Footer Placeholder 16"/>
          <p:cNvSpPr>
            <a:spLocks noGrp="1"/>
          </p:cNvSpPr>
          <p:nvPr>
            <p:ph type="ftr" sz="quarter" idx="12"/>
          </p:nvPr>
        </p:nvSpPr>
        <p:spPr/>
        <p:txBody>
          <a:bodyPr/>
          <a:lstStyle>
            <a:lvl1pPr>
              <a:defRPr/>
            </a:lvl1pPr>
          </a:lstStyle>
          <a:p>
            <a:pPr>
              <a:defRPr/>
            </a:pP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Title 16"/>
          <p:cNvSpPr>
            <a:spLocks noGrp="1"/>
          </p:cNvSpPr>
          <p:nvPr>
            <p:ph type="title"/>
          </p:nvPr>
        </p:nvSpPr>
        <p:spPr/>
        <p:txBody>
          <a:bodyPr rtlCol="0"/>
          <a:lstStyle/>
          <a:p>
            <a:r>
              <a:rPr lang="en-US" smtClean="0"/>
              <a:t>Click to edit Master title style</a:t>
            </a:r>
            <a:endParaRPr lang="en-US"/>
          </a:p>
        </p:txBody>
      </p:sp>
      <p:sp>
        <p:nvSpPr>
          <p:cNvPr id="4" name="Date Placeholder 23"/>
          <p:cNvSpPr>
            <a:spLocks noGrp="1"/>
          </p:cNvSpPr>
          <p:nvPr>
            <p:ph type="dt" sz="half" idx="10"/>
          </p:nvPr>
        </p:nvSpPr>
        <p:spPr/>
        <p:txBody>
          <a:bodyPr/>
          <a:lstStyle>
            <a:lvl1pPr>
              <a:defRPr/>
            </a:lvl1pPr>
          </a:lstStyle>
          <a:p>
            <a:pPr>
              <a:defRPr/>
            </a:pPr>
            <a:fld id="{0A5FF754-6E50-400E-B0F8-B4398EEB0FED}" type="datetimeFigureOut">
              <a:rPr lang="en-US"/>
              <a:pPr>
                <a:defRPr/>
              </a:pPr>
              <a:t>3/21/2012</a:t>
            </a:fld>
            <a:endParaRPr lang="en-US" dirty="0"/>
          </a:p>
        </p:txBody>
      </p:sp>
      <p:sp>
        <p:nvSpPr>
          <p:cNvPr id="5" name="Footer Placeholder 9"/>
          <p:cNvSpPr>
            <a:spLocks noGrp="1"/>
          </p:cNvSpPr>
          <p:nvPr>
            <p:ph type="ftr" sz="quarter" idx="11"/>
          </p:nvPr>
        </p:nvSpPr>
        <p:spPr/>
        <p:txBody>
          <a:bodyPr/>
          <a:lstStyle>
            <a:lvl1pPr>
              <a:defRPr/>
            </a:lvl1pPr>
          </a:lstStyle>
          <a:p>
            <a:pPr>
              <a:defRPr/>
            </a:pPr>
            <a:endParaRPr lang="en-US" dirty="0"/>
          </a:p>
        </p:txBody>
      </p:sp>
      <p:sp>
        <p:nvSpPr>
          <p:cNvPr id="6" name="Slide Number Placeholder 21"/>
          <p:cNvSpPr>
            <a:spLocks noGrp="1"/>
          </p:cNvSpPr>
          <p:nvPr>
            <p:ph type="sldNum" sz="quarter" idx="12"/>
          </p:nvPr>
        </p:nvSpPr>
        <p:spPr/>
        <p:txBody>
          <a:bodyPr/>
          <a:lstStyle>
            <a:lvl1pPr>
              <a:defRPr/>
            </a:lvl1pPr>
          </a:lstStyle>
          <a:p>
            <a:pPr>
              <a:defRPr/>
            </a:pPr>
            <a:fld id="{1B32F43A-9DF1-48B9-9AD6-D6FAD70B3BCB}"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685800" y="4916488"/>
            <a:ext cx="7924800" cy="4762"/>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685800" y="4958864"/>
            <a:ext cx="7924800" cy="984736"/>
          </a:xfrm>
        </p:spPr>
        <p:txBody>
          <a:bodyPr/>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AA4979E-97FB-4519-A180-25522A6719D6}" type="datetimeFigureOut">
              <a:rPr lang="en-US"/>
              <a:pPr>
                <a:defRPr/>
              </a:pPr>
              <a:t>3/21/2012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69BFA62-D8FC-47EE-B8F3-39C90D118478}"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11" name="Content Placeholder 10"/>
          <p:cNvSpPr>
            <a:spLocks noGrp="1"/>
          </p:cNvSpPr>
          <p:nvPr>
            <p:ph sz="half" idx="1"/>
          </p:nvPr>
        </p:nvSpPr>
        <p:spPr>
          <a:xfrm>
            <a:off x="457200" y="1524000"/>
            <a:ext cx="4059936"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2"/>
          </p:nvPr>
        </p:nvSpPr>
        <p:spPr>
          <a:xfrm>
            <a:off x="4648200" y="1524000"/>
            <a:ext cx="4059936"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fld id="{5ACCB514-FCA7-41DC-BD95-BC47FB704032}" type="datetimeFigureOut">
              <a:rPr lang="en-US"/>
              <a:pPr>
                <a:defRPr/>
              </a:pPr>
              <a:t>3/21/2012</a:t>
            </a:fld>
            <a:endParaRPr lang="en-US" dirty="0"/>
          </a:p>
        </p:txBody>
      </p:sp>
      <p:sp>
        <p:nvSpPr>
          <p:cNvPr id="6" name="Footer Placeholder 9"/>
          <p:cNvSpPr>
            <a:spLocks noGrp="1"/>
          </p:cNvSpPr>
          <p:nvPr>
            <p:ph type="ftr" sz="quarter" idx="11"/>
          </p:nvPr>
        </p:nvSpPr>
        <p:spPr/>
        <p:txBody>
          <a:bodyPr/>
          <a:lstStyle>
            <a:lvl1pPr>
              <a:defRPr/>
            </a:lvl1pPr>
          </a:lstStyle>
          <a:p>
            <a:pPr>
              <a:defRPr/>
            </a:pPr>
            <a:endParaRPr lang="en-US" dirty="0"/>
          </a:p>
        </p:txBody>
      </p:sp>
      <p:sp>
        <p:nvSpPr>
          <p:cNvPr id="7" name="Slide Number Placeholder 21"/>
          <p:cNvSpPr>
            <a:spLocks noGrp="1"/>
          </p:cNvSpPr>
          <p:nvPr>
            <p:ph type="sldNum" sz="quarter" idx="12"/>
          </p:nvPr>
        </p:nvSpPr>
        <p:spPr/>
        <p:txBody>
          <a:bodyPr/>
          <a:lstStyle>
            <a:lvl1pPr>
              <a:defRPr/>
            </a:lvl1pPr>
          </a:lstStyle>
          <a:p>
            <a:pPr>
              <a:defRPr/>
            </a:pPr>
            <a:fld id="{E42A30F2-6E77-425E-8E9A-7BDF63D67071}"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563563" y="2179638"/>
            <a:ext cx="3748087" cy="1587"/>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54563" y="2179638"/>
            <a:ext cx="3749675" cy="1587"/>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4" name="Content Placeholder 33"/>
          <p:cNvSpPr>
            <a:spLocks noGrp="1"/>
          </p:cNvSpPr>
          <p:nvPr>
            <p:ph sz="quarter" idx="4"/>
          </p:nvPr>
        </p:nvSpPr>
        <p:spPr>
          <a:xfrm>
            <a:off x="4649788" y="2201896"/>
            <a:ext cx="4038600"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 name="Title 1"/>
          <p:cNvSpPr>
            <a:spLocks noGrp="1"/>
          </p:cNvSpPr>
          <p:nvPr>
            <p:ph type="title"/>
          </p:nvPr>
        </p:nvSpPr>
        <p:spPr>
          <a:xfrm>
            <a:off x="457200" y="155448"/>
            <a:ext cx="8229600" cy="1143000"/>
          </a:xfrm>
        </p:spPr>
        <p:txBody>
          <a:bodyPr/>
          <a:lstStyle>
            <a:lvl1pPr>
              <a:defRPr/>
            </a:lvl1pPr>
          </a:lstStyle>
          <a:p>
            <a:r>
              <a:rPr lang="en-US" smtClean="0"/>
              <a:t>Click to edit Master title style</a:t>
            </a:r>
            <a:endParaRPr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9" name="Slide Number Placeholder 8"/>
          <p:cNvSpPr>
            <a:spLocks noGrp="1"/>
          </p:cNvSpPr>
          <p:nvPr>
            <p:ph type="sldNum" sz="quarter" idx="10"/>
          </p:nvPr>
        </p:nvSpPr>
        <p:spPr/>
        <p:txBody>
          <a:bodyPr/>
          <a:lstStyle>
            <a:lvl1pPr>
              <a:defRPr/>
            </a:lvl1pPr>
          </a:lstStyle>
          <a:p>
            <a:pPr>
              <a:defRPr/>
            </a:pPr>
            <a:fld id="{BEDB927D-AC30-418F-8A09-18232B23FB61}" type="slidenum">
              <a:rPr lang="en-US"/>
              <a:pPr>
                <a:defRPr/>
              </a:pPr>
              <a:t>‹#›</a:t>
            </a:fld>
            <a:endParaRPr lang="en-US" dirty="0"/>
          </a:p>
        </p:txBody>
      </p:sp>
      <p:sp>
        <p:nvSpPr>
          <p:cNvPr id="10" name="Footer Placeholder 7"/>
          <p:cNvSpPr>
            <a:spLocks noGrp="1"/>
          </p:cNvSpPr>
          <p:nvPr>
            <p:ph type="ftr" sz="quarter" idx="11"/>
          </p:nvPr>
        </p:nvSpPr>
        <p:spPr/>
        <p:txBody>
          <a:bodyPr/>
          <a:lstStyle>
            <a:lvl1pPr>
              <a:defRPr/>
            </a:lvl1pPr>
          </a:lstStyle>
          <a:p>
            <a:pPr>
              <a:defRPr/>
            </a:pPr>
            <a:endParaRPr lang="en-US" dirty="0"/>
          </a:p>
        </p:txBody>
      </p:sp>
      <p:sp>
        <p:nvSpPr>
          <p:cNvPr id="11" name="Date Placeholder 6"/>
          <p:cNvSpPr>
            <a:spLocks noGrp="1"/>
          </p:cNvSpPr>
          <p:nvPr>
            <p:ph type="dt" sz="half" idx="12"/>
          </p:nvPr>
        </p:nvSpPr>
        <p:spPr/>
        <p:txBody>
          <a:bodyPr/>
          <a:lstStyle>
            <a:lvl1pPr>
              <a:defRPr/>
            </a:lvl1pPr>
          </a:lstStyle>
          <a:p>
            <a:pPr>
              <a:defRPr/>
            </a:pPr>
            <a:fld id="{4C31543B-5096-440E-843D-730AA36F5AC5}" type="datetimeFigureOut">
              <a:rPr lang="en-US"/>
              <a:pPr>
                <a:defRPr/>
              </a:pPr>
              <a:t>3/21/2012</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fld id="{2EFBBCBC-4DC8-43DA-B05C-2569C62B31AB}" type="datetimeFigureOut">
              <a:rPr lang="en-US"/>
              <a:pPr>
                <a:defRPr/>
              </a:pPr>
              <a:t>3/21/2012</a:t>
            </a:fld>
            <a:endParaRPr lang="en-US" dirty="0"/>
          </a:p>
        </p:txBody>
      </p:sp>
      <p:sp>
        <p:nvSpPr>
          <p:cNvPr id="4" name="Footer Placeholder 9"/>
          <p:cNvSpPr>
            <a:spLocks noGrp="1"/>
          </p:cNvSpPr>
          <p:nvPr>
            <p:ph type="ftr" sz="quarter" idx="11"/>
          </p:nvPr>
        </p:nvSpPr>
        <p:spPr/>
        <p:txBody>
          <a:bodyPr/>
          <a:lstStyle>
            <a:lvl1pPr>
              <a:defRPr/>
            </a:lvl1pPr>
          </a:lstStyle>
          <a:p>
            <a:pPr>
              <a:defRPr/>
            </a:pPr>
            <a:endParaRPr lang="en-US" dirty="0"/>
          </a:p>
        </p:txBody>
      </p:sp>
      <p:sp>
        <p:nvSpPr>
          <p:cNvPr id="5" name="Slide Number Placeholder 21"/>
          <p:cNvSpPr>
            <a:spLocks noGrp="1"/>
          </p:cNvSpPr>
          <p:nvPr>
            <p:ph type="sldNum" sz="quarter" idx="12"/>
          </p:nvPr>
        </p:nvSpPr>
        <p:spPr/>
        <p:txBody>
          <a:bodyPr/>
          <a:lstStyle>
            <a:lvl1pPr>
              <a:defRPr/>
            </a:lvl1pPr>
          </a:lstStyle>
          <a:p>
            <a:pPr>
              <a:defRPr/>
            </a:pPr>
            <a:fld id="{A6BF7613-F115-46CF-A45A-FF6705AA742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20A52EBA-E83F-49A4-983C-678D2C79973E}" type="datetimeFigureOut">
              <a:rPr lang="en-US"/>
              <a:pPr>
                <a:defRPr/>
              </a:pPr>
              <a:t>3/21/2012</a:t>
            </a:fld>
            <a:endParaRPr lang="en-US" dirty="0"/>
          </a:p>
        </p:txBody>
      </p:sp>
      <p:sp>
        <p:nvSpPr>
          <p:cNvPr id="3" name="Footer Placeholder 9"/>
          <p:cNvSpPr>
            <a:spLocks noGrp="1"/>
          </p:cNvSpPr>
          <p:nvPr>
            <p:ph type="ftr" sz="quarter" idx="11"/>
          </p:nvPr>
        </p:nvSpPr>
        <p:spPr/>
        <p:txBody>
          <a:bodyPr/>
          <a:lstStyle>
            <a:lvl1pPr>
              <a:defRPr/>
            </a:lvl1pPr>
          </a:lstStyle>
          <a:p>
            <a:pPr>
              <a:defRPr/>
            </a:pPr>
            <a:endParaRPr lang="en-US" dirty="0"/>
          </a:p>
        </p:txBody>
      </p:sp>
      <p:sp>
        <p:nvSpPr>
          <p:cNvPr id="4" name="Slide Number Placeholder 21"/>
          <p:cNvSpPr>
            <a:spLocks noGrp="1"/>
          </p:cNvSpPr>
          <p:nvPr>
            <p:ph type="sldNum" sz="quarter" idx="12"/>
          </p:nvPr>
        </p:nvSpPr>
        <p:spPr/>
        <p:txBody>
          <a:bodyPr/>
          <a:lstStyle>
            <a:lvl1pPr>
              <a:defRPr/>
            </a:lvl1pPr>
          </a:lstStyle>
          <a:p>
            <a:pPr>
              <a:defRPr/>
            </a:pPr>
            <a:fld id="{D8AA334F-069A-45C6-AB0B-F8827F1A559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Text Placeholder 2"/>
          <p:cNvSpPr>
            <a:spLocks noGrp="1"/>
          </p:cNvSpPr>
          <p:nvPr>
            <p:ph type="body" idx="2"/>
          </p:nvPr>
        </p:nvSpPr>
        <p:spPr>
          <a:xfrm>
            <a:off x="6781800" y="1600200"/>
            <a:ext cx="1984248" cy="3733800"/>
          </a:xfrm>
        </p:spPr>
        <p:txBody>
          <a:bodyPr/>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lstStyle>
            <a:lvl1pPr algn="l">
              <a:buNone/>
              <a:defRPr sz="1800" b="1" spc="-50" baseline="0">
                <a:ln w="3175">
                  <a:noFill/>
                </a:ln>
                <a:solidFill>
                  <a:schemeClr val="tx2"/>
                </a:solidFill>
                <a:effectLst/>
                <a:latin typeface="+mn-lt"/>
                <a:ea typeface="+mn-ea"/>
                <a:cs typeface="+mn-cs"/>
              </a:defRPr>
            </a:lvl1pPr>
          </a:lstStyle>
          <a:p>
            <a:r>
              <a:rPr lang="en-US" smtClean="0"/>
              <a:t>Click to edit Master title style</a:t>
            </a:r>
            <a:endParaRPr lang="en-US"/>
          </a:p>
        </p:txBody>
      </p:sp>
      <p:sp>
        <p:nvSpPr>
          <p:cNvPr id="5" name="Date Placeholder 23"/>
          <p:cNvSpPr>
            <a:spLocks noGrp="1"/>
          </p:cNvSpPr>
          <p:nvPr>
            <p:ph type="dt" sz="half" idx="10"/>
          </p:nvPr>
        </p:nvSpPr>
        <p:spPr/>
        <p:txBody>
          <a:bodyPr/>
          <a:lstStyle>
            <a:lvl1pPr>
              <a:defRPr/>
            </a:lvl1pPr>
          </a:lstStyle>
          <a:p>
            <a:pPr>
              <a:defRPr/>
            </a:pPr>
            <a:fld id="{6F318811-4BDD-4CEB-978B-54C2AE704529}" type="datetimeFigureOut">
              <a:rPr lang="en-US"/>
              <a:pPr>
                <a:defRPr/>
              </a:pPr>
              <a:t>3/21/2012</a:t>
            </a:fld>
            <a:endParaRPr lang="en-US" dirty="0"/>
          </a:p>
        </p:txBody>
      </p:sp>
      <p:sp>
        <p:nvSpPr>
          <p:cNvPr id="6" name="Footer Placeholder 9"/>
          <p:cNvSpPr>
            <a:spLocks noGrp="1"/>
          </p:cNvSpPr>
          <p:nvPr>
            <p:ph type="ftr" sz="quarter" idx="11"/>
          </p:nvPr>
        </p:nvSpPr>
        <p:spPr/>
        <p:txBody>
          <a:bodyPr/>
          <a:lstStyle>
            <a:lvl1pPr>
              <a:defRPr/>
            </a:lvl1pPr>
          </a:lstStyle>
          <a:p>
            <a:pPr>
              <a:defRPr/>
            </a:pPr>
            <a:endParaRPr lang="en-US" dirty="0"/>
          </a:p>
        </p:txBody>
      </p:sp>
      <p:sp>
        <p:nvSpPr>
          <p:cNvPr id="7" name="Slide Number Placeholder 21"/>
          <p:cNvSpPr>
            <a:spLocks noGrp="1"/>
          </p:cNvSpPr>
          <p:nvPr>
            <p:ph type="sldNum" sz="quarter" idx="12"/>
          </p:nvPr>
        </p:nvSpPr>
        <p:spPr/>
        <p:txBody>
          <a:bodyPr/>
          <a:lstStyle>
            <a:lvl1pPr>
              <a:defRPr/>
            </a:lvl1pPr>
          </a:lstStyle>
          <a:p>
            <a:pPr>
              <a:defRPr/>
            </a:pPr>
            <a:fld id="{ADC86819-CC9D-43A9-8C47-F43E8EC2F69A}"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lstStyle>
            <a:lvl1pPr algn="l">
              <a:buNone/>
              <a:defRPr sz="1800" b="1" spc="-50" baseline="0">
                <a:ln w="3175">
                  <a:noFill/>
                </a:ln>
                <a:solidFill>
                  <a:schemeClr val="tx2"/>
                </a:solidFill>
                <a:effectLst/>
                <a:latin typeface="+mn-lt"/>
                <a:ea typeface="+mn-ea"/>
                <a:cs typeface="+mn-cs"/>
              </a:defRPr>
            </a:lvl1pPr>
          </a:lstStyle>
          <a:p>
            <a:r>
              <a:rPr lang="en-US" smtClean="0"/>
              <a:t>Click to edit Master title style</a:t>
            </a:r>
            <a:endParaRPr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normAutofit/>
          </a:bodyPr>
          <a:lstStyle>
            <a:lvl1pPr marL="0" indent="0">
              <a:buNone/>
              <a:defRPr sz="3200">
                <a:solidFill>
                  <a:schemeClr val="bg1"/>
                </a:solidFill>
              </a:defRPr>
            </a:lvl1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6629400" y="1600200"/>
            <a:ext cx="2057400" cy="4419600"/>
          </a:xfrm>
        </p:spPr>
        <p:txBody>
          <a:bodyPr/>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23"/>
          <p:cNvSpPr>
            <a:spLocks noGrp="1"/>
          </p:cNvSpPr>
          <p:nvPr>
            <p:ph type="dt" sz="half" idx="10"/>
          </p:nvPr>
        </p:nvSpPr>
        <p:spPr/>
        <p:txBody>
          <a:bodyPr/>
          <a:lstStyle>
            <a:lvl1pPr>
              <a:defRPr/>
            </a:lvl1pPr>
          </a:lstStyle>
          <a:p>
            <a:pPr>
              <a:defRPr/>
            </a:pPr>
            <a:fld id="{D28E3023-8499-43A0-B5CE-E8C14F285A06}" type="datetimeFigureOut">
              <a:rPr lang="en-US"/>
              <a:pPr>
                <a:defRPr/>
              </a:pPr>
              <a:t>3/21/2012</a:t>
            </a:fld>
            <a:endParaRPr lang="en-US" dirty="0"/>
          </a:p>
        </p:txBody>
      </p:sp>
      <p:sp>
        <p:nvSpPr>
          <p:cNvPr id="6" name="Footer Placeholder 9"/>
          <p:cNvSpPr>
            <a:spLocks noGrp="1"/>
          </p:cNvSpPr>
          <p:nvPr>
            <p:ph type="ftr" sz="quarter" idx="11"/>
          </p:nvPr>
        </p:nvSpPr>
        <p:spPr/>
        <p:txBody>
          <a:bodyPr/>
          <a:lstStyle>
            <a:lvl1pPr>
              <a:defRPr/>
            </a:lvl1pPr>
          </a:lstStyle>
          <a:p>
            <a:pPr>
              <a:defRPr/>
            </a:pPr>
            <a:endParaRPr lang="en-US" dirty="0"/>
          </a:p>
        </p:txBody>
      </p:sp>
      <p:sp>
        <p:nvSpPr>
          <p:cNvPr id="7" name="Slide Number Placeholder 21"/>
          <p:cNvSpPr>
            <a:spLocks noGrp="1"/>
          </p:cNvSpPr>
          <p:nvPr>
            <p:ph type="sldNum" sz="quarter" idx="12"/>
          </p:nvPr>
        </p:nvSpPr>
        <p:spPr/>
        <p:txBody>
          <a:bodyPr/>
          <a:lstStyle>
            <a:lvl1pPr>
              <a:defRPr/>
            </a:lvl1pPr>
          </a:lstStyle>
          <a:p>
            <a:pPr>
              <a:defRPr/>
            </a:pPr>
            <a:fld id="{A2DE04CE-3D56-4A12-B2D3-65E0892C3B7D}"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fld id="{192FE465-1A0A-4175-95AC-20ADD81B8A8F}" type="datetimeFigureOut">
              <a:rPr lang="en-US"/>
              <a:pPr>
                <a:defRPr/>
              </a:pPr>
              <a:t>3/21/2012</a:t>
            </a:fld>
            <a:endParaRPr lang="en-US" dirty="0"/>
          </a:p>
        </p:txBody>
      </p:sp>
      <p:sp>
        <p:nvSpPr>
          <p:cNvPr id="5" name="Footer Placeholder 9"/>
          <p:cNvSpPr>
            <a:spLocks noGrp="1"/>
          </p:cNvSpPr>
          <p:nvPr>
            <p:ph type="ftr" sz="quarter" idx="11"/>
          </p:nvPr>
        </p:nvSpPr>
        <p:spPr/>
        <p:txBody>
          <a:bodyPr/>
          <a:lstStyle>
            <a:lvl1pPr>
              <a:defRPr/>
            </a:lvl1pPr>
          </a:lstStyle>
          <a:p>
            <a:pPr>
              <a:defRPr/>
            </a:pPr>
            <a:endParaRPr lang="en-US" dirty="0"/>
          </a:p>
        </p:txBody>
      </p:sp>
      <p:sp>
        <p:nvSpPr>
          <p:cNvPr id="6" name="Slide Number Placeholder 21"/>
          <p:cNvSpPr>
            <a:spLocks noGrp="1"/>
          </p:cNvSpPr>
          <p:nvPr>
            <p:ph type="sldNum" sz="quarter" idx="12"/>
          </p:nvPr>
        </p:nvSpPr>
        <p:spPr/>
        <p:txBody>
          <a:bodyPr/>
          <a:lstStyle>
            <a:lvl1pPr>
              <a:defRPr/>
            </a:lvl1pPr>
          </a:lstStyle>
          <a:p>
            <a:pPr>
              <a:defRPr/>
            </a:pPr>
            <a:fld id="{443CC501-2C8B-4DD7-B7AB-DB862EAADC98}"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fld id="{E02AE329-6B18-4841-B6C5-5749B7B06007}" type="datetimeFigureOut">
              <a:rPr lang="en-US"/>
              <a:pPr>
                <a:defRPr/>
              </a:pPr>
              <a:t>3/21/2012</a:t>
            </a:fld>
            <a:endParaRPr lang="en-US" dirty="0"/>
          </a:p>
        </p:txBody>
      </p:sp>
      <p:sp>
        <p:nvSpPr>
          <p:cNvPr id="5" name="Footer Placeholder 9"/>
          <p:cNvSpPr>
            <a:spLocks noGrp="1"/>
          </p:cNvSpPr>
          <p:nvPr>
            <p:ph type="ftr" sz="quarter" idx="11"/>
          </p:nvPr>
        </p:nvSpPr>
        <p:spPr/>
        <p:txBody>
          <a:bodyPr/>
          <a:lstStyle>
            <a:lvl1pPr>
              <a:defRPr/>
            </a:lvl1pPr>
          </a:lstStyle>
          <a:p>
            <a:pPr>
              <a:defRPr/>
            </a:pPr>
            <a:endParaRPr lang="en-US" dirty="0"/>
          </a:p>
        </p:txBody>
      </p:sp>
      <p:sp>
        <p:nvSpPr>
          <p:cNvPr id="6" name="Slide Number Placeholder 21"/>
          <p:cNvSpPr>
            <a:spLocks noGrp="1"/>
          </p:cNvSpPr>
          <p:nvPr>
            <p:ph type="sldNum" sz="quarter" idx="12"/>
          </p:nvPr>
        </p:nvSpPr>
        <p:spPr/>
        <p:txBody>
          <a:bodyPr/>
          <a:lstStyle>
            <a:lvl1pPr>
              <a:defRPr/>
            </a:lvl1pPr>
          </a:lstStyle>
          <a:p>
            <a:pPr>
              <a:defRPr/>
            </a:pPr>
            <a:fld id="{38C3C2DA-A2C0-4916-BE64-4C126E862B7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duotone>
              <a:prstClr val="black"/>
              <a:schemeClr val="accent1">
                <a:tint val="45000"/>
                <a:satMod val="400000"/>
              </a:schemeClr>
            </a:duotone>
            <a:lum contrast="-6000"/>
          </a:blip>
          <a:srcRect/>
          <a:stretch>
            <a:fillRect/>
          </a:stretch>
        </a:blipFill>
        <a:effectLst/>
      </p:bgPr>
    </p:bg>
    <p:spTree>
      <p:nvGrpSpPr>
        <p:cNvPr id="1" name=""/>
        <p:cNvGrpSpPr/>
        <p:nvPr/>
      </p:nvGrpSpPr>
      <p:grpSpPr>
        <a:xfrm>
          <a:off x="0" y="0"/>
          <a:ext cx="0" cy="0"/>
          <a:chOff x="0" y="0"/>
          <a:chExt cx="0" cy="0"/>
        </a:xfrm>
      </p:grpSpPr>
      <p:sp>
        <p:nvSpPr>
          <p:cNvPr id="1026" name="Text Placeholder 8"/>
          <p:cNvSpPr>
            <a:spLocks noGrp="1"/>
          </p:cNvSpPr>
          <p:nvPr>
            <p:ph type="body" idx="1"/>
          </p:nvPr>
        </p:nvSpPr>
        <p:spPr bwMode="auto">
          <a:xfrm>
            <a:off x="457200" y="1447800"/>
            <a:ext cx="82296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5791200" y="6203950"/>
            <a:ext cx="2590800" cy="384175"/>
          </a:xfrm>
          <a:prstGeom prst="rect">
            <a:avLst/>
          </a:prstGeom>
        </p:spPr>
        <p:txBody>
          <a:bodyPr vert="horz" anchor="ctr" anchorCtr="0"/>
          <a:lstStyle>
            <a:lvl1pPr algn="l" eaLnBrk="1" fontAlgn="auto" latinLnBrk="0" hangingPunct="1">
              <a:spcBef>
                <a:spcPts val="0"/>
              </a:spcBef>
              <a:spcAft>
                <a:spcPts val="0"/>
              </a:spcAft>
              <a:defRPr kumimoji="0" sz="1200" smtClean="0">
                <a:solidFill>
                  <a:schemeClr val="tx2"/>
                </a:solidFill>
                <a:latin typeface="+mn-lt"/>
              </a:defRPr>
            </a:lvl1pPr>
          </a:lstStyle>
          <a:p>
            <a:pPr>
              <a:defRPr/>
            </a:pPr>
            <a:fld id="{4669FF16-E447-4437-A54A-4587C4B0A229}" type="datetimeFigureOut">
              <a:rPr lang="en-US"/>
              <a:pPr>
                <a:defRPr/>
              </a:pPr>
              <a:t>3/21/2012</a:t>
            </a:fld>
            <a:endParaRPr lang="en-US" dirty="0"/>
          </a:p>
        </p:txBody>
      </p:sp>
      <p:sp>
        <p:nvSpPr>
          <p:cNvPr id="10" name="Footer Placeholder 9"/>
          <p:cNvSpPr>
            <a:spLocks noGrp="1"/>
          </p:cNvSpPr>
          <p:nvPr>
            <p:ph type="ftr" sz="quarter" idx="3"/>
          </p:nvPr>
        </p:nvSpPr>
        <p:spPr>
          <a:xfrm>
            <a:off x="2133600" y="6203950"/>
            <a:ext cx="3581400" cy="384175"/>
          </a:xfrm>
          <a:prstGeom prst="rect">
            <a:avLst/>
          </a:prstGeom>
        </p:spPr>
        <p:txBody>
          <a:bodyPr vert="horz" anchor="ctr" anchorCtr="0"/>
          <a:lstStyle>
            <a:lvl1pPr algn="r" eaLnBrk="1" fontAlgn="auto" latinLnBrk="0" hangingPunct="1">
              <a:spcBef>
                <a:spcPts val="0"/>
              </a:spcBef>
              <a:spcAft>
                <a:spcPts val="0"/>
              </a:spcAft>
              <a:defRPr kumimoji="0" sz="1200">
                <a:solidFill>
                  <a:schemeClr val="tx2"/>
                </a:solidFill>
                <a:latin typeface="+mn-lt"/>
              </a:defRPr>
            </a:lvl1pPr>
          </a:lstStyle>
          <a:p>
            <a:pPr>
              <a:defRPr/>
            </a:pPr>
            <a:endParaRPr lang="en-US" dirty="0"/>
          </a:p>
        </p:txBody>
      </p:sp>
      <p:sp>
        <p:nvSpPr>
          <p:cNvPr id="22" name="Slide Number Placeholder 21"/>
          <p:cNvSpPr>
            <a:spLocks noGrp="1"/>
          </p:cNvSpPr>
          <p:nvPr>
            <p:ph type="sldNum" sz="quarter" idx="4"/>
          </p:nvPr>
        </p:nvSpPr>
        <p:spPr>
          <a:xfrm>
            <a:off x="8410575" y="6181725"/>
            <a:ext cx="609600" cy="457200"/>
          </a:xfrm>
          <a:prstGeom prst="rect">
            <a:avLst/>
          </a:prstGeom>
          <a:noFill/>
        </p:spPr>
        <p:txBody>
          <a:bodyPr vert="horz" lIns="0" tIns="0" rIns="0" bIns="0" anchor="ctr" anchorCtr="0">
            <a:noAutofit/>
          </a:bodyPr>
          <a:lstStyle>
            <a:lvl1pPr algn="ctr" eaLnBrk="1" fontAlgn="auto" latinLnBrk="0" hangingPunct="1">
              <a:spcBef>
                <a:spcPts val="0"/>
              </a:spcBef>
              <a:spcAft>
                <a:spcPts val="0"/>
              </a:spcAft>
              <a:defRPr kumimoji="0" sz="1600" baseline="0" smtClean="0">
                <a:solidFill>
                  <a:schemeClr val="tx2"/>
                </a:solidFill>
                <a:latin typeface="+mn-lt"/>
              </a:defRPr>
            </a:lvl1pPr>
          </a:lstStyle>
          <a:p>
            <a:pPr>
              <a:defRPr/>
            </a:pPr>
            <a:fld id="{EE70915C-2AA7-4890-BD5D-5F97B4F49C81}" type="slidenum">
              <a:rPr lang="en-US"/>
              <a:pPr>
                <a:defRPr/>
              </a:pPr>
              <a:t>‹#›</a:t>
            </a:fld>
            <a:endParaRPr lang="en-US" dirty="0"/>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lang="en-US" smtClean="0"/>
              <a:t>Click to edit Master title style</a:t>
            </a:r>
            <a:endParaRPr lang="en-US"/>
          </a:p>
        </p:txBody>
      </p:sp>
    </p:spTree>
  </p:cSld>
  <p:clrMap bg1="dk1" tx1="lt1" bg2="dk2" tx2="lt2" accent1="accent1" accent2="accent2" accent3="accent3" accent4="accent4" accent5="accent5" accent6="accent6" hlink="hlink" folHlink="folHlink"/>
  <p:sldLayoutIdLst>
    <p:sldLayoutId id="2147483743" r:id="rId1"/>
    <p:sldLayoutId id="2147483735" r:id="rId2"/>
    <p:sldLayoutId id="2147483744" r:id="rId3"/>
    <p:sldLayoutId id="2147483736" r:id="rId4"/>
    <p:sldLayoutId id="2147483745" r:id="rId5"/>
    <p:sldLayoutId id="2147483737" r:id="rId6"/>
    <p:sldLayoutId id="2147483738" r:id="rId7"/>
    <p:sldLayoutId id="2147483739" r:id="rId8"/>
    <p:sldLayoutId id="2147483740" r:id="rId9"/>
    <p:sldLayoutId id="2147483741" r:id="rId10"/>
    <p:sldLayoutId id="2147483742" r:id="rId11"/>
  </p:sldLayoutIdLst>
  <p:txStyles>
    <p:titleStyle>
      <a:lvl1pPr algn="l" rtl="0" fontAlgn="base">
        <a:spcBef>
          <a:spcPct val="0"/>
        </a:spcBef>
        <a:spcAft>
          <a:spcPct val="0"/>
        </a:spcAft>
        <a:defRPr lang="en-US" sz="4200" kern="1200" spc="-10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a:lvl2pPr algn="l" rtl="0" fontAlgn="base">
        <a:spcBef>
          <a:spcPct val="0"/>
        </a:spcBef>
        <a:spcAft>
          <a:spcPct val="0"/>
        </a:spcAft>
        <a:defRPr sz="4200">
          <a:solidFill>
            <a:srgbClr val="F9F9F9"/>
          </a:solidFill>
          <a:latin typeface="Constantia" pitchFamily="18" charset="0"/>
        </a:defRPr>
      </a:lvl2pPr>
      <a:lvl3pPr algn="l" rtl="0" fontAlgn="base">
        <a:spcBef>
          <a:spcPct val="0"/>
        </a:spcBef>
        <a:spcAft>
          <a:spcPct val="0"/>
        </a:spcAft>
        <a:defRPr sz="4200">
          <a:solidFill>
            <a:srgbClr val="F9F9F9"/>
          </a:solidFill>
          <a:latin typeface="Constantia" pitchFamily="18" charset="0"/>
        </a:defRPr>
      </a:lvl3pPr>
      <a:lvl4pPr algn="l" rtl="0" fontAlgn="base">
        <a:spcBef>
          <a:spcPct val="0"/>
        </a:spcBef>
        <a:spcAft>
          <a:spcPct val="0"/>
        </a:spcAft>
        <a:defRPr sz="4200">
          <a:solidFill>
            <a:srgbClr val="F9F9F9"/>
          </a:solidFill>
          <a:latin typeface="Constantia" pitchFamily="18" charset="0"/>
        </a:defRPr>
      </a:lvl4pPr>
      <a:lvl5pPr algn="l" rtl="0" fontAlgn="base">
        <a:spcBef>
          <a:spcPct val="0"/>
        </a:spcBef>
        <a:spcAft>
          <a:spcPct val="0"/>
        </a:spcAft>
        <a:defRPr sz="4200">
          <a:solidFill>
            <a:srgbClr val="F9F9F9"/>
          </a:solidFill>
          <a:latin typeface="Constantia" pitchFamily="18" charset="0"/>
        </a:defRPr>
      </a:lvl5pPr>
      <a:lvl6pPr marL="457200" algn="l" rtl="0" fontAlgn="base">
        <a:spcBef>
          <a:spcPct val="0"/>
        </a:spcBef>
        <a:spcAft>
          <a:spcPct val="0"/>
        </a:spcAft>
        <a:defRPr sz="4200">
          <a:solidFill>
            <a:srgbClr val="F9F9F9"/>
          </a:solidFill>
          <a:latin typeface="Constantia" pitchFamily="18" charset="0"/>
        </a:defRPr>
      </a:lvl6pPr>
      <a:lvl7pPr marL="914400" algn="l" rtl="0" fontAlgn="base">
        <a:spcBef>
          <a:spcPct val="0"/>
        </a:spcBef>
        <a:spcAft>
          <a:spcPct val="0"/>
        </a:spcAft>
        <a:defRPr sz="4200">
          <a:solidFill>
            <a:srgbClr val="F9F9F9"/>
          </a:solidFill>
          <a:latin typeface="Constantia" pitchFamily="18" charset="0"/>
        </a:defRPr>
      </a:lvl7pPr>
      <a:lvl8pPr marL="1371600" algn="l" rtl="0" fontAlgn="base">
        <a:spcBef>
          <a:spcPct val="0"/>
        </a:spcBef>
        <a:spcAft>
          <a:spcPct val="0"/>
        </a:spcAft>
        <a:defRPr sz="4200">
          <a:solidFill>
            <a:srgbClr val="F9F9F9"/>
          </a:solidFill>
          <a:latin typeface="Constantia" pitchFamily="18" charset="0"/>
        </a:defRPr>
      </a:lvl8pPr>
      <a:lvl9pPr marL="1828800" algn="l" rtl="0" fontAlgn="base">
        <a:spcBef>
          <a:spcPct val="0"/>
        </a:spcBef>
        <a:spcAft>
          <a:spcPct val="0"/>
        </a:spcAft>
        <a:defRPr sz="4200">
          <a:solidFill>
            <a:srgbClr val="F9F9F9"/>
          </a:solidFill>
          <a:latin typeface="Constantia" pitchFamily="18" charset="0"/>
        </a:defRPr>
      </a:lvl9pPr>
    </p:titleStyle>
    <p:bodyStyle>
      <a:lvl1pPr marL="273050" indent="-273050" algn="l" rtl="0" fontAlgn="base">
        <a:spcBef>
          <a:spcPts val="600"/>
        </a:spcBef>
        <a:spcAft>
          <a:spcPct val="0"/>
        </a:spcAft>
        <a:buClr>
          <a:schemeClr val="accent2"/>
        </a:buClr>
        <a:buSzPct val="85000"/>
        <a:buFont typeface="Wingdings 2" pitchFamily="18" charset="2"/>
        <a:buChar char=""/>
        <a:defRPr sz="2600" kern="1200">
          <a:solidFill>
            <a:schemeClr val="tx1"/>
          </a:solidFill>
          <a:latin typeface="+mn-lt"/>
          <a:ea typeface="+mn-ea"/>
          <a:cs typeface="+mn-cs"/>
        </a:defRPr>
      </a:lvl1pPr>
      <a:lvl2pPr marL="639763" indent="-273050" algn="l" rtl="0" fontAlgn="base">
        <a:spcBef>
          <a:spcPts val="300"/>
        </a:spcBef>
        <a:spcAft>
          <a:spcPct val="0"/>
        </a:spcAft>
        <a:buClr>
          <a:srgbClr val="9BB39B"/>
        </a:buClr>
        <a:buSzPct val="85000"/>
        <a:buFont typeface="Wingdings 2" pitchFamily="18" charset="2"/>
        <a:buChar char=""/>
        <a:defRPr sz="2400" kern="1200">
          <a:solidFill>
            <a:schemeClr val="tx2"/>
          </a:solidFill>
          <a:latin typeface="+mn-lt"/>
          <a:ea typeface="+mn-ea"/>
          <a:cs typeface="+mn-cs"/>
        </a:defRPr>
      </a:lvl2pPr>
      <a:lvl3pPr marL="1004888" indent="-228600" algn="l" rtl="0" fontAlgn="base">
        <a:spcBef>
          <a:spcPts val="300"/>
        </a:spcBef>
        <a:spcAft>
          <a:spcPct val="0"/>
        </a:spcAft>
        <a:buClr>
          <a:srgbClr val="809580"/>
        </a:buClr>
        <a:buSzPct val="85000"/>
        <a:buFont typeface="Wingdings 2" pitchFamily="18" charset="2"/>
        <a:buChar char=""/>
        <a:defRPr sz="2100" kern="1200">
          <a:solidFill>
            <a:schemeClr val="tx1"/>
          </a:solidFill>
          <a:latin typeface="+mn-lt"/>
          <a:ea typeface="+mn-ea"/>
          <a:cs typeface="+mn-cs"/>
        </a:defRPr>
      </a:lvl3pPr>
      <a:lvl4pPr marL="1279525" indent="-228600" algn="l" rtl="0" fontAlgn="base">
        <a:spcBef>
          <a:spcPts val="300"/>
        </a:spcBef>
        <a:spcAft>
          <a:spcPct val="0"/>
        </a:spcAft>
        <a:buClr>
          <a:srgbClr val="9BB39B"/>
        </a:buClr>
        <a:buSzPct val="85000"/>
        <a:buFont typeface="Wingdings 2" pitchFamily="18" charset="2"/>
        <a:buChar char=""/>
        <a:defRPr sz="1900" kern="1200">
          <a:solidFill>
            <a:schemeClr val="tx1"/>
          </a:solidFill>
          <a:latin typeface="+mn-lt"/>
          <a:ea typeface="+mn-ea"/>
          <a:cs typeface="+mn-cs"/>
        </a:defRPr>
      </a:lvl4pPr>
      <a:lvl5pPr marL="1554163" indent="-228600" algn="l" rtl="0" fontAlgn="base">
        <a:spcBef>
          <a:spcPts val="338"/>
        </a:spcBef>
        <a:spcAft>
          <a:spcPct val="0"/>
        </a:spcAft>
        <a:buClr>
          <a:srgbClr val="9BB39B"/>
        </a:buClr>
        <a:buSzPct val="85000"/>
        <a:buFont typeface="Wingdings 2" pitchFamily="18" charset="2"/>
        <a:buChar char=""/>
        <a:defRPr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fns.usda.gov/fns/safety/pdf/best_practices.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fns.usda.gov/tn/resources/foodbuyingguide.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hyperlink" Target="http://www.fns.usda.gov/tn/resources/fv_galore.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google.com/imgres?imgurl=http://afteramerica.files.wordpress.com/2010/01/usda-logo.jpg&amp;imgrefurl=http://afteramerica.wordpress.com/2010/01/08/the-coming-starvation-in-america-2010/&amp;usg=__YAWqMs39NTldjfFYFYQhoalT0ao=&amp;h=976&amp;w=1352&amp;sz=159&amp;hl=en&amp;start=2&amp;itbs=1&amp;tbnid=EEUnXPtTf6my4M:&amp;tbnh=108&amp;tbnw=150&amp;prev=/images?q=usda&amp;hl=en&amp;gbv=2&amp;tbs=isch:1"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eg"/></Relationships>
</file>

<file path=ppt/slides/_rels/slide41.xml.rels><?xml version="1.0" encoding="UTF-8" standalone="yes"?>
<Relationships xmlns="http://schemas.openxmlformats.org/package/2006/relationships"><Relationship Id="rId3" Type="http://schemas.openxmlformats.org/officeDocument/2006/relationships/hyperlink" Target="http://www.fns.usda.gov/cnd/governance/regulations.htm"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hyperlink" Target="mailto:denise.hagan@education.ky.gov" TargetMode="External"/><Relationship Id="rId4" Type="http://schemas.openxmlformats.org/officeDocument/2006/relationships/hyperlink" Target="http://www.fns.usda.gov/cnd/F2S/f2spolicy.htm"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514600"/>
            <a:ext cx="8305800" cy="900332"/>
          </a:xfrm>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Procuring Local Foods </a:t>
            </a:r>
            <a:endParaRPr b="1" dirty="0">
              <a:solidFill>
                <a:srgbClr val="FFC000"/>
              </a:solidFill>
              <a:effectLst>
                <a:outerShdw blurRad="38100" dist="38100" dir="2700000" algn="tl">
                  <a:srgbClr val="000000">
                    <a:alpha val="43137"/>
                  </a:srgbClr>
                </a:outerShdw>
              </a:effectLst>
            </a:endParaRPr>
          </a:p>
        </p:txBody>
      </p:sp>
      <p:sp>
        <p:nvSpPr>
          <p:cNvPr id="4" name="Subtitle 3"/>
          <p:cNvSpPr>
            <a:spLocks noGrp="1"/>
          </p:cNvSpPr>
          <p:nvPr>
            <p:ph type="subTitle" idx="1"/>
          </p:nvPr>
        </p:nvSpPr>
        <p:spPr>
          <a:xfrm>
            <a:off x="457200" y="3700462"/>
            <a:ext cx="8305800" cy="1709737"/>
          </a:xfrm>
        </p:spPr>
        <p:txBody>
          <a:bodyPr/>
          <a:lstStyle/>
          <a:p>
            <a:pPr fontAlgn="auto">
              <a:spcAft>
                <a:spcPts val="0"/>
              </a:spcAft>
              <a:buFont typeface="Wingdings 2"/>
              <a:buNone/>
              <a:defRPr/>
            </a:pPr>
            <a:r>
              <a:rPr lang="en-US" dirty="0" smtClean="0">
                <a:solidFill>
                  <a:schemeClr val="bg1"/>
                </a:solidFill>
                <a:latin typeface="Comic Sans MS" pitchFamily="66" charset="0"/>
              </a:rPr>
              <a:t>Working Group #1 </a:t>
            </a:r>
          </a:p>
          <a:p>
            <a:pPr fontAlgn="auto">
              <a:spcAft>
                <a:spcPts val="0"/>
              </a:spcAft>
              <a:buFont typeface="Wingdings 2"/>
              <a:buNone/>
              <a:defRPr/>
            </a:pPr>
            <a:r>
              <a:rPr lang="en-US" dirty="0" smtClean="0">
                <a:solidFill>
                  <a:schemeClr val="bg1"/>
                </a:solidFill>
                <a:latin typeface="Comic Sans MS" pitchFamily="66" charset="0"/>
              </a:rPr>
              <a:t>Farm to School:  Linking the Land and the Lunchroom</a:t>
            </a:r>
          </a:p>
          <a:p>
            <a:pPr fontAlgn="auto">
              <a:spcAft>
                <a:spcPts val="0"/>
              </a:spcAft>
              <a:buFont typeface="Wingdings 2"/>
              <a:buNone/>
              <a:defRPr/>
            </a:pPr>
            <a:r>
              <a:rPr lang="en-US" dirty="0" smtClean="0">
                <a:solidFill>
                  <a:schemeClr val="bg1"/>
                </a:solidFill>
                <a:latin typeface="Comic Sans MS" pitchFamily="66" charset="0"/>
              </a:rPr>
              <a:t>School and Community Nutrition, KDE</a:t>
            </a:r>
          </a:p>
          <a:p>
            <a:pPr fontAlgn="auto">
              <a:spcAft>
                <a:spcPts val="0"/>
              </a:spcAft>
              <a:buFont typeface="Wingdings 2"/>
              <a:buNone/>
              <a:defRPr/>
            </a:pPr>
            <a:r>
              <a:rPr lang="en-US" dirty="0" smtClean="0">
                <a:solidFill>
                  <a:schemeClr val="bg1"/>
                </a:solidFill>
                <a:latin typeface="Comic Sans MS" pitchFamily="66" charset="0"/>
              </a:rPr>
              <a:t>Friday, March 23, 2012</a:t>
            </a:r>
          </a:p>
          <a:p>
            <a:pPr fontAlgn="auto">
              <a:spcAft>
                <a:spcPts val="0"/>
              </a:spcAft>
              <a:buFont typeface="Wingdings 2"/>
              <a:buNone/>
              <a:defRPr/>
            </a:pPr>
            <a:endParaRPr lang="en-US" dirty="0" smtClean="0"/>
          </a:p>
          <a:p>
            <a:pPr fontAlgn="auto">
              <a:spcAft>
                <a:spcPts val="0"/>
              </a:spcAft>
              <a:buFont typeface="Wingdings 2"/>
              <a:buNone/>
              <a:defRPr/>
            </a:pPr>
            <a:endParaRPr lang="en-US" dirty="0"/>
          </a:p>
        </p:txBody>
      </p:sp>
      <p:pic>
        <p:nvPicPr>
          <p:cNvPr id="5" name="Picture 5" descr="I:\CND Workgroups\CNDPAMB\LRodgers-Kuperman\Christine Tran\Photos\RUSD\Lunch.JPG"/>
          <p:cNvPicPr>
            <a:picLocks noChangeAspect="1" noChangeArrowheads="1"/>
          </p:cNvPicPr>
          <p:nvPr/>
        </p:nvPicPr>
        <p:blipFill>
          <a:blip r:embed="rId3" cstate="print"/>
          <a:srcRect/>
          <a:stretch>
            <a:fillRect/>
          </a:stretch>
        </p:blipFill>
        <p:spPr bwMode="auto">
          <a:xfrm>
            <a:off x="2640724" y="609600"/>
            <a:ext cx="3607676"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47800"/>
            <a:ext cx="8229600" cy="4572000"/>
          </a:xfrm>
        </p:spPr>
        <p:txBody>
          <a:bodyPr>
            <a:normAutofit/>
          </a:bodyPr>
          <a:lstStyle/>
          <a:p>
            <a:pPr marL="274320" indent="-274320" fontAlgn="auto">
              <a:spcAft>
                <a:spcPts val="0"/>
              </a:spcAft>
              <a:buClr>
                <a:schemeClr val="tx2">
                  <a:lumMod val="25000"/>
                </a:schemeClr>
              </a:buClr>
              <a:buFont typeface="Wingdings 2"/>
              <a:buChar char=""/>
              <a:defRPr/>
            </a:pPr>
            <a:r>
              <a:rPr lang="en-US" sz="2800" dirty="0" smtClean="0">
                <a:solidFill>
                  <a:schemeClr val="bg2">
                    <a:lumMod val="50000"/>
                  </a:schemeClr>
                </a:solidFill>
              </a:rPr>
              <a:t>Identify mechanisms and procedures for schools to use when purchasing local, farm fresh products</a:t>
            </a:r>
          </a:p>
          <a:p>
            <a:pPr marL="274320" indent="-274320" fontAlgn="auto">
              <a:spcAft>
                <a:spcPts val="0"/>
              </a:spcAft>
              <a:buClr>
                <a:schemeClr val="tx2">
                  <a:lumMod val="25000"/>
                </a:schemeClr>
              </a:buClr>
              <a:buFont typeface="Wingdings 2"/>
              <a:buChar char=""/>
              <a:defRPr/>
            </a:pPr>
            <a:endParaRPr lang="en-US" sz="2800" dirty="0" smtClean="0">
              <a:solidFill>
                <a:schemeClr val="bg2">
                  <a:lumMod val="50000"/>
                </a:schemeClr>
              </a:solidFill>
            </a:endParaRPr>
          </a:p>
          <a:p>
            <a:pPr marL="274320" indent="-274320" fontAlgn="auto">
              <a:spcAft>
                <a:spcPts val="0"/>
              </a:spcAft>
              <a:buClr>
                <a:schemeClr val="tx2">
                  <a:lumMod val="25000"/>
                </a:schemeClr>
              </a:buClr>
              <a:buFont typeface="Wingdings 2"/>
              <a:buChar char=""/>
              <a:defRPr/>
            </a:pPr>
            <a:endParaRPr lang="en-US" sz="2800" dirty="0">
              <a:solidFill>
                <a:schemeClr val="bg2">
                  <a:lumMod val="50000"/>
                </a:schemeClr>
              </a:solidFill>
            </a:endParaRP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Today’s Goals </a:t>
            </a:r>
            <a:endParaRPr b="1" dirty="0">
              <a:solidFill>
                <a:srgbClr val="FFC000"/>
              </a:solidFill>
              <a:effectLst>
                <a:outerShdw blurRad="38100" dist="38100" dir="2700000" algn="tl">
                  <a:srgbClr val="000000">
                    <a:alpha val="43137"/>
                  </a:srgbClr>
                </a:outerShdw>
              </a:effectLst>
            </a:endParaRPr>
          </a:p>
        </p:txBody>
      </p:sp>
      <p:pic>
        <p:nvPicPr>
          <p:cNvPr id="6149" name="Picture 6" descr="I:\CND Workgroups\CNDPAMB\LRodgers-Kuperman\Christine Tran\Photos\Iowa F2S Program\Picture3.jpg"/>
          <p:cNvPicPr>
            <a:picLocks noChangeAspect="1" noChangeArrowheads="1"/>
          </p:cNvPicPr>
          <p:nvPr/>
        </p:nvPicPr>
        <p:blipFill>
          <a:blip r:embed="rId3" cstate="print"/>
          <a:srcRect/>
          <a:stretch>
            <a:fillRect/>
          </a:stretch>
        </p:blipFill>
        <p:spPr bwMode="auto">
          <a:xfrm>
            <a:off x="4648200" y="3048000"/>
            <a:ext cx="3276600" cy="2286000"/>
          </a:xfrm>
          <a:prstGeom prst="rect">
            <a:avLst/>
          </a:prstGeom>
          <a:noFill/>
          <a:ln w="9525">
            <a:noFill/>
            <a:miter lim="800000"/>
            <a:headEnd/>
            <a:tailEnd/>
          </a:ln>
        </p:spPr>
      </p:pic>
      <p:pic>
        <p:nvPicPr>
          <p:cNvPr id="6150" name="Picture 9" descr="C:\Documents and Settings\JKupcha\Local Settings\Temporary Internet Files\Content.Word\Picture 064.jpg"/>
          <p:cNvPicPr>
            <a:picLocks noChangeAspect="1" noChangeArrowheads="1"/>
          </p:cNvPicPr>
          <p:nvPr/>
        </p:nvPicPr>
        <p:blipFill>
          <a:blip r:embed="rId4" cstate="print"/>
          <a:srcRect/>
          <a:stretch>
            <a:fillRect/>
          </a:stretch>
        </p:blipFill>
        <p:spPr bwMode="auto">
          <a:xfrm>
            <a:off x="1219200" y="3048000"/>
            <a:ext cx="2971800" cy="2362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fontAlgn="auto">
              <a:spcAft>
                <a:spcPts val="0"/>
              </a:spcAft>
              <a:defRPr/>
            </a:pPr>
            <a:r>
              <a:rPr sz="5400" b="1" dirty="0" smtClean="0">
                <a:solidFill>
                  <a:schemeClr val="bg1"/>
                </a:solidFill>
                <a:effectLst>
                  <a:outerShdw blurRad="38100" dist="38100" dir="2700000" algn="tl">
                    <a:srgbClr val="000000">
                      <a:alpha val="43137"/>
                    </a:srgbClr>
                  </a:outerShdw>
                </a:effectLst>
              </a:rPr>
              <a:t>General Procurement</a:t>
            </a:r>
            <a:endParaRPr sz="5400" b="1" dirty="0">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2900" dirty="0" smtClean="0">
                <a:solidFill>
                  <a:schemeClr val="bg1"/>
                </a:solidFill>
              </a:rPr>
              <a:t>Most important principle of a sound procurement is that it is competitive</a:t>
            </a:r>
          </a:p>
          <a:p>
            <a:pPr marL="274320" indent="-274320" fontAlgn="auto">
              <a:spcAft>
                <a:spcPts val="0"/>
              </a:spcAft>
              <a:buClr>
                <a:schemeClr val="tx2">
                  <a:lumMod val="25000"/>
                </a:schemeClr>
              </a:buClr>
              <a:buFont typeface="Wingdings 2"/>
              <a:buChar char=""/>
              <a:defRPr/>
            </a:pPr>
            <a:r>
              <a:rPr lang="en-US" sz="3200" b="1" i="1" dirty="0" smtClean="0">
                <a:solidFill>
                  <a:schemeClr val="bg1"/>
                </a:solidFill>
              </a:rPr>
              <a:t>Free and open competition</a:t>
            </a:r>
            <a:r>
              <a:rPr lang="en-US" sz="3200" b="1" dirty="0" smtClean="0">
                <a:solidFill>
                  <a:schemeClr val="bg1"/>
                </a:solidFill>
              </a:rPr>
              <a:t> means that all suppliers are on a level playing field and have the same opportunity to compete </a:t>
            </a:r>
          </a:p>
          <a:p>
            <a:pPr marL="274320" indent="-274320" fontAlgn="auto">
              <a:spcAft>
                <a:spcPts val="0"/>
              </a:spcAft>
              <a:buClr>
                <a:schemeClr val="tx2">
                  <a:lumMod val="25000"/>
                </a:schemeClr>
              </a:buClr>
              <a:buFont typeface="Wingdings 2"/>
              <a:buChar char=""/>
              <a:defRPr/>
            </a:pPr>
            <a:r>
              <a:rPr lang="en-US" sz="2900" dirty="0" smtClean="0">
                <a:solidFill>
                  <a:schemeClr val="bg1"/>
                </a:solidFill>
              </a:rPr>
              <a:t>Procurement procedures may </a:t>
            </a:r>
            <a:r>
              <a:rPr lang="en-US" sz="2900" u="sng" dirty="0" smtClean="0">
                <a:solidFill>
                  <a:schemeClr val="bg1"/>
                </a:solidFill>
              </a:rPr>
              <a:t>never</a:t>
            </a:r>
            <a:r>
              <a:rPr lang="en-US" sz="2900" dirty="0" smtClean="0">
                <a:solidFill>
                  <a:schemeClr val="bg1"/>
                </a:solidFill>
              </a:rPr>
              <a:t> unduly restrict or eliminate competition </a:t>
            </a:r>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Competition!</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Full and Open Competition</a:t>
            </a:r>
            <a:endParaRPr lang="en-US" b="1" dirty="0">
              <a:solidFill>
                <a:srgbClr val="FFC000"/>
              </a:solidFill>
            </a:endParaRPr>
          </a:p>
        </p:txBody>
      </p:sp>
      <p:sp>
        <p:nvSpPr>
          <p:cNvPr id="3" name="Content Placeholder 2"/>
          <p:cNvSpPr>
            <a:spLocks noGrp="1"/>
          </p:cNvSpPr>
          <p:nvPr>
            <p:ph idx="1"/>
          </p:nvPr>
        </p:nvSpPr>
        <p:spPr>
          <a:xfrm>
            <a:off x="457200" y="1600200"/>
            <a:ext cx="8229600" cy="5105400"/>
          </a:xfrm>
        </p:spPr>
        <p:txBody>
          <a:bodyPr>
            <a:normAutofit/>
          </a:bodyPr>
          <a:lstStyle/>
          <a:p>
            <a:r>
              <a:rPr lang="en-US" sz="2600" dirty="0" smtClean="0">
                <a:solidFill>
                  <a:schemeClr val="bg1"/>
                </a:solidFill>
              </a:rPr>
              <a:t>3016.36(c)(1)</a:t>
            </a:r>
          </a:p>
          <a:p>
            <a:pPr lvl="1">
              <a:lnSpc>
                <a:spcPct val="170000"/>
              </a:lnSpc>
            </a:pPr>
            <a:r>
              <a:rPr lang="en-US" sz="2000" dirty="0" smtClean="0">
                <a:solidFill>
                  <a:schemeClr val="bg1"/>
                </a:solidFill>
              </a:rPr>
              <a:t>All procurement transactions will be conducted in a manner providing full and open competition consistent with the standards of §3016.36. Some of the </a:t>
            </a:r>
            <a:r>
              <a:rPr lang="en-US" sz="2000" u="sng" dirty="0" smtClean="0">
                <a:solidFill>
                  <a:schemeClr val="bg1"/>
                </a:solidFill>
              </a:rPr>
              <a:t>situations considered to be restrictive</a:t>
            </a:r>
            <a:r>
              <a:rPr lang="en-US" sz="2000" dirty="0" smtClean="0">
                <a:solidFill>
                  <a:schemeClr val="bg1"/>
                </a:solidFill>
              </a:rPr>
              <a:t> of competition include but are not limited to:</a:t>
            </a:r>
          </a:p>
          <a:p>
            <a:pPr lvl="2">
              <a:lnSpc>
                <a:spcPct val="170000"/>
              </a:lnSpc>
            </a:pPr>
            <a:r>
              <a:rPr lang="en-US" sz="2000" dirty="0" smtClean="0">
                <a:solidFill>
                  <a:schemeClr val="bg1"/>
                </a:solidFill>
              </a:rPr>
              <a:t>(i) Placing unreasonable requirements on firms in order for them to qualify to do business,</a:t>
            </a:r>
          </a:p>
          <a:p>
            <a:pPr lvl="2">
              <a:lnSpc>
                <a:spcPct val="170000"/>
              </a:lnSpc>
            </a:pPr>
            <a:r>
              <a:rPr lang="en-US" sz="2000" dirty="0" smtClean="0">
                <a:solidFill>
                  <a:schemeClr val="bg1"/>
                </a:solidFill>
              </a:rPr>
              <a:t>(ii) Requiring unnecessary experience and excessive bonding,</a:t>
            </a:r>
          </a:p>
        </p:txBody>
      </p:sp>
    </p:spTree>
    <p:extLst>
      <p:ext uri="{BB962C8B-B14F-4D97-AF65-F5344CB8AC3E}">
        <p14:creationId xmlns:p14="http://schemas.microsoft.com/office/powerpoint/2010/main" val="41073512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Full and Open Competition</a:t>
            </a:r>
            <a:endParaRPr lang="en-US" b="1" dirty="0">
              <a:solidFill>
                <a:srgbClr val="FFC000"/>
              </a:solidFill>
            </a:endParaRPr>
          </a:p>
        </p:txBody>
      </p:sp>
      <p:sp>
        <p:nvSpPr>
          <p:cNvPr id="3" name="Content Placeholder 2"/>
          <p:cNvSpPr>
            <a:spLocks noGrp="1"/>
          </p:cNvSpPr>
          <p:nvPr>
            <p:ph idx="1"/>
          </p:nvPr>
        </p:nvSpPr>
        <p:spPr>
          <a:xfrm>
            <a:off x="457200" y="1371600"/>
            <a:ext cx="8229600" cy="4525963"/>
          </a:xfrm>
        </p:spPr>
        <p:txBody>
          <a:bodyPr>
            <a:noAutofit/>
          </a:bodyPr>
          <a:lstStyle/>
          <a:p>
            <a:pPr lvl="2">
              <a:lnSpc>
                <a:spcPct val="170000"/>
              </a:lnSpc>
            </a:pPr>
            <a:r>
              <a:rPr lang="en-US" sz="2000" dirty="0" smtClean="0">
                <a:solidFill>
                  <a:schemeClr val="bg1"/>
                </a:solidFill>
              </a:rPr>
              <a:t>(iii) Noncompetitive pricing practices between firms or between affiliated companies, (collusion)</a:t>
            </a:r>
          </a:p>
          <a:p>
            <a:pPr lvl="2">
              <a:lnSpc>
                <a:spcPct val="170000"/>
              </a:lnSpc>
            </a:pPr>
            <a:r>
              <a:rPr lang="en-US" sz="2000" dirty="0" smtClean="0">
                <a:solidFill>
                  <a:schemeClr val="bg1"/>
                </a:solidFill>
              </a:rPr>
              <a:t>(iv) Noncompetitive awards to consultants that are on retainer contracts,</a:t>
            </a:r>
          </a:p>
          <a:p>
            <a:pPr lvl="2">
              <a:lnSpc>
                <a:spcPct val="170000"/>
              </a:lnSpc>
            </a:pPr>
            <a:r>
              <a:rPr lang="en-US" sz="2000" dirty="0" smtClean="0">
                <a:solidFill>
                  <a:schemeClr val="bg1"/>
                </a:solidFill>
              </a:rPr>
              <a:t>(v) Organizational conflicts of interest,</a:t>
            </a:r>
          </a:p>
          <a:p>
            <a:pPr lvl="2">
              <a:lnSpc>
                <a:spcPct val="170000"/>
              </a:lnSpc>
            </a:pPr>
            <a:r>
              <a:rPr lang="en-US" sz="2000" dirty="0" smtClean="0">
                <a:solidFill>
                  <a:schemeClr val="bg1"/>
                </a:solidFill>
              </a:rPr>
              <a:t>(vi) Specifying only a “brand name” product instead of allowing “an equal” product to be offered and describing the performance of other relevant requirements of the procurement, and</a:t>
            </a:r>
          </a:p>
          <a:p>
            <a:pPr lvl="2">
              <a:lnSpc>
                <a:spcPct val="170000"/>
              </a:lnSpc>
            </a:pPr>
            <a:r>
              <a:rPr lang="en-US" sz="2000" dirty="0" smtClean="0">
                <a:solidFill>
                  <a:schemeClr val="bg1"/>
                </a:solidFill>
              </a:rPr>
              <a:t>(vii) Any arbitrary action in the procurement process.</a:t>
            </a:r>
          </a:p>
          <a:p>
            <a:endParaRPr lang="en-US" sz="1800" dirty="0"/>
          </a:p>
        </p:txBody>
      </p:sp>
    </p:spTree>
    <p:extLst>
      <p:ext uri="{BB962C8B-B14F-4D97-AF65-F5344CB8AC3E}">
        <p14:creationId xmlns:p14="http://schemas.microsoft.com/office/powerpoint/2010/main" val="20955872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Full and Open Competition</a:t>
            </a:r>
            <a:endParaRPr lang="en-US" b="1" dirty="0">
              <a:solidFill>
                <a:srgbClr val="FFC000"/>
              </a:solidFill>
            </a:endParaRPr>
          </a:p>
        </p:txBody>
      </p:sp>
      <p:sp>
        <p:nvSpPr>
          <p:cNvPr id="3" name="Content Placeholder 2"/>
          <p:cNvSpPr>
            <a:spLocks noGrp="1"/>
          </p:cNvSpPr>
          <p:nvPr>
            <p:ph idx="1"/>
          </p:nvPr>
        </p:nvSpPr>
        <p:spPr/>
        <p:txBody>
          <a:bodyPr>
            <a:normAutofit/>
          </a:bodyPr>
          <a:lstStyle/>
          <a:p>
            <a:pPr marL="742950" lvl="2" indent="-342900">
              <a:lnSpc>
                <a:spcPct val="150000"/>
              </a:lnSpc>
              <a:buFont typeface="Calibri" pitchFamily="34" charset="0"/>
              <a:buChar char="⁻"/>
            </a:pPr>
            <a:r>
              <a:rPr lang="en-US" sz="2000" dirty="0" smtClean="0">
                <a:solidFill>
                  <a:schemeClr val="bg1"/>
                </a:solidFill>
              </a:rPr>
              <a:t>(2) Grantees and subgrantees will conduct procurements in a manner that prohibits the use of statutorily or administratively imposed </a:t>
            </a:r>
            <a:r>
              <a:rPr lang="en-US" sz="2000" u="sng" dirty="0" smtClean="0">
                <a:solidFill>
                  <a:schemeClr val="bg1"/>
                </a:solidFill>
              </a:rPr>
              <a:t>in-State or local geographical preferences </a:t>
            </a:r>
            <a:r>
              <a:rPr lang="en-US" sz="2000" dirty="0" smtClean="0">
                <a:solidFill>
                  <a:schemeClr val="bg1"/>
                </a:solidFill>
              </a:rPr>
              <a:t>in the evaluation of bids or proposals, except in those cases where applicable Federal statutes expressly mandate or encourage geographic preference.  </a:t>
            </a:r>
            <a:r>
              <a:rPr lang="en-US" sz="2000" b="1" i="1" dirty="0" smtClean="0">
                <a:solidFill>
                  <a:schemeClr val="bg1"/>
                </a:solidFill>
              </a:rPr>
              <a:t>(FNS does allow Geographic Preference for </a:t>
            </a:r>
            <a:r>
              <a:rPr lang="en-US" sz="2000" b="1" i="1" u="sng" dirty="0" smtClean="0">
                <a:solidFill>
                  <a:schemeClr val="bg1"/>
                </a:solidFill>
              </a:rPr>
              <a:t>unprocessed</a:t>
            </a:r>
            <a:r>
              <a:rPr lang="en-US" sz="2000" b="1" i="1" dirty="0" smtClean="0">
                <a:solidFill>
                  <a:schemeClr val="bg1"/>
                </a:solidFill>
              </a:rPr>
              <a:t> locally grown or locally raised agricultural products.)</a:t>
            </a:r>
          </a:p>
          <a:p>
            <a:pPr>
              <a:lnSpc>
                <a:spcPct val="150000"/>
              </a:lnSpc>
            </a:pPr>
            <a:endParaRPr lang="en-US" sz="2000" dirty="0"/>
          </a:p>
        </p:txBody>
      </p:sp>
    </p:spTree>
    <p:extLst>
      <p:ext uri="{BB962C8B-B14F-4D97-AF65-F5344CB8AC3E}">
        <p14:creationId xmlns:p14="http://schemas.microsoft.com/office/powerpoint/2010/main" val="5272082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Local rule</a:t>
            </a:r>
            <a:endParaRPr lang="en-US" b="1" dirty="0">
              <a:solidFill>
                <a:srgbClr val="FFC000"/>
              </a:solidFill>
            </a:endParaRPr>
          </a:p>
        </p:txBody>
      </p:sp>
      <p:sp>
        <p:nvSpPr>
          <p:cNvPr id="3" name="Content Placeholder 2"/>
          <p:cNvSpPr>
            <a:spLocks noGrp="1"/>
          </p:cNvSpPr>
          <p:nvPr>
            <p:ph idx="1"/>
          </p:nvPr>
        </p:nvSpPr>
        <p:spPr>
          <a:xfrm>
            <a:off x="457200" y="1447800"/>
            <a:ext cx="8229600" cy="4648200"/>
          </a:xfrm>
        </p:spPr>
        <p:txBody>
          <a:bodyPr/>
          <a:lstStyle/>
          <a:p>
            <a:pPr marL="342900" lvl="1" indent="-342900">
              <a:lnSpc>
                <a:spcPct val="150000"/>
              </a:lnSpc>
              <a:buFont typeface="Arial" pitchFamily="34" charset="0"/>
              <a:buChar char="•"/>
            </a:pPr>
            <a:r>
              <a:rPr lang="en-US" sz="2400" dirty="0" smtClean="0">
                <a:solidFill>
                  <a:schemeClr val="bg1"/>
                </a:solidFill>
              </a:rPr>
              <a:t>7 CFR 210.21(c):  </a:t>
            </a:r>
            <a:r>
              <a:rPr lang="en-US" sz="2200" dirty="0" smtClean="0">
                <a:solidFill>
                  <a:schemeClr val="bg1"/>
                </a:solidFill>
              </a:rPr>
              <a:t>A </a:t>
            </a:r>
            <a:r>
              <a:rPr lang="en-US" sz="2200" u="sng" dirty="0" smtClean="0">
                <a:solidFill>
                  <a:schemeClr val="bg1"/>
                </a:solidFill>
              </a:rPr>
              <a:t>school food authority may use its own procurement procedures</a:t>
            </a:r>
            <a:r>
              <a:rPr lang="en-US" sz="2200" dirty="0" smtClean="0">
                <a:solidFill>
                  <a:schemeClr val="bg1"/>
                </a:solidFill>
              </a:rPr>
              <a:t> </a:t>
            </a:r>
            <a:r>
              <a:rPr lang="en-US" sz="1800" b="1" i="1" dirty="0" smtClean="0">
                <a:solidFill>
                  <a:schemeClr val="bg1"/>
                </a:solidFill>
              </a:rPr>
              <a:t>which reflect applicable State and local laws and regulations, provided that procurements made with nonprofit school food service account funds adhere to the standards set forth in this part and §§3016.36(b) through 3016.36(i), 3016.60 and 3019.40 through 3019.48 of this title, as applicable</a:t>
            </a:r>
            <a:r>
              <a:rPr lang="en-US" sz="1800" dirty="0" smtClean="0">
                <a:solidFill>
                  <a:schemeClr val="bg1"/>
                </a:solidFill>
              </a:rPr>
              <a:t>, and in the applicable Office of Management and Budget Circulars.  School food authority procedures </a:t>
            </a:r>
            <a:r>
              <a:rPr lang="en-US" sz="2200" u="sng" dirty="0" smtClean="0">
                <a:solidFill>
                  <a:schemeClr val="bg1"/>
                </a:solidFill>
              </a:rPr>
              <a:t>must include a written code of standards of conduct meeting the minimum standards of §3016.36(b)(3) or §3019.42</a:t>
            </a:r>
            <a:r>
              <a:rPr lang="en-US" sz="2200" dirty="0" smtClean="0">
                <a:solidFill>
                  <a:schemeClr val="bg1"/>
                </a:solidFill>
              </a:rPr>
              <a:t> of this title, as applicable.</a:t>
            </a:r>
          </a:p>
          <a:p>
            <a:pPr>
              <a:buNone/>
            </a:pPr>
            <a:endParaRPr lang="en-US" dirty="0"/>
          </a:p>
        </p:txBody>
      </p:sp>
      <p:pic>
        <p:nvPicPr>
          <p:cNvPr id="4" name="Picture 3" descr="neighborhood.WMF"/>
          <p:cNvPicPr>
            <a:picLocks noChangeAspect="1"/>
          </p:cNvPicPr>
          <p:nvPr/>
        </p:nvPicPr>
        <p:blipFill>
          <a:blip r:embed="rId3" cstate="print"/>
          <a:stretch>
            <a:fillRect/>
          </a:stretch>
        </p:blipFill>
        <p:spPr>
          <a:xfrm>
            <a:off x="7086600" y="5257800"/>
            <a:ext cx="1841500" cy="1146175"/>
          </a:xfrm>
          <a:prstGeom prst="rect">
            <a:avLst/>
          </a:prstGeom>
        </p:spPr>
      </p:pic>
    </p:spTree>
    <p:extLst>
      <p:ext uri="{BB962C8B-B14F-4D97-AF65-F5344CB8AC3E}">
        <p14:creationId xmlns:p14="http://schemas.microsoft.com/office/powerpoint/2010/main" val="25441319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4000" dirty="0" smtClean="0">
                <a:solidFill>
                  <a:schemeClr val="bg1"/>
                </a:solidFill>
              </a:rPr>
              <a:t>Cost of products and services!</a:t>
            </a:r>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p:txBody>
          <a:bodyPr>
            <a:normAutofit fontScale="90000"/>
          </a:bodyPr>
          <a:lstStyle/>
          <a:p>
            <a:pPr fontAlgn="auto">
              <a:spcAft>
                <a:spcPts val="0"/>
              </a:spcAft>
              <a:defRPr/>
            </a:pPr>
            <a:r>
              <a:rPr sz="4700" b="1" dirty="0" smtClean="0">
                <a:solidFill>
                  <a:srgbClr val="FFC000"/>
                </a:solidFill>
                <a:effectLst>
                  <a:outerShdw blurRad="38100" dist="38100" dir="2700000" algn="tl">
                    <a:srgbClr val="000000">
                      <a:alpha val="43137"/>
                    </a:srgbClr>
                  </a:outerShdw>
                </a:effectLst>
              </a:rPr>
              <a:t>Why is competition important? </a:t>
            </a:r>
            <a:endParaRPr sz="3100" b="1" dirty="0">
              <a:solidFill>
                <a:srgbClr val="FFC000"/>
              </a:solidFill>
              <a:effectLst>
                <a:outerShdw blurRad="38100" dist="38100" dir="2700000" algn="tl">
                  <a:srgbClr val="000000">
                    <a:alpha val="43137"/>
                  </a:srgbClr>
                </a:outerShdw>
              </a:effectLst>
            </a:endParaRPr>
          </a:p>
        </p:txBody>
      </p:sp>
      <p:pic>
        <p:nvPicPr>
          <p:cNvPr id="4" name="Picture 4"/>
          <p:cNvPicPr>
            <a:picLocks noChangeAspect="1" noChangeArrowheads="1"/>
          </p:cNvPicPr>
          <p:nvPr/>
        </p:nvPicPr>
        <p:blipFill>
          <a:blip r:embed="rId3" cstate="print"/>
          <a:srcRect/>
          <a:stretch>
            <a:fillRect/>
          </a:stretch>
        </p:blipFill>
        <p:spPr bwMode="auto">
          <a:xfrm>
            <a:off x="2895600" y="2667000"/>
            <a:ext cx="2925763" cy="33639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8" presetClass="emph" presetSubtype="0" fill="hold" nodeType="withEffect">
                                  <p:stCondLst>
                                    <p:cond delay="0"/>
                                  </p:stCondLst>
                                  <p:childTnLst>
                                    <p:animRot by="21600000">
                                      <p:cBhvr>
                                        <p:cTn id="10"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4000" dirty="0" smtClean="0">
                <a:solidFill>
                  <a:schemeClr val="bg1"/>
                </a:solidFill>
              </a:rPr>
              <a:t>Quality of products and services</a:t>
            </a:r>
          </a:p>
          <a:p>
            <a:pPr marL="274320" indent="-274320" fontAlgn="auto">
              <a:spcAft>
                <a:spcPts val="0"/>
              </a:spcAft>
              <a:buClr>
                <a:schemeClr val="tx2">
                  <a:lumMod val="25000"/>
                </a:schemeClr>
              </a:buClr>
              <a:buFont typeface="Wingdings 2"/>
              <a:buChar char=""/>
              <a:defRPr/>
            </a:pPr>
            <a:endParaRPr lang="en-US" dirty="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Why is competition important?</a:t>
            </a:r>
            <a:endParaRPr b="1" dirty="0">
              <a:solidFill>
                <a:srgbClr val="FFC000"/>
              </a:solidFill>
              <a:effectLst>
                <a:outerShdw blurRad="38100" dist="38100" dir="2700000" algn="tl">
                  <a:srgbClr val="000000">
                    <a:alpha val="43137"/>
                  </a:srgbClr>
                </a:outerShdw>
              </a:effectLst>
            </a:endParaRPr>
          </a:p>
        </p:txBody>
      </p:sp>
      <p:pic>
        <p:nvPicPr>
          <p:cNvPr id="4" name="Picture 2"/>
          <p:cNvPicPr>
            <a:picLocks noChangeAspect="1" noChangeArrowheads="1"/>
          </p:cNvPicPr>
          <p:nvPr/>
        </p:nvPicPr>
        <p:blipFill>
          <a:blip r:embed="rId3" cstate="print">
            <a:lum bright="6000" contrast="-2000"/>
          </a:blip>
          <a:srcRect/>
          <a:stretch>
            <a:fillRect/>
          </a:stretch>
        </p:blipFill>
        <p:spPr bwMode="auto">
          <a:xfrm>
            <a:off x="1524000" y="3810000"/>
            <a:ext cx="2286000" cy="1857375"/>
          </a:xfrm>
          <a:prstGeom prst="rect">
            <a:avLst/>
          </a:prstGeom>
          <a:ln>
            <a:noFill/>
          </a:ln>
          <a:effectLst>
            <a:softEdge rad="112500"/>
          </a:effectLst>
        </p:spPr>
      </p:pic>
      <p:pic>
        <p:nvPicPr>
          <p:cNvPr id="6" name="Picture 3"/>
          <p:cNvPicPr>
            <a:picLocks noChangeAspect="1" noChangeArrowheads="1"/>
          </p:cNvPicPr>
          <p:nvPr/>
        </p:nvPicPr>
        <p:blipFill>
          <a:blip r:embed="rId4" cstate="print">
            <a:lum bright="20000"/>
          </a:blip>
          <a:srcRect/>
          <a:stretch>
            <a:fillRect/>
          </a:stretch>
        </p:blipFill>
        <p:spPr bwMode="auto">
          <a:xfrm>
            <a:off x="5257800" y="3886200"/>
            <a:ext cx="2410692" cy="1828800"/>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6" presetClass="emph" presetSubtype="0" fill="hold" nodeType="withEffect">
                                  <p:stCondLst>
                                    <p:cond delay="0"/>
                                  </p:stCondLst>
                                  <p:childTnLst>
                                    <p:animScale>
                                      <p:cBhvr>
                                        <p:cTn id="1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0" y="1600200"/>
            <a:ext cx="8229600" cy="4572000"/>
          </a:xfrm>
        </p:spPr>
        <p:txBody>
          <a:bodyPr>
            <a:normAutofit/>
          </a:bodyPr>
          <a:lstStyle/>
          <a:p>
            <a:pPr marL="274320" indent="-274320" fontAlgn="auto">
              <a:spcAft>
                <a:spcPts val="0"/>
              </a:spcAft>
              <a:buClr>
                <a:schemeClr val="tx2">
                  <a:lumMod val="25000"/>
                </a:schemeClr>
              </a:buClr>
              <a:buFont typeface="Wingdings 2"/>
              <a:buChar char=""/>
              <a:defRPr/>
            </a:pPr>
            <a:r>
              <a:rPr lang="en-US" sz="3200" dirty="0" smtClean="0">
                <a:solidFill>
                  <a:schemeClr val="bg1"/>
                </a:solidFill>
              </a:rPr>
              <a:t>Program Regulations for Procurement:</a:t>
            </a:r>
          </a:p>
          <a:p>
            <a:pPr marL="640080" lvl="1" indent="-274320" fontAlgn="auto">
              <a:spcAft>
                <a:spcPts val="0"/>
              </a:spcAft>
              <a:buClr>
                <a:schemeClr val="tx2">
                  <a:lumMod val="50000"/>
                </a:schemeClr>
              </a:buClr>
              <a:buFont typeface="Wingdings 2"/>
              <a:buChar char=""/>
              <a:defRPr/>
            </a:pPr>
            <a:r>
              <a:rPr lang="en-US" sz="3000" dirty="0" smtClean="0">
                <a:solidFill>
                  <a:schemeClr val="bg1"/>
                </a:solidFill>
              </a:rPr>
              <a:t>NSLP: 7 CFR 210.21</a:t>
            </a:r>
          </a:p>
          <a:p>
            <a:pPr marL="640080" lvl="1" indent="-274320" fontAlgn="auto">
              <a:spcAft>
                <a:spcPts val="0"/>
              </a:spcAft>
              <a:buClr>
                <a:schemeClr val="tx2">
                  <a:lumMod val="50000"/>
                </a:schemeClr>
              </a:buClr>
              <a:buFont typeface="Wingdings 2"/>
              <a:buChar char=""/>
              <a:defRPr/>
            </a:pPr>
            <a:r>
              <a:rPr lang="en-US" sz="3000" dirty="0" smtClean="0">
                <a:solidFill>
                  <a:schemeClr val="bg1"/>
                </a:solidFill>
              </a:rPr>
              <a:t> SBP: 7 CFR 220.16</a:t>
            </a:r>
          </a:p>
          <a:p>
            <a:pPr marL="640080" lvl="1" indent="-274320" fontAlgn="auto">
              <a:spcAft>
                <a:spcPts val="0"/>
              </a:spcAft>
              <a:buClr>
                <a:schemeClr val="tx2">
                  <a:lumMod val="50000"/>
                </a:schemeClr>
              </a:buClr>
              <a:buFont typeface="Wingdings 2"/>
              <a:buChar char=""/>
              <a:defRPr/>
            </a:pPr>
            <a:endParaRPr lang="en-US" sz="28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Uniform Administrative Requirements for Procurement:</a:t>
            </a:r>
          </a:p>
          <a:p>
            <a:pPr marL="640080" lvl="1" indent="-274320" fontAlgn="auto">
              <a:spcAft>
                <a:spcPts val="0"/>
              </a:spcAft>
              <a:buClr>
                <a:schemeClr val="tx2">
                  <a:lumMod val="50000"/>
                </a:schemeClr>
              </a:buClr>
              <a:buFont typeface="Wingdings 2"/>
              <a:buChar char=""/>
              <a:defRPr/>
            </a:pPr>
            <a:r>
              <a:rPr lang="en-US" sz="3000" dirty="0" smtClean="0">
                <a:solidFill>
                  <a:schemeClr val="bg1"/>
                </a:solidFill>
              </a:rPr>
              <a:t>State/local governments: 7 CFR 3016.36</a:t>
            </a:r>
          </a:p>
          <a:p>
            <a:pPr marL="640080" lvl="1" indent="-274320" fontAlgn="auto">
              <a:spcAft>
                <a:spcPts val="0"/>
              </a:spcAft>
              <a:buClr>
                <a:schemeClr val="tx2">
                  <a:lumMod val="50000"/>
                </a:schemeClr>
              </a:buClr>
              <a:buFont typeface="Wingdings 2"/>
              <a:buChar char=""/>
              <a:defRPr/>
            </a:pPr>
            <a:r>
              <a:rPr lang="en-US" sz="3000" dirty="0" smtClean="0">
                <a:solidFill>
                  <a:schemeClr val="bg1"/>
                </a:solidFill>
              </a:rPr>
              <a:t>Non-profits: 7 CFR 3019.44</a:t>
            </a:r>
          </a:p>
          <a:p>
            <a:pPr marL="1005840" lvl="2" fontAlgn="auto">
              <a:spcAft>
                <a:spcPts val="0"/>
              </a:spcAft>
              <a:buClr>
                <a:schemeClr val="tx2">
                  <a:lumMod val="25000"/>
                </a:schemeClr>
              </a:buClr>
              <a:buFont typeface="Wingdings 2"/>
              <a:buChar char=""/>
              <a:defRPr/>
            </a:pPr>
            <a:endParaRPr lang="en-US" sz="2700" dirty="0" smtClean="0">
              <a:solidFill>
                <a:schemeClr val="bg1"/>
              </a:solidFill>
            </a:endParaRPr>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a:xfrm>
            <a:off x="381000" y="304800"/>
            <a:ext cx="8229600" cy="1219200"/>
          </a:xfrm>
        </p:spPr>
        <p:txBody>
          <a:bodyPr>
            <a:noAutofit/>
          </a:bodyPr>
          <a:lstStyle/>
          <a:p>
            <a:pPr fontAlgn="auto">
              <a:spcAft>
                <a:spcPts val="0"/>
              </a:spcAft>
              <a:defRPr/>
            </a:pPr>
            <a:r>
              <a:rPr sz="3900" b="1" dirty="0" smtClean="0">
                <a:solidFill>
                  <a:srgbClr val="FFC000"/>
                </a:solidFill>
                <a:effectLst>
                  <a:outerShdw blurRad="38100" dist="38100" dir="2700000" algn="tl">
                    <a:srgbClr val="000000">
                      <a:alpha val="43137"/>
                    </a:srgbClr>
                  </a:outerShdw>
                </a:effectLst>
              </a:rPr>
              <a:t>What regulations must SFAs follow?</a:t>
            </a:r>
            <a:endParaRPr sz="3900"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fontAlgn="auto">
              <a:spcAft>
                <a:spcPts val="0"/>
              </a:spcAft>
              <a:defRPr/>
            </a:pPr>
            <a:r>
              <a:rPr sz="5400" b="1" dirty="0" smtClean="0">
                <a:solidFill>
                  <a:schemeClr val="bg1"/>
                </a:solidFill>
                <a:effectLst>
                  <a:outerShdw blurRad="38100" dist="38100" dir="2700000" algn="tl">
                    <a:srgbClr val="000000">
                      <a:alpha val="43137"/>
                    </a:srgbClr>
                  </a:outerShdw>
                </a:effectLst>
              </a:rPr>
              <a:t>Procurement Framework</a:t>
            </a:r>
            <a:endParaRPr sz="5400" b="1" dirty="0">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057400"/>
            <a:ext cx="8229600" cy="4572000"/>
          </a:xfrm>
        </p:spPr>
        <p:txBody>
          <a:bodyPr>
            <a:normAutofit/>
          </a:bodyPr>
          <a:lstStyle/>
          <a:p>
            <a:pPr marL="274320" indent="-274320" fontAlgn="auto">
              <a:spcAft>
                <a:spcPts val="0"/>
              </a:spcAft>
              <a:buClr>
                <a:schemeClr val="tx2">
                  <a:lumMod val="25000"/>
                </a:schemeClr>
              </a:buClr>
              <a:buFont typeface="Wingdings 2"/>
              <a:buChar char=""/>
              <a:defRPr/>
            </a:pPr>
            <a:r>
              <a:rPr lang="en-US" sz="3600" dirty="0" smtClean="0">
                <a:solidFill>
                  <a:schemeClr val="bg1"/>
                </a:solidFill>
              </a:rPr>
              <a:t>Informal procurement</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Small Purchase Threshold –</a:t>
            </a:r>
          </a:p>
          <a:p>
            <a:pPr marL="365760" lvl="1" indent="0" fontAlgn="auto">
              <a:spcAft>
                <a:spcPts val="0"/>
              </a:spcAft>
              <a:buClr>
                <a:schemeClr val="tx2">
                  <a:lumMod val="50000"/>
                </a:schemeClr>
              </a:buClr>
              <a:buNone/>
              <a:defRPr/>
            </a:pPr>
            <a:r>
              <a:rPr lang="en-US" sz="3200" dirty="0" smtClean="0">
                <a:solidFill>
                  <a:schemeClr val="bg1"/>
                </a:solidFill>
              </a:rPr>
              <a:t>Kentucky - $20,000 </a:t>
            </a:r>
            <a:br>
              <a:rPr lang="en-US" sz="3200" dirty="0" smtClean="0">
                <a:solidFill>
                  <a:schemeClr val="bg1"/>
                </a:solidFill>
              </a:rPr>
            </a:br>
            <a:endParaRPr lang="en-US" sz="32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600" dirty="0" smtClean="0">
                <a:solidFill>
                  <a:schemeClr val="bg1"/>
                </a:solidFill>
              </a:rPr>
              <a:t>Formal procurement</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Competitive Sealed Bidding</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Competitive Negotiation</a:t>
            </a: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Procurement Methods</a:t>
            </a:r>
            <a:endParaRPr b="1" dirty="0">
              <a:solidFill>
                <a:srgbClr val="FFC000"/>
              </a:solidFill>
              <a:effectLst>
                <a:outerShdw blurRad="38100" dist="38100" dir="2700000" algn="tl">
                  <a:srgbClr val="000000">
                    <a:alpha val="43137"/>
                  </a:srgbClr>
                </a:outerShdw>
              </a:effectLst>
            </a:endParaRPr>
          </a:p>
        </p:txBody>
      </p:sp>
      <p:pic>
        <p:nvPicPr>
          <p:cNvPr id="13316" name="Picture 4"/>
          <p:cNvPicPr>
            <a:picLocks noChangeAspect="1" noChangeArrowheads="1"/>
          </p:cNvPicPr>
          <p:nvPr/>
        </p:nvPicPr>
        <p:blipFill>
          <a:blip r:embed="rId3" cstate="print"/>
          <a:srcRect/>
          <a:stretch>
            <a:fillRect/>
          </a:stretch>
        </p:blipFill>
        <p:spPr bwMode="auto">
          <a:xfrm rot="320872">
            <a:off x="6081713" y="1498600"/>
            <a:ext cx="2784475" cy="1462088"/>
          </a:xfrm>
          <a:prstGeom prst="rect">
            <a:avLst/>
          </a:prstGeom>
          <a:noFill/>
          <a:ln w="22225">
            <a:solidFill>
              <a:schemeClr val="bg1"/>
            </a:solid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300" dirty="0" smtClean="0">
                <a:solidFill>
                  <a:schemeClr val="bg1"/>
                </a:solidFill>
              </a:rPr>
              <a:t>Federal regulations set forth that a procurement contract under $100,000 in value may be awarded using informal methods</a:t>
            </a:r>
          </a:p>
          <a:p>
            <a:pPr marL="274320" indent="-274320" fontAlgn="auto">
              <a:spcAft>
                <a:spcPts val="0"/>
              </a:spcAft>
              <a:buClr>
                <a:schemeClr val="tx2">
                  <a:lumMod val="25000"/>
                </a:schemeClr>
              </a:buClr>
              <a:buFont typeface="Wingdings 2"/>
              <a:buChar char=""/>
              <a:defRPr/>
            </a:pPr>
            <a:endParaRPr lang="en-US" sz="18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300" dirty="0" smtClean="0">
                <a:solidFill>
                  <a:schemeClr val="bg1"/>
                </a:solidFill>
              </a:rPr>
              <a:t>States or localities may set a lower small purchase threshold, thereby imposing more formal procedures</a:t>
            </a:r>
          </a:p>
          <a:p>
            <a:pPr marL="274320" indent="-274320" fontAlgn="auto">
              <a:spcAft>
                <a:spcPts val="0"/>
              </a:spcAft>
              <a:buFont typeface="Wingdings 2"/>
              <a:buChar char=""/>
              <a:defRPr/>
            </a:pPr>
            <a:endParaRPr lang="en-US" sz="2800" dirty="0" smtClean="0"/>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Small Purchase Threshold</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200" dirty="0" smtClean="0">
                <a:solidFill>
                  <a:schemeClr val="bg1"/>
                </a:solidFill>
              </a:rPr>
              <a:t>Informal procurements must maximize full and open competition </a:t>
            </a: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SFAs should put specs in writing before contacting any potential </a:t>
            </a:r>
            <a:r>
              <a:rPr lang="en-US" sz="3200" dirty="0" smtClean="0">
                <a:solidFill>
                  <a:schemeClr val="bg1"/>
                </a:solidFill>
              </a:rPr>
              <a:t>vendors</a:t>
            </a:r>
            <a:endParaRPr lang="en-US" sz="32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200" u="sng" dirty="0" smtClean="0">
                <a:solidFill>
                  <a:schemeClr val="bg1"/>
                </a:solidFill>
              </a:rPr>
              <a:t>A minimum of three </a:t>
            </a:r>
            <a:r>
              <a:rPr lang="en-US" sz="3200" u="sng" dirty="0" smtClean="0">
                <a:solidFill>
                  <a:schemeClr val="bg1"/>
                </a:solidFill>
              </a:rPr>
              <a:t>sources</a:t>
            </a:r>
            <a:r>
              <a:rPr lang="en-US" sz="3200" dirty="0" smtClean="0">
                <a:solidFill>
                  <a:schemeClr val="bg1"/>
                </a:solidFill>
              </a:rPr>
              <a:t> </a:t>
            </a:r>
            <a:r>
              <a:rPr lang="en-US" sz="3200" dirty="0" smtClean="0">
                <a:solidFill>
                  <a:schemeClr val="bg1"/>
                </a:solidFill>
              </a:rPr>
              <a:t>must be </a:t>
            </a:r>
            <a:r>
              <a:rPr lang="en-US" sz="3200" dirty="0" smtClean="0">
                <a:solidFill>
                  <a:schemeClr val="bg1"/>
                </a:solidFill>
              </a:rPr>
              <a:t/>
            </a:r>
            <a:br>
              <a:rPr lang="en-US" sz="3200" dirty="0" smtClean="0">
                <a:solidFill>
                  <a:schemeClr val="bg1"/>
                </a:solidFill>
              </a:rPr>
            </a:br>
            <a:r>
              <a:rPr lang="en-US" sz="3200" dirty="0" smtClean="0">
                <a:solidFill>
                  <a:schemeClr val="bg1"/>
                </a:solidFill>
              </a:rPr>
              <a:t>be contacted who are eligible, able, </a:t>
            </a:r>
            <a:br>
              <a:rPr lang="en-US" sz="3200" dirty="0" smtClean="0">
                <a:solidFill>
                  <a:schemeClr val="bg1"/>
                </a:solidFill>
              </a:rPr>
            </a:br>
            <a:r>
              <a:rPr lang="en-US" sz="3200" dirty="0" smtClean="0">
                <a:solidFill>
                  <a:schemeClr val="bg1"/>
                </a:solidFill>
              </a:rPr>
              <a:t>and willing to provide product or</a:t>
            </a:r>
            <a:br>
              <a:rPr lang="en-US" sz="3200" dirty="0" smtClean="0">
                <a:solidFill>
                  <a:schemeClr val="bg1"/>
                </a:solidFill>
              </a:rPr>
            </a:br>
            <a:r>
              <a:rPr lang="en-US" sz="3200" dirty="0" smtClean="0">
                <a:solidFill>
                  <a:schemeClr val="bg1"/>
                </a:solidFill>
              </a:rPr>
              <a:t>service </a:t>
            </a:r>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What does this mean?</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200" dirty="0" smtClean="0">
                <a:solidFill>
                  <a:schemeClr val="bg1"/>
                </a:solidFill>
              </a:rPr>
              <a:t>Used when the value of purchase exceeds  applicable Federal, State, or local threshold for small purchases</a:t>
            </a:r>
          </a:p>
          <a:p>
            <a:pPr marL="274320" indent="-274320" fontAlgn="auto">
              <a:spcAft>
                <a:spcPts val="0"/>
              </a:spcAft>
              <a:buClr>
                <a:schemeClr val="tx2">
                  <a:lumMod val="25000"/>
                </a:schemeClr>
              </a:buClr>
              <a:buFont typeface="Wingdings 2"/>
              <a:buChar char=""/>
              <a:defRPr/>
            </a:pPr>
            <a:endParaRPr lang="en-US" sz="16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More rigorous and prescriptive:</a:t>
            </a:r>
          </a:p>
          <a:p>
            <a:pPr marL="640080" lvl="1" indent="-274320" fontAlgn="auto">
              <a:spcAft>
                <a:spcPts val="0"/>
              </a:spcAft>
              <a:buClr>
                <a:schemeClr val="tx2">
                  <a:lumMod val="50000"/>
                </a:schemeClr>
              </a:buClr>
              <a:buFont typeface="Wingdings 2"/>
              <a:buChar char=""/>
              <a:defRPr/>
            </a:pPr>
            <a:r>
              <a:rPr lang="en-US" sz="3100" dirty="0" smtClean="0">
                <a:solidFill>
                  <a:schemeClr val="bg1"/>
                </a:solidFill>
              </a:rPr>
              <a:t>Competitive Sealed Bidding</a:t>
            </a:r>
          </a:p>
          <a:p>
            <a:pPr marL="640080" lvl="1" indent="-274320" fontAlgn="auto">
              <a:spcAft>
                <a:spcPts val="0"/>
              </a:spcAft>
              <a:buClr>
                <a:schemeClr val="tx2">
                  <a:lumMod val="50000"/>
                </a:schemeClr>
              </a:buClr>
              <a:buFont typeface="Wingdings 2"/>
              <a:buChar char=""/>
              <a:defRPr/>
            </a:pPr>
            <a:r>
              <a:rPr lang="en-US" sz="3100" dirty="0" smtClean="0">
                <a:solidFill>
                  <a:schemeClr val="bg1"/>
                </a:solidFill>
              </a:rPr>
              <a:t>Competitive Negotiation </a:t>
            </a:r>
          </a:p>
          <a:p>
            <a:pPr marL="274320" indent="-274320" fontAlgn="auto">
              <a:spcAft>
                <a:spcPts val="0"/>
              </a:spcAft>
              <a:buFont typeface="Wingdings 2"/>
              <a:buChar char=""/>
              <a:defRPr/>
            </a:pPr>
            <a:endParaRPr lang="en-US" dirty="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Formal Procurement Methods</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200" dirty="0" smtClean="0">
                <a:solidFill>
                  <a:schemeClr val="bg1"/>
                </a:solidFill>
              </a:rPr>
              <a:t>Detailed specs must be developed</a:t>
            </a:r>
          </a:p>
          <a:p>
            <a:pPr marL="640080" lvl="1" indent="-274320" fontAlgn="auto">
              <a:spcAft>
                <a:spcPts val="0"/>
              </a:spcAft>
              <a:buClr>
                <a:schemeClr val="tx2">
                  <a:lumMod val="25000"/>
                </a:schemeClr>
              </a:buClr>
              <a:buFont typeface="Wingdings 2"/>
              <a:buChar char=""/>
              <a:defRPr/>
            </a:pPr>
            <a:r>
              <a:rPr lang="en-US" sz="3200" dirty="0" smtClean="0">
                <a:solidFill>
                  <a:schemeClr val="bg1"/>
                </a:solidFill>
              </a:rPr>
              <a:t>Technical and cost factors</a:t>
            </a:r>
          </a:p>
          <a:p>
            <a:pPr marL="640080" lvl="1" indent="-274320" fontAlgn="auto">
              <a:spcAft>
                <a:spcPts val="0"/>
              </a:spcAft>
              <a:buClr>
                <a:schemeClr val="tx2">
                  <a:lumMod val="25000"/>
                </a:schemeClr>
              </a:buClr>
              <a:buFont typeface="Wingdings 2"/>
              <a:buNone/>
              <a:defRPr/>
            </a:pPr>
            <a:endParaRPr lang="en-US" sz="18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Bids/Solicitations must be publicly solicited</a:t>
            </a:r>
          </a:p>
          <a:p>
            <a:pPr marL="274320" indent="-274320" fontAlgn="auto">
              <a:spcAft>
                <a:spcPts val="0"/>
              </a:spcAft>
              <a:buClr>
                <a:schemeClr val="tx2">
                  <a:lumMod val="25000"/>
                </a:schemeClr>
              </a:buClr>
              <a:buFont typeface="Wingdings 2"/>
              <a:buNone/>
              <a:defRPr/>
            </a:pPr>
            <a:endParaRPr lang="en-US" sz="1800" dirty="0" smtClean="0">
              <a:solidFill>
                <a:schemeClr val="bg1"/>
              </a:solidFill>
            </a:endParaRP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Measure and </a:t>
            </a:r>
            <a:r>
              <a:rPr lang="en-US" sz="3200" u="sng" dirty="0" smtClean="0">
                <a:solidFill>
                  <a:schemeClr val="bg1"/>
                </a:solidFill>
              </a:rPr>
              <a:t>document</a:t>
            </a:r>
            <a:r>
              <a:rPr lang="en-US" sz="3200" dirty="0" smtClean="0">
                <a:solidFill>
                  <a:schemeClr val="bg1"/>
                </a:solidFill>
              </a:rPr>
              <a:t> why one company’s response to a particular criterion is better than another</a:t>
            </a:r>
          </a:p>
          <a:p>
            <a:pPr marL="274320" indent="-274320" fontAlgn="auto">
              <a:spcAft>
                <a:spcPts val="0"/>
              </a:spcAft>
              <a:buFont typeface="Wingdings 2"/>
              <a:buChar char=""/>
              <a:defRPr/>
            </a:pPr>
            <a:endParaRPr lang="en-US" dirty="0">
              <a:solidFill>
                <a:schemeClr val="bg1"/>
              </a:solidFill>
            </a:endParaRP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What does this mean?</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400" dirty="0" smtClean="0">
                <a:solidFill>
                  <a:schemeClr val="bg1"/>
                </a:solidFill>
              </a:rPr>
              <a:t>SFAs may not intentionally split purchases to fall below the small purchase threshold and avoid formal procurement methods</a:t>
            </a: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Keep in mind…</a:t>
            </a:r>
            <a:endParaRPr b="1" dirty="0">
              <a:solidFill>
                <a:srgbClr val="FFC000"/>
              </a:solidFill>
              <a:effectLst>
                <a:outerShdw blurRad="38100" dist="38100" dir="2700000" algn="tl">
                  <a:srgbClr val="000000">
                    <a:alpha val="43137"/>
                  </a:srgbClr>
                </a:outerShdw>
              </a:effectLst>
            </a:endParaRPr>
          </a:p>
        </p:txBody>
      </p:sp>
      <p:pic>
        <p:nvPicPr>
          <p:cNvPr id="18436" name="Picture 3" descr="I:\CND Workgroups\CNDPAMB\LRodgers-Kuperman\Christine Tran\Photos\SMMUSD\SaladBarDay2.JPG"/>
          <p:cNvPicPr>
            <a:picLocks noChangeAspect="1" noChangeArrowheads="1"/>
          </p:cNvPicPr>
          <p:nvPr/>
        </p:nvPicPr>
        <p:blipFill>
          <a:blip r:embed="rId3" cstate="print"/>
          <a:srcRect/>
          <a:stretch>
            <a:fillRect/>
          </a:stretch>
        </p:blipFill>
        <p:spPr bwMode="auto">
          <a:xfrm>
            <a:off x="5410200" y="3505200"/>
            <a:ext cx="28194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fontAlgn="auto">
              <a:spcAft>
                <a:spcPts val="0"/>
              </a:spcAft>
              <a:defRPr/>
            </a:pPr>
            <a:r>
              <a:rPr sz="5400" b="1" dirty="0" smtClean="0">
                <a:solidFill>
                  <a:schemeClr val="bg1"/>
                </a:solidFill>
                <a:effectLst>
                  <a:outerShdw blurRad="38100" dist="38100" dir="2700000" algn="tl">
                    <a:srgbClr val="000000">
                      <a:alpha val="43137"/>
                    </a:srgbClr>
                  </a:outerShdw>
                </a:effectLst>
              </a:rPr>
              <a:t>How SFAs Can Purchase from Local Producers</a:t>
            </a:r>
            <a:endParaRPr sz="5400" b="1" dirty="0">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p:spPr>
        <p:txBody>
          <a:bodyPr>
            <a:normAutofit fontScale="90000"/>
          </a:bodyPr>
          <a:lstStyle/>
          <a:p>
            <a:r>
              <a:rPr lang="en-US" b="1" dirty="0" smtClean="0">
                <a:solidFill>
                  <a:srgbClr val="FFC000"/>
                </a:solidFill>
              </a:rPr>
              <a:t>Developing Product Specifications</a:t>
            </a:r>
            <a:br>
              <a:rPr lang="en-US" b="1" dirty="0" smtClean="0">
                <a:solidFill>
                  <a:srgbClr val="FFC000"/>
                </a:solidFill>
              </a:rPr>
            </a:br>
            <a:endParaRPr lang="en-US" b="1" dirty="0">
              <a:solidFill>
                <a:srgbClr val="FFC000"/>
              </a:solidFill>
            </a:endParaRPr>
          </a:p>
        </p:txBody>
      </p:sp>
      <p:sp>
        <p:nvSpPr>
          <p:cNvPr id="3" name="Content Placeholder 2"/>
          <p:cNvSpPr>
            <a:spLocks noGrp="1"/>
          </p:cNvSpPr>
          <p:nvPr>
            <p:ph idx="1"/>
          </p:nvPr>
        </p:nvSpPr>
        <p:spPr/>
        <p:txBody>
          <a:bodyPr>
            <a:normAutofit/>
          </a:bodyPr>
          <a:lstStyle/>
          <a:p>
            <a:pPr>
              <a:lnSpc>
                <a:spcPct val="150000"/>
              </a:lnSpc>
            </a:pPr>
            <a:r>
              <a:rPr lang="en-US" sz="2000" dirty="0" smtClean="0">
                <a:solidFill>
                  <a:schemeClr val="bg1"/>
                </a:solidFill>
              </a:rPr>
              <a:t>The key to effective purchasing of local food items requires the school food authorities (SFA) to take some important steps before they actually begin the procurement process. Before purchasing for the Child Nutrition Programs, the SFA </a:t>
            </a:r>
            <a:r>
              <a:rPr lang="en-US" sz="2000" u="sng" dirty="0" smtClean="0">
                <a:solidFill>
                  <a:schemeClr val="bg1"/>
                </a:solidFill>
              </a:rPr>
              <a:t>must evaluate their current food service operations and needs</a:t>
            </a:r>
            <a:r>
              <a:rPr lang="en-US" sz="2000" dirty="0" smtClean="0">
                <a:solidFill>
                  <a:schemeClr val="bg1"/>
                </a:solidFill>
              </a:rPr>
              <a:t>; this is also known as forecasting.</a:t>
            </a:r>
            <a:r>
              <a:rPr lang="en-US" sz="2000" dirty="0" smtClean="0"/>
              <a:t/>
            </a:r>
            <a:br>
              <a:rPr lang="en-US" sz="2000" dirty="0" smtClean="0"/>
            </a:br>
            <a:r>
              <a:rPr lang="en-US" dirty="0" smtClean="0"/>
              <a:t/>
            </a:r>
            <a:br>
              <a:rPr lang="en-US" dirty="0" smtClean="0"/>
            </a:br>
            <a:endParaRPr lang="en-US" dirty="0"/>
          </a:p>
        </p:txBody>
      </p:sp>
      <p:pic>
        <p:nvPicPr>
          <p:cNvPr id="4" name="Picture 3" descr="women writing.JPG"/>
          <p:cNvPicPr>
            <a:picLocks noChangeAspect="1"/>
          </p:cNvPicPr>
          <p:nvPr/>
        </p:nvPicPr>
        <p:blipFill>
          <a:blip r:embed="rId3" cstate="print"/>
          <a:stretch>
            <a:fillRect/>
          </a:stretch>
        </p:blipFill>
        <p:spPr>
          <a:xfrm>
            <a:off x="5791200" y="3962400"/>
            <a:ext cx="1981200" cy="2133600"/>
          </a:xfrm>
          <a:prstGeom prst="rect">
            <a:avLst/>
          </a:prstGeom>
        </p:spPr>
      </p:pic>
    </p:spTree>
    <p:extLst>
      <p:ext uri="{BB962C8B-B14F-4D97-AF65-F5344CB8AC3E}">
        <p14:creationId xmlns:p14="http://schemas.microsoft.com/office/powerpoint/2010/main" val="29415284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Evaluating Current FS Needs</a:t>
            </a:r>
            <a:endParaRPr lang="en-US" b="1" dirty="0">
              <a:solidFill>
                <a:srgbClr val="FFC000"/>
              </a:solidFill>
            </a:endParaRPr>
          </a:p>
        </p:txBody>
      </p:sp>
      <p:sp>
        <p:nvSpPr>
          <p:cNvPr id="3" name="Content Placeholder 2"/>
          <p:cNvSpPr>
            <a:spLocks noGrp="1"/>
          </p:cNvSpPr>
          <p:nvPr>
            <p:ph idx="1"/>
          </p:nvPr>
        </p:nvSpPr>
        <p:spPr/>
        <p:txBody>
          <a:bodyPr>
            <a:normAutofit/>
          </a:bodyPr>
          <a:lstStyle/>
          <a:p>
            <a:r>
              <a:rPr lang="en-US" sz="2000" dirty="0" smtClean="0">
                <a:solidFill>
                  <a:schemeClr val="bg1"/>
                </a:solidFill>
              </a:rPr>
              <a:t>SFAs should also evaluate their current food service needs, such as: </a:t>
            </a:r>
          </a:p>
          <a:p>
            <a:pPr lvl="1"/>
            <a:r>
              <a:rPr lang="en-US" sz="2000" dirty="0" smtClean="0">
                <a:solidFill>
                  <a:schemeClr val="bg1"/>
                </a:solidFill>
              </a:rPr>
              <a:t>Necessary food volume; </a:t>
            </a:r>
          </a:p>
          <a:p>
            <a:pPr lvl="1"/>
            <a:r>
              <a:rPr lang="en-US" sz="2000" dirty="0" smtClean="0">
                <a:solidFill>
                  <a:schemeClr val="bg1"/>
                </a:solidFill>
              </a:rPr>
              <a:t>Student preferences; </a:t>
            </a:r>
          </a:p>
          <a:p>
            <a:pPr lvl="1"/>
            <a:r>
              <a:rPr lang="en-US" sz="2000" dirty="0" smtClean="0">
                <a:solidFill>
                  <a:schemeClr val="bg1"/>
                </a:solidFill>
              </a:rPr>
              <a:t>Menu requirements; and </a:t>
            </a:r>
          </a:p>
          <a:p>
            <a:pPr lvl="1"/>
            <a:r>
              <a:rPr lang="en-US" sz="2000" dirty="0" smtClean="0">
                <a:solidFill>
                  <a:schemeClr val="bg1"/>
                </a:solidFill>
              </a:rPr>
              <a:t>Required transportation and delivery needs. </a:t>
            </a:r>
          </a:p>
          <a:p>
            <a:pPr lvl="1"/>
            <a:endParaRPr lang="en-US" sz="2000" dirty="0">
              <a:solidFill>
                <a:schemeClr val="bg1"/>
              </a:solidFill>
            </a:endParaRPr>
          </a:p>
        </p:txBody>
      </p:sp>
      <p:pic>
        <p:nvPicPr>
          <p:cNvPr id="4" name="Picture 3" descr="evaluation.WMF"/>
          <p:cNvPicPr>
            <a:picLocks noChangeAspect="1"/>
          </p:cNvPicPr>
          <p:nvPr/>
        </p:nvPicPr>
        <p:blipFill>
          <a:blip r:embed="rId3" cstate="print"/>
          <a:stretch>
            <a:fillRect/>
          </a:stretch>
        </p:blipFill>
        <p:spPr>
          <a:xfrm>
            <a:off x="3657600" y="3505200"/>
            <a:ext cx="3032911" cy="2803556"/>
          </a:xfrm>
          <a:prstGeom prst="rect">
            <a:avLst/>
          </a:prstGeom>
        </p:spPr>
      </p:pic>
    </p:spTree>
    <p:extLst>
      <p:ext uri="{BB962C8B-B14F-4D97-AF65-F5344CB8AC3E}">
        <p14:creationId xmlns:p14="http://schemas.microsoft.com/office/powerpoint/2010/main" val="15065062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Developing Specifications</a:t>
            </a:r>
            <a:endParaRPr lang="en-US" b="1" dirty="0">
              <a:solidFill>
                <a:srgbClr val="FFC000"/>
              </a:solidFill>
            </a:endParaRPr>
          </a:p>
        </p:txBody>
      </p:sp>
      <p:sp>
        <p:nvSpPr>
          <p:cNvPr id="3" name="Content Placeholder 2"/>
          <p:cNvSpPr>
            <a:spLocks noGrp="1"/>
          </p:cNvSpPr>
          <p:nvPr>
            <p:ph idx="1"/>
          </p:nvPr>
        </p:nvSpPr>
        <p:spPr/>
        <p:txBody>
          <a:bodyPr>
            <a:normAutofit/>
          </a:bodyPr>
          <a:lstStyle/>
          <a:p>
            <a:pPr marL="0" indent="0">
              <a:buNone/>
            </a:pPr>
            <a:r>
              <a:rPr lang="en-US" sz="2000" dirty="0" smtClean="0">
                <a:solidFill>
                  <a:schemeClr val="bg1"/>
                </a:solidFill>
              </a:rPr>
              <a:t>SFAs should think carefully about developing specifications that reflect the specific characteristics of the products they seek. The following examples are indicators that may be used within a product’s specification: </a:t>
            </a:r>
          </a:p>
          <a:p>
            <a:pPr lvl="1"/>
            <a:r>
              <a:rPr lang="en-US" sz="2000" dirty="0" smtClean="0">
                <a:solidFill>
                  <a:schemeClr val="bg1"/>
                </a:solidFill>
              </a:rPr>
              <a:t>Degree of ripeness or maturity; </a:t>
            </a:r>
          </a:p>
          <a:p>
            <a:pPr lvl="1"/>
            <a:r>
              <a:rPr lang="en-US" sz="2000" dirty="0" smtClean="0">
                <a:solidFill>
                  <a:schemeClr val="bg1"/>
                </a:solidFill>
              </a:rPr>
              <a:t>Condition upon receipt of product; </a:t>
            </a:r>
          </a:p>
          <a:p>
            <a:pPr lvl="1"/>
            <a:r>
              <a:rPr lang="en-US" sz="2000" dirty="0" smtClean="0">
                <a:solidFill>
                  <a:schemeClr val="bg1"/>
                </a:solidFill>
              </a:rPr>
              <a:t>Age of product; </a:t>
            </a:r>
          </a:p>
          <a:p>
            <a:pPr lvl="1"/>
            <a:r>
              <a:rPr lang="en-US" sz="2000" dirty="0" smtClean="0">
                <a:solidFill>
                  <a:schemeClr val="bg1"/>
                </a:solidFill>
              </a:rPr>
              <a:t>Weight range; </a:t>
            </a:r>
          </a:p>
          <a:p>
            <a:pPr lvl="1"/>
            <a:r>
              <a:rPr lang="en-US" sz="2000" dirty="0" smtClean="0">
                <a:solidFill>
                  <a:schemeClr val="bg1"/>
                </a:solidFill>
              </a:rPr>
              <a:t>Preservation or processing method; </a:t>
            </a:r>
          </a:p>
          <a:p>
            <a:pPr lvl="1"/>
            <a:r>
              <a:rPr lang="en-US" sz="2000" dirty="0" smtClean="0">
                <a:solidFill>
                  <a:schemeClr val="bg1"/>
                </a:solidFill>
              </a:rPr>
              <a:t>US Standard for Grade; and </a:t>
            </a:r>
          </a:p>
          <a:p>
            <a:pPr lvl="1"/>
            <a:r>
              <a:rPr lang="en-US" sz="2000" dirty="0" smtClean="0">
                <a:solidFill>
                  <a:schemeClr val="bg1"/>
                </a:solidFill>
              </a:rPr>
              <a:t>Temperature during delivery and upon receipt.</a:t>
            </a:r>
          </a:p>
          <a:p>
            <a:endParaRPr lang="en-US" sz="2000" dirty="0"/>
          </a:p>
        </p:txBody>
      </p:sp>
    </p:spTree>
    <p:extLst>
      <p:ext uri="{BB962C8B-B14F-4D97-AF65-F5344CB8AC3E}">
        <p14:creationId xmlns:p14="http://schemas.microsoft.com/office/powerpoint/2010/main" val="37316333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953000"/>
          </a:xfrm>
        </p:spPr>
        <p:txBody>
          <a:bodyPr>
            <a:normAutofit fontScale="70000" lnSpcReduction="20000"/>
          </a:bodyPr>
          <a:lstStyle/>
          <a:p>
            <a:pPr marL="0" indent="0">
              <a:buNone/>
            </a:pPr>
            <a:r>
              <a:rPr lang="en-US" dirty="0" smtClean="0">
                <a:solidFill>
                  <a:schemeClr val="bg1"/>
                </a:solidFill>
              </a:rPr>
              <a:t>Although not all-encompassing, the examples below provide some specification elements that are important factors to discuss with local producers to ensure that expectations and requirements are clear:</a:t>
            </a:r>
            <a:br>
              <a:rPr lang="en-US" dirty="0" smtClean="0">
                <a:solidFill>
                  <a:schemeClr val="bg1"/>
                </a:solidFill>
              </a:rPr>
            </a:br>
            <a:r>
              <a:rPr lang="en-US" dirty="0" smtClean="0">
                <a:solidFill>
                  <a:schemeClr val="bg1"/>
                </a:solidFill>
              </a:rPr>
              <a:t> </a:t>
            </a:r>
          </a:p>
          <a:p>
            <a:pPr marL="0" indent="0">
              <a:buNone/>
            </a:pPr>
            <a:r>
              <a:rPr lang="en-US" dirty="0" smtClean="0">
                <a:solidFill>
                  <a:schemeClr val="bg1"/>
                </a:solidFill>
              </a:rPr>
              <a:t>Specification Elements Examples:</a:t>
            </a:r>
          </a:p>
          <a:p>
            <a:pPr lvl="1">
              <a:lnSpc>
                <a:spcPct val="170000"/>
              </a:lnSpc>
            </a:pPr>
            <a:r>
              <a:rPr lang="en-US" sz="2900" dirty="0" smtClean="0">
                <a:solidFill>
                  <a:schemeClr val="bg1"/>
                </a:solidFill>
              </a:rPr>
              <a:t>Size:  Indicate the size an apple must be to qualify as part of a reimbursable meal, so that expectations are set up front.  </a:t>
            </a:r>
          </a:p>
          <a:p>
            <a:pPr lvl="1">
              <a:lnSpc>
                <a:spcPct val="170000"/>
              </a:lnSpc>
            </a:pPr>
            <a:r>
              <a:rPr lang="en-US" sz="2900" dirty="0" smtClean="0">
                <a:solidFill>
                  <a:schemeClr val="bg1"/>
                </a:solidFill>
              </a:rPr>
              <a:t>Quantity:  Farmers and SFAs sometimes speak different languages—schools may not be used to ordering apples in “bushels” from their national distributor; be aware of language barriers.  </a:t>
            </a:r>
          </a:p>
          <a:p>
            <a:pPr lvl="1">
              <a:lnSpc>
                <a:spcPct val="170000"/>
              </a:lnSpc>
            </a:pPr>
            <a:r>
              <a:rPr lang="en-US" sz="2900" dirty="0" smtClean="0">
                <a:solidFill>
                  <a:schemeClr val="bg1"/>
                </a:solidFill>
              </a:rPr>
              <a:t>Quality:  Indicate that lettuce must be a healthy green color with no brown leaves.  </a:t>
            </a:r>
          </a:p>
        </p:txBody>
      </p:sp>
      <p:sp>
        <p:nvSpPr>
          <p:cNvPr id="4" name="Title 1"/>
          <p:cNvSpPr>
            <a:spLocks noGrp="1"/>
          </p:cNvSpPr>
          <p:nvPr>
            <p:ph type="title"/>
          </p:nvPr>
        </p:nvSpPr>
        <p:spPr>
          <a:xfrm>
            <a:off x="457200" y="152400"/>
            <a:ext cx="8229600" cy="1143000"/>
          </a:xfrm>
        </p:spPr>
        <p:txBody>
          <a:bodyPr/>
          <a:lstStyle/>
          <a:p>
            <a:r>
              <a:rPr lang="en-US" b="1" dirty="0" smtClean="0">
                <a:solidFill>
                  <a:srgbClr val="FFC000"/>
                </a:solidFill>
              </a:rPr>
              <a:t>Developing Specifications</a:t>
            </a:r>
            <a:endParaRPr lang="en-US" b="1" dirty="0">
              <a:solidFill>
                <a:srgbClr val="FFC000"/>
              </a:solidFill>
            </a:endParaRPr>
          </a:p>
        </p:txBody>
      </p:sp>
    </p:spTree>
    <p:extLst>
      <p:ext uri="{BB962C8B-B14F-4D97-AF65-F5344CB8AC3E}">
        <p14:creationId xmlns:p14="http://schemas.microsoft.com/office/powerpoint/2010/main" val="40550951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Developing Specifications</a:t>
            </a:r>
            <a:endParaRPr lang="en-US" b="1" dirty="0">
              <a:solidFill>
                <a:srgbClr val="FFC000"/>
              </a:solidFill>
            </a:endParaRPr>
          </a:p>
        </p:txBody>
      </p:sp>
      <p:sp>
        <p:nvSpPr>
          <p:cNvPr id="3" name="Content Placeholder 2"/>
          <p:cNvSpPr>
            <a:spLocks noGrp="1"/>
          </p:cNvSpPr>
          <p:nvPr>
            <p:ph idx="1"/>
          </p:nvPr>
        </p:nvSpPr>
        <p:spPr/>
        <p:txBody>
          <a:bodyPr>
            <a:normAutofit fontScale="62500" lnSpcReduction="20000"/>
          </a:bodyPr>
          <a:lstStyle/>
          <a:p>
            <a:pPr lvl="1">
              <a:lnSpc>
                <a:spcPct val="170000"/>
              </a:lnSpc>
              <a:buNone/>
            </a:pPr>
            <a:r>
              <a:rPr lang="en-US" sz="2400" dirty="0" smtClean="0">
                <a:solidFill>
                  <a:schemeClr val="bg1"/>
                </a:solidFill>
              </a:rPr>
              <a:t>Specification Elements Examples (con’t):</a:t>
            </a:r>
          </a:p>
          <a:p>
            <a:pPr lvl="1">
              <a:lnSpc>
                <a:spcPct val="170000"/>
              </a:lnSpc>
            </a:pPr>
            <a:r>
              <a:rPr lang="en-US" sz="2900" dirty="0" smtClean="0">
                <a:solidFill>
                  <a:schemeClr val="bg1"/>
                </a:solidFill>
              </a:rPr>
              <a:t>Cleanliness:  Indicate that lettuce should be clean with no visible signs of dirt or insects.  </a:t>
            </a:r>
          </a:p>
          <a:p>
            <a:pPr lvl="1">
              <a:lnSpc>
                <a:spcPct val="170000"/>
              </a:lnSpc>
            </a:pPr>
            <a:r>
              <a:rPr lang="en-US" sz="2900" dirty="0" smtClean="0">
                <a:solidFill>
                  <a:schemeClr val="bg1"/>
                </a:solidFill>
              </a:rPr>
              <a:t>Packaging:  A local farmer may sell product in 25 pound boxes, but the SFA may need lighter/smaller packaging in order for staff to carry.  </a:t>
            </a:r>
          </a:p>
          <a:p>
            <a:pPr lvl="1">
              <a:lnSpc>
                <a:spcPct val="170000"/>
              </a:lnSpc>
            </a:pPr>
            <a:r>
              <a:rPr lang="en-US" sz="2900" dirty="0" smtClean="0">
                <a:solidFill>
                  <a:schemeClr val="bg1"/>
                </a:solidFill>
              </a:rPr>
              <a:t>Food Safety:  Include a checklist of questions for the farmer to complete regarding their agricultural practices (consult our Food Safety webpage for more information:   </a:t>
            </a:r>
            <a:r>
              <a:rPr lang="en-US" sz="2000" dirty="0"/>
              <a:t> </a:t>
            </a:r>
            <a:r>
              <a:rPr lang="en-US" sz="2000" u="sng" dirty="0">
                <a:hlinkClick r:id="rId3"/>
              </a:rPr>
              <a:t>http://</a:t>
            </a:r>
            <a:r>
              <a:rPr lang="en-US" sz="2000" u="sng" dirty="0" smtClean="0">
                <a:hlinkClick r:id="rId3"/>
              </a:rPr>
              <a:t>www.fns.usda.gov/fns/safety/pdf/best_practices.pdf</a:t>
            </a:r>
            <a:r>
              <a:rPr lang="en-US" sz="2000" u="sng" dirty="0">
                <a:solidFill>
                  <a:schemeClr val="bg1"/>
                </a:solidFill>
              </a:rPr>
              <a:t>)</a:t>
            </a:r>
            <a:endParaRPr lang="en-US" sz="2900" dirty="0" smtClean="0">
              <a:solidFill>
                <a:schemeClr val="bg1"/>
              </a:solidFill>
            </a:endParaRPr>
          </a:p>
          <a:p>
            <a:pPr lvl="1">
              <a:lnSpc>
                <a:spcPct val="170000"/>
              </a:lnSpc>
            </a:pPr>
            <a:r>
              <a:rPr lang="en-US" sz="2900" dirty="0" smtClean="0">
                <a:solidFill>
                  <a:schemeClr val="bg1"/>
                </a:solidFill>
              </a:rPr>
              <a:t>Delivery:  Establish a delivery day and time for products.</a:t>
            </a:r>
          </a:p>
          <a:p>
            <a:endParaRPr lang="en-US" dirty="0"/>
          </a:p>
        </p:txBody>
      </p:sp>
    </p:spTree>
    <p:extLst>
      <p:ext uri="{BB962C8B-B14F-4D97-AF65-F5344CB8AC3E}">
        <p14:creationId xmlns:p14="http://schemas.microsoft.com/office/powerpoint/2010/main" val="6457586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lnSpc>
                <a:spcPct val="150000"/>
              </a:lnSpc>
              <a:buNone/>
            </a:pPr>
            <a:r>
              <a:rPr lang="en-US" sz="2000" dirty="0" smtClean="0">
                <a:solidFill>
                  <a:schemeClr val="bg1"/>
                </a:solidFill>
              </a:rPr>
              <a:t>There are important elements to consider when drafting specification for local food items. Elements such as: size, quantity, quality, cleanliness, packaging, food safety and delivery. Consult USDA resources such as the </a:t>
            </a:r>
            <a:r>
              <a:rPr lang="en-US" sz="2000" dirty="0" smtClean="0">
                <a:solidFill>
                  <a:schemeClr val="bg1"/>
                </a:solidFill>
                <a:hlinkClick r:id="rId3" action="ppaction://hlinkfile"/>
              </a:rPr>
              <a:t>Food Buying Guide for Child Nutrition Programs</a:t>
            </a:r>
            <a:r>
              <a:rPr lang="en-US" sz="2000" dirty="0" smtClean="0">
                <a:solidFill>
                  <a:schemeClr val="bg1"/>
                </a:solidFill>
              </a:rPr>
              <a:t> and </a:t>
            </a:r>
            <a:r>
              <a:rPr lang="en-US" sz="2000" dirty="0" smtClean="0">
                <a:solidFill>
                  <a:schemeClr val="bg1"/>
                </a:solidFill>
                <a:hlinkClick r:id="rId4" action="ppaction://hlinkfile"/>
              </a:rPr>
              <a:t>Fruits and Vegetables Galore</a:t>
            </a:r>
            <a:r>
              <a:rPr lang="en-US" sz="2000" dirty="0" smtClean="0">
                <a:solidFill>
                  <a:schemeClr val="bg1"/>
                </a:solidFill>
              </a:rPr>
              <a:t> to aid in the development of product specifications.</a:t>
            </a:r>
          </a:p>
          <a:p>
            <a:pPr>
              <a:buNone/>
            </a:pPr>
            <a:r>
              <a:rPr lang="en-US" sz="2000" dirty="0" smtClean="0"/>
              <a:t/>
            </a:r>
            <a:br>
              <a:rPr lang="en-US" sz="2000" dirty="0" smtClean="0"/>
            </a:br>
            <a:r>
              <a:rPr lang="en-US" sz="2000" dirty="0" smtClean="0"/>
              <a:t/>
            </a:r>
            <a:br>
              <a:rPr lang="en-US" sz="2000" dirty="0" smtClean="0"/>
            </a:br>
            <a:endParaRPr lang="en-US" sz="2000" dirty="0"/>
          </a:p>
        </p:txBody>
      </p:sp>
      <p:sp>
        <p:nvSpPr>
          <p:cNvPr id="4" name="Title 1"/>
          <p:cNvSpPr>
            <a:spLocks noGrp="1"/>
          </p:cNvSpPr>
          <p:nvPr>
            <p:ph type="title"/>
          </p:nvPr>
        </p:nvSpPr>
        <p:spPr/>
        <p:txBody>
          <a:bodyPr/>
          <a:lstStyle/>
          <a:p>
            <a:r>
              <a:rPr lang="en-US" b="1" dirty="0" smtClean="0">
                <a:solidFill>
                  <a:srgbClr val="FFC000"/>
                </a:solidFill>
              </a:rPr>
              <a:t>Developing Specifications</a:t>
            </a:r>
            <a:endParaRPr lang="en-US" b="1" dirty="0">
              <a:solidFill>
                <a:srgbClr val="FFC000"/>
              </a:solidFill>
            </a:endParaRPr>
          </a:p>
        </p:txBody>
      </p:sp>
      <p:pic>
        <p:nvPicPr>
          <p:cNvPr id="5" name="Picture 4" descr="Food Buying Guide"/>
          <p:cNvPicPr/>
          <p:nvPr/>
        </p:nvPicPr>
        <p:blipFill>
          <a:blip r:embed="rId5" cstate="print"/>
          <a:srcRect/>
          <a:stretch>
            <a:fillRect/>
          </a:stretch>
        </p:blipFill>
        <p:spPr bwMode="auto">
          <a:xfrm>
            <a:off x="5486400" y="4038600"/>
            <a:ext cx="1676400" cy="2144486"/>
          </a:xfrm>
          <a:prstGeom prst="rect">
            <a:avLst/>
          </a:prstGeom>
          <a:noFill/>
          <a:ln w="9525">
            <a:noFill/>
            <a:miter lim="800000"/>
            <a:headEnd/>
            <a:tailEnd/>
          </a:ln>
        </p:spPr>
      </p:pic>
      <p:pic>
        <p:nvPicPr>
          <p:cNvPr id="6" name="Picture 5" descr="Fruits &amp; Vegetables Galore"/>
          <p:cNvPicPr/>
          <p:nvPr/>
        </p:nvPicPr>
        <p:blipFill>
          <a:blip r:embed="rId6" cstate="print"/>
          <a:srcRect/>
          <a:stretch>
            <a:fillRect/>
          </a:stretch>
        </p:blipFill>
        <p:spPr bwMode="auto">
          <a:xfrm>
            <a:off x="1981200" y="4114800"/>
            <a:ext cx="1665242" cy="2151017"/>
          </a:xfrm>
          <a:prstGeom prst="rect">
            <a:avLst/>
          </a:prstGeom>
          <a:noFill/>
          <a:ln w="9525">
            <a:noFill/>
            <a:miter lim="800000"/>
            <a:headEnd/>
            <a:tailEnd/>
          </a:ln>
        </p:spPr>
      </p:pic>
    </p:spTree>
    <p:extLst>
      <p:ext uri="{BB962C8B-B14F-4D97-AF65-F5344CB8AC3E}">
        <p14:creationId xmlns:p14="http://schemas.microsoft.com/office/powerpoint/2010/main" val="2837348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descr="C:\Documents and Settings\JKupcha\My Documents\My Pictures\Microsoft Clip Organizer\j0400764.jpg"/>
          <p:cNvPicPr>
            <a:picLocks noChangeAspect="1" noChangeArrowheads="1"/>
          </p:cNvPicPr>
          <p:nvPr/>
        </p:nvPicPr>
        <p:blipFill>
          <a:blip r:embed="rId3" cstate="print"/>
          <a:srcRect/>
          <a:stretch>
            <a:fillRect/>
          </a:stretch>
        </p:blipFill>
        <p:spPr bwMode="auto">
          <a:xfrm>
            <a:off x="5334000" y="457200"/>
            <a:ext cx="3352800" cy="1676400"/>
          </a:xfrm>
          <a:prstGeom prst="rect">
            <a:avLst/>
          </a:prstGeom>
          <a:noFill/>
          <a:ln w="9525">
            <a:noFill/>
            <a:miter lim="800000"/>
            <a:headEnd/>
            <a:tailEnd/>
          </a:ln>
        </p:spPr>
      </p:pic>
      <p:sp>
        <p:nvSpPr>
          <p:cNvPr id="2" name="Content Placeholder 1"/>
          <p:cNvSpPr>
            <a:spLocks noGrp="1"/>
          </p:cNvSpPr>
          <p:nvPr>
            <p:ph idx="1"/>
          </p:nvPr>
        </p:nvSpPr>
        <p:spPr>
          <a:xfrm>
            <a:off x="457200" y="1676400"/>
            <a:ext cx="8229600" cy="4572000"/>
          </a:xfrm>
        </p:spPr>
        <p:txBody>
          <a:bodyPr>
            <a:normAutofit/>
          </a:bodyPr>
          <a:lstStyle/>
          <a:p>
            <a:pPr marL="274320" indent="-274320" fontAlgn="auto">
              <a:spcAft>
                <a:spcPts val="0"/>
              </a:spcAft>
              <a:buClr>
                <a:schemeClr val="tx2">
                  <a:lumMod val="25000"/>
                </a:schemeClr>
              </a:buClr>
              <a:buFont typeface="Wingdings 2"/>
              <a:buChar char=""/>
              <a:defRPr/>
            </a:pPr>
            <a:r>
              <a:rPr lang="en-US" sz="3400" dirty="0" smtClean="0">
                <a:solidFill>
                  <a:schemeClr val="bg1"/>
                </a:solidFill>
              </a:rPr>
              <a:t>Potential benefits of </a:t>
            </a:r>
            <a:br>
              <a:rPr lang="en-US" sz="3400" dirty="0" smtClean="0">
                <a:solidFill>
                  <a:schemeClr val="bg1"/>
                </a:solidFill>
              </a:rPr>
            </a:br>
            <a:r>
              <a:rPr lang="en-US" sz="3400" dirty="0" smtClean="0">
                <a:solidFill>
                  <a:schemeClr val="bg1"/>
                </a:solidFill>
              </a:rPr>
              <a:t>purchasing from local farmers: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Shortening the supply chain</a:t>
            </a:r>
          </a:p>
          <a:p>
            <a:pPr marL="1005840" lvl="2" fontAlgn="auto">
              <a:spcAft>
                <a:spcPts val="0"/>
              </a:spcAft>
              <a:buClr>
                <a:schemeClr val="tx2">
                  <a:lumMod val="50000"/>
                </a:schemeClr>
              </a:buClr>
              <a:buFont typeface="Wingdings 2"/>
              <a:buChar char=""/>
              <a:defRPr/>
            </a:pPr>
            <a:r>
              <a:rPr lang="en-US" sz="2900" dirty="0" smtClean="0">
                <a:solidFill>
                  <a:schemeClr val="bg1"/>
                </a:solidFill>
              </a:rPr>
              <a:t>Cutting out the middle man</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Reducing fuel costs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Forming relationships for growing specifications </a:t>
            </a:r>
          </a:p>
          <a:p>
            <a:pPr marL="640080" lvl="1" indent="-274320" fontAlgn="auto">
              <a:spcAft>
                <a:spcPts val="0"/>
              </a:spcAft>
              <a:buClr>
                <a:schemeClr val="tx2">
                  <a:lumMod val="25000"/>
                </a:schemeClr>
              </a:buClr>
              <a:buFont typeface="Wingdings 2"/>
              <a:buChar char=""/>
              <a:defRPr/>
            </a:pPr>
            <a:endParaRPr lang="en-US" sz="3000" dirty="0" smtClean="0">
              <a:solidFill>
                <a:schemeClr val="bg1"/>
              </a:solidFill>
            </a:endParaRPr>
          </a:p>
          <a:p>
            <a:pPr marL="640080" lvl="1" indent="-274320" fontAlgn="auto">
              <a:spcAft>
                <a:spcPts val="0"/>
              </a:spcAft>
              <a:buClr>
                <a:schemeClr val="tx2">
                  <a:lumMod val="50000"/>
                </a:schemeClr>
              </a:buClr>
              <a:buFont typeface="Wingdings 2"/>
              <a:buChar char=""/>
              <a:defRPr/>
            </a:pPr>
            <a:endParaRPr lang="en-US" sz="3000" dirty="0" smtClean="0">
              <a:solidFill>
                <a:schemeClr val="bg1"/>
              </a:solidFill>
            </a:endParaRPr>
          </a:p>
          <a:p>
            <a:pPr marL="274320" indent="-274320" fontAlgn="auto">
              <a:spcAft>
                <a:spcPts val="0"/>
              </a:spcAft>
              <a:buFont typeface="Wingdings 2"/>
              <a:buChar char=""/>
              <a:defRPr/>
            </a:pPr>
            <a:endParaRPr lang="en-US" dirty="0" smtClean="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Direct from Farmer</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400" dirty="0" smtClean="0">
                <a:solidFill>
                  <a:schemeClr val="bg1"/>
                </a:solidFill>
              </a:rPr>
              <a:t>Farmer cooperatives</a:t>
            </a:r>
            <a:r>
              <a:rPr lang="en-US" sz="3200" dirty="0" smtClean="0">
                <a:solidFill>
                  <a:schemeClr val="bg1"/>
                </a:solidFill>
              </a:rPr>
              <a:t> may develop a group distribution strategy</a:t>
            </a: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Purchasing from a farmer co-op may help food service directors reduce time spent on administrative tasks</a:t>
            </a:r>
          </a:p>
          <a:p>
            <a:pPr marL="640080" lvl="1" indent="-274320" fontAlgn="auto">
              <a:spcAft>
                <a:spcPts val="0"/>
              </a:spcAft>
              <a:buClr>
                <a:schemeClr val="tx2">
                  <a:lumMod val="50000"/>
                </a:schemeClr>
              </a:buClr>
              <a:buFont typeface="Wingdings 2"/>
              <a:buChar char=""/>
              <a:defRPr/>
            </a:pPr>
            <a:endParaRPr lang="en-US" sz="3000" dirty="0" smtClean="0">
              <a:solidFill>
                <a:schemeClr val="bg1"/>
              </a:solidFill>
            </a:endParaRPr>
          </a:p>
          <a:p>
            <a:pPr marL="274320" indent="-274320" fontAlgn="auto">
              <a:spcAft>
                <a:spcPts val="0"/>
              </a:spcAft>
              <a:buFont typeface="Wingdings 2"/>
              <a:buChar char=""/>
              <a:defRPr/>
            </a:pPr>
            <a:endParaRPr lang="en-US" dirty="0" smtClean="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Farmer Cooperatives (Co-ops)</a:t>
            </a:r>
            <a:endParaRPr b="1" dirty="0">
              <a:solidFill>
                <a:srgbClr val="FFC000"/>
              </a:solidFill>
              <a:effectLst>
                <a:outerShdw blurRad="38100" dist="38100" dir="2700000" algn="tl">
                  <a:srgbClr val="000000">
                    <a:alpha val="43137"/>
                  </a:srgbClr>
                </a:outerShdw>
              </a:effectLst>
            </a:endParaRPr>
          </a:p>
        </p:txBody>
      </p:sp>
      <p:pic>
        <p:nvPicPr>
          <p:cNvPr id="24580" name="Picture 3"/>
          <p:cNvPicPr>
            <a:picLocks noChangeAspect="1" noChangeArrowheads="1"/>
          </p:cNvPicPr>
          <p:nvPr/>
        </p:nvPicPr>
        <p:blipFill>
          <a:blip r:embed="rId3" cstate="print"/>
          <a:srcRect/>
          <a:stretch>
            <a:fillRect/>
          </a:stretch>
        </p:blipFill>
        <p:spPr bwMode="auto">
          <a:xfrm>
            <a:off x="4953000" y="3962400"/>
            <a:ext cx="30480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524000"/>
            <a:ext cx="8229600" cy="4572000"/>
          </a:xfrm>
        </p:spPr>
        <p:txBody>
          <a:bodyPr>
            <a:normAutofit fontScale="92500" lnSpcReduction="10000"/>
          </a:bodyPr>
          <a:lstStyle/>
          <a:p>
            <a:pPr marL="274320" indent="-274320" fontAlgn="auto">
              <a:spcAft>
                <a:spcPts val="0"/>
              </a:spcAft>
              <a:buClr>
                <a:schemeClr val="tx2">
                  <a:lumMod val="25000"/>
                </a:schemeClr>
              </a:buClr>
              <a:buFont typeface="Wingdings 2"/>
              <a:buChar char=""/>
              <a:defRPr/>
            </a:pPr>
            <a:r>
              <a:rPr lang="en-US" sz="3500" dirty="0" smtClean="0">
                <a:solidFill>
                  <a:schemeClr val="bg1"/>
                </a:solidFill>
              </a:rPr>
              <a:t>Informal Procurement Process</a:t>
            </a:r>
            <a:br>
              <a:rPr lang="en-US" sz="3500" dirty="0" smtClean="0">
                <a:solidFill>
                  <a:schemeClr val="bg1"/>
                </a:solidFill>
              </a:rPr>
            </a:br>
            <a:endParaRPr lang="en-US" sz="1500" dirty="0" smtClean="0">
              <a:solidFill>
                <a:schemeClr val="bg1"/>
              </a:solidFill>
            </a:endParaRPr>
          </a:p>
          <a:p>
            <a:pPr marL="1005840" lvl="2" fontAlgn="auto">
              <a:spcAft>
                <a:spcPts val="0"/>
              </a:spcAft>
              <a:buClr>
                <a:schemeClr val="tx2">
                  <a:lumMod val="50000"/>
                </a:schemeClr>
              </a:buClr>
              <a:buFont typeface="Wingdings 2"/>
              <a:buChar char=""/>
              <a:defRPr/>
            </a:pPr>
            <a:r>
              <a:rPr lang="en-US" sz="3200" dirty="0" smtClean="0">
                <a:solidFill>
                  <a:schemeClr val="bg1"/>
                </a:solidFill>
              </a:rPr>
              <a:t>Farmers are contacted and one is determined to have lowest price</a:t>
            </a:r>
          </a:p>
          <a:p>
            <a:pPr marL="1005840" lvl="2" fontAlgn="auto">
              <a:spcAft>
                <a:spcPts val="0"/>
              </a:spcAft>
              <a:buClr>
                <a:schemeClr val="tx2">
                  <a:lumMod val="50000"/>
                </a:schemeClr>
              </a:buClr>
              <a:buFont typeface="Wingdings 2"/>
              <a:buChar char=""/>
              <a:defRPr/>
            </a:pPr>
            <a:r>
              <a:rPr lang="en-US" sz="3200" dirty="0" smtClean="0">
                <a:solidFill>
                  <a:schemeClr val="bg1"/>
                </a:solidFill>
              </a:rPr>
              <a:t>Farmer brings the schools’ order to the farmers’ market in addition to their product</a:t>
            </a:r>
          </a:p>
          <a:p>
            <a:pPr marL="1005840" lvl="2" fontAlgn="auto">
              <a:spcAft>
                <a:spcPts val="0"/>
              </a:spcAft>
              <a:buClr>
                <a:schemeClr val="tx2">
                  <a:lumMod val="50000"/>
                </a:schemeClr>
              </a:buClr>
              <a:buFont typeface="Wingdings 2"/>
              <a:buChar char=""/>
              <a:defRPr/>
            </a:pPr>
            <a:r>
              <a:rPr lang="en-US" sz="3200" dirty="0" smtClean="0">
                <a:solidFill>
                  <a:schemeClr val="bg1"/>
                </a:solidFill>
              </a:rPr>
              <a:t>Food service staff have opportunity to inspect product quality and see other available products for future menu planning</a:t>
            </a:r>
          </a:p>
          <a:p>
            <a:pPr marL="274320" indent="-274320" fontAlgn="auto">
              <a:spcAft>
                <a:spcPts val="0"/>
              </a:spcAft>
              <a:buFont typeface="Wingdings 2"/>
              <a:buChar char=""/>
              <a:defRPr/>
            </a:pPr>
            <a:endParaRPr lang="en-US" dirty="0" smtClean="0"/>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Farmers’ Markets</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6"/>
          <p:cNvPicPr>
            <a:picLocks noChangeAspect="1" noChangeArrowheads="1"/>
          </p:cNvPicPr>
          <p:nvPr/>
        </p:nvPicPr>
        <p:blipFill>
          <a:blip r:embed="rId3" cstate="print"/>
          <a:srcRect/>
          <a:stretch>
            <a:fillRect/>
          </a:stretch>
        </p:blipFill>
        <p:spPr bwMode="auto">
          <a:xfrm>
            <a:off x="4419600" y="3429000"/>
            <a:ext cx="3709988" cy="3114675"/>
          </a:xfrm>
          <a:prstGeom prst="rect">
            <a:avLst/>
          </a:prstGeom>
          <a:noFill/>
          <a:ln w="9525">
            <a:noFill/>
            <a:miter lim="800000"/>
            <a:headEnd/>
            <a:tailEnd/>
          </a:ln>
        </p:spPr>
      </p:pic>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500" dirty="0" smtClean="0">
                <a:solidFill>
                  <a:schemeClr val="bg1"/>
                </a:solidFill>
              </a:rPr>
              <a:t>Support sales and marketing of local farm products</a:t>
            </a:r>
          </a:p>
          <a:p>
            <a:pPr marL="274320" indent="-274320" fontAlgn="auto">
              <a:spcAft>
                <a:spcPts val="0"/>
              </a:spcAft>
              <a:buClr>
                <a:schemeClr val="tx2">
                  <a:lumMod val="25000"/>
                </a:schemeClr>
              </a:buClr>
              <a:buFont typeface="Wingdings 2"/>
              <a:buChar char=""/>
              <a:defRPr/>
            </a:pPr>
            <a:r>
              <a:rPr lang="en-US" sz="3500" dirty="0" smtClean="0">
                <a:solidFill>
                  <a:schemeClr val="bg1"/>
                </a:solidFill>
              </a:rPr>
              <a:t>Provide standard pack sizes and specifications</a:t>
            </a:r>
          </a:p>
          <a:p>
            <a:pPr marL="274320" indent="-274320" fontAlgn="auto">
              <a:spcAft>
                <a:spcPts val="0"/>
              </a:spcAft>
              <a:buClr>
                <a:schemeClr val="tx2">
                  <a:lumMod val="25000"/>
                </a:schemeClr>
              </a:buClr>
              <a:buFont typeface="Wingdings 2"/>
              <a:buChar char=""/>
              <a:defRPr/>
            </a:pPr>
            <a:r>
              <a:rPr lang="en-US" sz="3500" dirty="0" smtClean="0">
                <a:solidFill>
                  <a:schemeClr val="bg1"/>
                </a:solidFill>
              </a:rPr>
              <a:t>Transportation </a:t>
            </a:r>
          </a:p>
          <a:p>
            <a:pPr marL="274320" indent="-274320" fontAlgn="auto">
              <a:spcAft>
                <a:spcPts val="0"/>
              </a:spcAft>
              <a:buClr>
                <a:schemeClr val="tx2">
                  <a:lumMod val="25000"/>
                </a:schemeClr>
              </a:buClr>
              <a:buFont typeface="Wingdings 2"/>
              <a:buChar char=""/>
              <a:defRPr/>
            </a:pPr>
            <a:r>
              <a:rPr lang="en-US" sz="3500" dirty="0" smtClean="0">
                <a:solidFill>
                  <a:schemeClr val="bg1"/>
                </a:solidFill>
              </a:rPr>
              <a:t>Price</a:t>
            </a:r>
          </a:p>
          <a:p>
            <a:pPr marL="640080" lvl="1" indent="-274320" fontAlgn="auto">
              <a:spcAft>
                <a:spcPts val="0"/>
              </a:spcAft>
              <a:buClr>
                <a:schemeClr val="tx2">
                  <a:lumMod val="25000"/>
                </a:schemeClr>
              </a:buClr>
              <a:buFont typeface="Wingdings 2"/>
              <a:buChar char=""/>
              <a:defRPr/>
            </a:pPr>
            <a:r>
              <a:rPr lang="en-US" sz="3300" dirty="0" smtClean="0">
                <a:solidFill>
                  <a:schemeClr val="bg1"/>
                </a:solidFill>
              </a:rPr>
              <a:t>Cutting out the </a:t>
            </a:r>
            <a:br>
              <a:rPr lang="en-US" sz="3300" dirty="0" smtClean="0">
                <a:solidFill>
                  <a:schemeClr val="bg1"/>
                </a:solidFill>
              </a:rPr>
            </a:br>
            <a:r>
              <a:rPr lang="en-US" sz="3300" dirty="0" smtClean="0">
                <a:solidFill>
                  <a:schemeClr val="bg1"/>
                </a:solidFill>
              </a:rPr>
              <a:t>distributor</a:t>
            </a: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Regional Wholesaler</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274320" indent="-274320" fontAlgn="auto">
              <a:spcAft>
                <a:spcPts val="0"/>
              </a:spcAft>
              <a:buClr>
                <a:schemeClr val="tx2">
                  <a:lumMod val="25000"/>
                </a:schemeClr>
              </a:buClr>
              <a:buFont typeface="Wingdings 2"/>
              <a:buChar char=""/>
              <a:defRPr/>
            </a:pPr>
            <a:r>
              <a:rPr lang="en-US" sz="3200" dirty="0" smtClean="0">
                <a:solidFill>
                  <a:schemeClr val="bg1"/>
                </a:solidFill>
              </a:rPr>
              <a:t>Neighboring school districts develop a group purchasing strategy</a:t>
            </a: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Buying co-ops often increase purchasing power and volume requests</a:t>
            </a:r>
          </a:p>
          <a:p>
            <a:pPr marL="274320" indent="-274320" fontAlgn="auto">
              <a:spcAft>
                <a:spcPts val="0"/>
              </a:spcAft>
              <a:buClr>
                <a:schemeClr val="tx2">
                  <a:lumMod val="25000"/>
                </a:schemeClr>
              </a:buClr>
              <a:buFont typeface="Wingdings 2"/>
              <a:buChar char=""/>
              <a:defRPr/>
            </a:pPr>
            <a:r>
              <a:rPr lang="en-US" sz="3200" dirty="0" smtClean="0">
                <a:solidFill>
                  <a:schemeClr val="bg1"/>
                </a:solidFill>
              </a:rPr>
              <a:t>Co-ops must still follow procurement regulations when purchasing for the group</a:t>
            </a:r>
            <a:endParaRPr lang="en-US" sz="3200" dirty="0">
              <a:solidFill>
                <a:schemeClr val="bg1"/>
              </a:solidFill>
            </a:endParaRPr>
          </a:p>
        </p:txBody>
      </p:sp>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Form Buying Cooperatives</a:t>
            </a:r>
            <a:endParaRPr b="1" dirty="0">
              <a:solidFill>
                <a:srgbClr val="FFC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219200"/>
          </a:xfrm>
        </p:spPr>
        <p:txBody>
          <a:bodyPr/>
          <a:lstStyle/>
          <a:p>
            <a:r>
              <a:rPr lang="en-US" b="1" dirty="0" smtClean="0">
                <a:solidFill>
                  <a:srgbClr val="FFC000"/>
                </a:solidFill>
              </a:rPr>
              <a:t>Geographic Preference</a:t>
            </a:r>
            <a:endParaRPr lang="en-US" b="1" dirty="0">
              <a:solidFill>
                <a:srgbClr val="FFC000"/>
              </a:solidFill>
            </a:endParaRPr>
          </a:p>
        </p:txBody>
      </p:sp>
      <p:sp>
        <p:nvSpPr>
          <p:cNvPr id="3" name="Content Placeholder 2"/>
          <p:cNvSpPr>
            <a:spLocks noGrp="1"/>
          </p:cNvSpPr>
          <p:nvPr>
            <p:ph idx="1"/>
          </p:nvPr>
        </p:nvSpPr>
        <p:spPr/>
        <p:txBody>
          <a:bodyPr>
            <a:normAutofit fontScale="62500" lnSpcReduction="20000"/>
          </a:bodyPr>
          <a:lstStyle/>
          <a:p>
            <a:r>
              <a:rPr lang="en-US" b="1" dirty="0" smtClean="0">
                <a:solidFill>
                  <a:schemeClr val="bg1"/>
                </a:solidFill>
              </a:rPr>
              <a:t>7 CFR 210.21(g) and 7 CFR 220.16(f)</a:t>
            </a:r>
            <a:endParaRPr lang="en-US" sz="4400" dirty="0" smtClean="0">
              <a:solidFill>
                <a:schemeClr val="bg1"/>
              </a:solidFill>
            </a:endParaRPr>
          </a:p>
          <a:p>
            <a:pPr lvl="1">
              <a:lnSpc>
                <a:spcPct val="170000"/>
              </a:lnSpc>
            </a:pPr>
            <a:r>
              <a:rPr lang="en-US" sz="3200" i="1" dirty="0" smtClean="0">
                <a:solidFill>
                  <a:schemeClr val="bg1"/>
                </a:solidFill>
              </a:rPr>
              <a:t>Geographic preference. </a:t>
            </a:r>
            <a:r>
              <a:rPr lang="en-US" sz="3200" dirty="0" smtClean="0">
                <a:solidFill>
                  <a:schemeClr val="bg1"/>
                </a:solidFill>
              </a:rPr>
              <a:t>(1) </a:t>
            </a:r>
            <a:r>
              <a:rPr lang="en-US" sz="2600" dirty="0" smtClean="0">
                <a:solidFill>
                  <a:schemeClr val="bg1"/>
                </a:solidFill>
              </a:rPr>
              <a:t>A school food authority participating in the Program, as well as State agencies making purchases on behalf of such school food authorities</a:t>
            </a:r>
            <a:r>
              <a:rPr lang="en-US" sz="3200" dirty="0" smtClean="0">
                <a:solidFill>
                  <a:schemeClr val="bg1"/>
                </a:solidFill>
              </a:rPr>
              <a:t>, </a:t>
            </a:r>
            <a:r>
              <a:rPr lang="en-US" sz="3200" i="1" u="sng" dirty="0" smtClean="0">
                <a:solidFill>
                  <a:schemeClr val="bg1"/>
                </a:solidFill>
              </a:rPr>
              <a:t>may apply a geographic preference </a:t>
            </a:r>
            <a:r>
              <a:rPr lang="en-US" sz="3200" dirty="0" smtClean="0">
                <a:solidFill>
                  <a:schemeClr val="bg1"/>
                </a:solidFill>
              </a:rPr>
              <a:t>when procuring </a:t>
            </a:r>
            <a:r>
              <a:rPr lang="en-US" sz="3200" i="1" u="sng" dirty="0" smtClean="0">
                <a:solidFill>
                  <a:schemeClr val="bg1"/>
                </a:solidFill>
              </a:rPr>
              <a:t>unprocessed locally grown or locally raised agricultural products</a:t>
            </a:r>
            <a:r>
              <a:rPr lang="en-US" sz="3200" dirty="0" smtClean="0">
                <a:solidFill>
                  <a:schemeClr val="bg1"/>
                </a:solidFill>
              </a:rPr>
              <a:t>. When utilizing the geographic preference to procure such products, the </a:t>
            </a:r>
            <a:r>
              <a:rPr lang="en-US" sz="3200" i="1" u="sng" dirty="0" smtClean="0">
                <a:solidFill>
                  <a:schemeClr val="bg1"/>
                </a:solidFill>
              </a:rPr>
              <a:t>school food authority </a:t>
            </a:r>
            <a:r>
              <a:rPr lang="en-US" sz="3200" dirty="0" smtClean="0">
                <a:solidFill>
                  <a:schemeClr val="bg1"/>
                </a:solidFill>
              </a:rPr>
              <a:t>making the purchase </a:t>
            </a:r>
            <a:r>
              <a:rPr lang="en-US" sz="3200" i="1" u="sng" dirty="0" smtClean="0">
                <a:solidFill>
                  <a:schemeClr val="bg1"/>
                </a:solidFill>
              </a:rPr>
              <a:t>or the State agency making purchases </a:t>
            </a:r>
            <a:r>
              <a:rPr lang="en-US" sz="3200" dirty="0" smtClean="0">
                <a:solidFill>
                  <a:schemeClr val="bg1"/>
                </a:solidFill>
              </a:rPr>
              <a:t>on behalf of such school food authorities </a:t>
            </a:r>
            <a:r>
              <a:rPr lang="en-US" sz="3200" i="1" u="sng" dirty="0" smtClean="0">
                <a:solidFill>
                  <a:schemeClr val="bg1"/>
                </a:solidFill>
              </a:rPr>
              <a:t>have the discretion to determine the local area</a:t>
            </a:r>
            <a:r>
              <a:rPr lang="en-US" sz="3200" dirty="0" smtClean="0">
                <a:solidFill>
                  <a:schemeClr val="bg1"/>
                </a:solidFill>
              </a:rPr>
              <a:t> to which the geographic preference option will be applied; </a:t>
            </a:r>
            <a:endParaRPr lang="en-US" sz="3200" dirty="0">
              <a:solidFill>
                <a:schemeClr val="bg1"/>
              </a:solidFill>
            </a:endParaRPr>
          </a:p>
        </p:txBody>
      </p:sp>
      <p:grpSp>
        <p:nvGrpSpPr>
          <p:cNvPr id="8" name="Group 7"/>
          <p:cNvGrpSpPr/>
          <p:nvPr/>
        </p:nvGrpSpPr>
        <p:grpSpPr>
          <a:xfrm>
            <a:off x="5734660" y="5321362"/>
            <a:ext cx="1825142" cy="1213409"/>
            <a:chOff x="3659429" y="2822295"/>
            <a:chExt cx="1825142" cy="1213409"/>
          </a:xfrm>
        </p:grpSpPr>
        <p:pic>
          <p:nvPicPr>
            <p:cNvPr id="9220" name="Picture 4" descr="C:\Documents and Settings\farquharsonk\Local Settings\Temporary Internet Files\Content.IE5\XL5THZ1H\MC900326960[1].wmf"/>
            <p:cNvPicPr>
              <a:picLocks noChangeAspect="1" noChangeArrowheads="1"/>
            </p:cNvPicPr>
            <p:nvPr/>
          </p:nvPicPr>
          <p:blipFill>
            <a:blip r:embed="rId3" cstate="print"/>
            <a:srcRect/>
            <a:stretch>
              <a:fillRect/>
            </a:stretch>
          </p:blipFill>
          <p:spPr bwMode="auto">
            <a:xfrm>
              <a:off x="3659429" y="2822295"/>
              <a:ext cx="1825142" cy="1213409"/>
            </a:xfrm>
            <a:prstGeom prst="rect">
              <a:avLst/>
            </a:prstGeom>
            <a:noFill/>
          </p:spPr>
        </p:pic>
        <p:sp>
          <p:nvSpPr>
            <p:cNvPr id="7" name="Freeform 6"/>
            <p:cNvSpPr/>
            <p:nvPr/>
          </p:nvSpPr>
          <p:spPr>
            <a:xfrm>
              <a:off x="4934139" y="3345256"/>
              <a:ext cx="380245" cy="348558"/>
            </a:xfrm>
            <a:custGeom>
              <a:avLst/>
              <a:gdLst>
                <a:gd name="connsiteX0" fmla="*/ 380245 w 380245"/>
                <a:gd name="connsiteY0" fmla="*/ 49794 h 348558"/>
                <a:gd name="connsiteX1" fmla="*/ 99588 w 380245"/>
                <a:gd name="connsiteY1" fmla="*/ 49794 h 348558"/>
                <a:gd name="connsiteX2" fmla="*/ 0 w 380245"/>
                <a:gd name="connsiteY2" fmla="*/ 348558 h 348558"/>
              </a:gdLst>
              <a:ahLst/>
              <a:cxnLst>
                <a:cxn ang="0">
                  <a:pos x="connsiteX0" y="connsiteY0"/>
                </a:cxn>
                <a:cxn ang="0">
                  <a:pos x="connsiteX1" y="connsiteY1"/>
                </a:cxn>
                <a:cxn ang="0">
                  <a:pos x="connsiteX2" y="connsiteY2"/>
                </a:cxn>
              </a:cxnLst>
              <a:rect l="l" t="t" r="r" b="b"/>
              <a:pathLst>
                <a:path w="380245" h="348558">
                  <a:moveTo>
                    <a:pt x="380245" y="49794"/>
                  </a:moveTo>
                  <a:cubicBezTo>
                    <a:pt x="271603" y="24897"/>
                    <a:pt x="162962" y="0"/>
                    <a:pt x="99588" y="49794"/>
                  </a:cubicBezTo>
                  <a:cubicBezTo>
                    <a:pt x="36214" y="99588"/>
                    <a:pt x="18107" y="224073"/>
                    <a:pt x="0" y="348558"/>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Tree>
    <p:extLst>
      <p:ext uri="{BB962C8B-B14F-4D97-AF65-F5344CB8AC3E}">
        <p14:creationId xmlns:p14="http://schemas.microsoft.com/office/powerpoint/2010/main" val="33948635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Geographic Preference</a:t>
            </a:r>
            <a:endParaRPr lang="en-US" b="1" dirty="0">
              <a:solidFill>
                <a:srgbClr val="FFC000"/>
              </a:solidFill>
            </a:endParaRPr>
          </a:p>
        </p:txBody>
      </p:sp>
      <p:sp>
        <p:nvSpPr>
          <p:cNvPr id="3" name="Content Placeholder 2"/>
          <p:cNvSpPr>
            <a:spLocks noGrp="1"/>
          </p:cNvSpPr>
          <p:nvPr>
            <p:ph idx="1"/>
          </p:nvPr>
        </p:nvSpPr>
        <p:spPr/>
        <p:txBody>
          <a:bodyPr>
            <a:normAutofit/>
          </a:bodyPr>
          <a:lstStyle/>
          <a:p>
            <a:pPr lvl="2">
              <a:lnSpc>
                <a:spcPct val="170000"/>
              </a:lnSpc>
            </a:pPr>
            <a:r>
              <a:rPr lang="en-US" sz="2000" dirty="0" smtClean="0">
                <a:solidFill>
                  <a:schemeClr val="bg1"/>
                </a:solidFill>
              </a:rPr>
              <a:t>(ii) Proposals will be solicited from an adequate number of qualified sources;</a:t>
            </a:r>
          </a:p>
          <a:p>
            <a:pPr lvl="2">
              <a:lnSpc>
                <a:spcPct val="170000"/>
              </a:lnSpc>
            </a:pPr>
            <a:r>
              <a:rPr lang="en-US" sz="2000" dirty="0" smtClean="0">
                <a:solidFill>
                  <a:schemeClr val="bg1"/>
                </a:solidFill>
              </a:rPr>
              <a:t>(iii) Grantees and subgrantees will have a method for conducting technical evaluations of the proposals received and for selecting awardees;</a:t>
            </a:r>
          </a:p>
          <a:p>
            <a:endParaRPr lang="en-US" dirty="0"/>
          </a:p>
        </p:txBody>
      </p:sp>
      <p:pic>
        <p:nvPicPr>
          <p:cNvPr id="5" name="Picture 4" descr="Harvesting.JPG"/>
          <p:cNvPicPr>
            <a:picLocks noChangeAspect="1"/>
          </p:cNvPicPr>
          <p:nvPr/>
        </p:nvPicPr>
        <p:blipFill>
          <a:blip r:embed="rId3" cstate="print"/>
          <a:stretch>
            <a:fillRect/>
          </a:stretch>
        </p:blipFill>
        <p:spPr>
          <a:xfrm>
            <a:off x="4800600" y="4114800"/>
            <a:ext cx="2590800" cy="2057400"/>
          </a:xfrm>
          <a:prstGeom prst="rect">
            <a:avLst/>
          </a:prstGeom>
        </p:spPr>
      </p:pic>
    </p:spTree>
    <p:extLst>
      <p:ext uri="{BB962C8B-B14F-4D97-AF65-F5344CB8AC3E}">
        <p14:creationId xmlns:p14="http://schemas.microsoft.com/office/powerpoint/2010/main" val="8957637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Geographic Preference</a:t>
            </a:r>
            <a:endParaRPr lang="en-US" b="1" dirty="0">
              <a:solidFill>
                <a:srgbClr val="FFC000"/>
              </a:solidFill>
            </a:endParaRPr>
          </a:p>
        </p:txBody>
      </p:sp>
      <p:sp>
        <p:nvSpPr>
          <p:cNvPr id="3" name="Content Placeholder 2"/>
          <p:cNvSpPr>
            <a:spLocks noGrp="1"/>
          </p:cNvSpPr>
          <p:nvPr>
            <p:ph idx="1"/>
          </p:nvPr>
        </p:nvSpPr>
        <p:spPr/>
        <p:txBody>
          <a:bodyPr>
            <a:noAutofit/>
          </a:bodyPr>
          <a:lstStyle/>
          <a:p>
            <a:pPr lvl="1">
              <a:lnSpc>
                <a:spcPct val="170000"/>
              </a:lnSpc>
            </a:pPr>
            <a:r>
              <a:rPr lang="en-US" sz="2000" dirty="0" smtClean="0">
                <a:solidFill>
                  <a:schemeClr val="bg1"/>
                </a:solidFill>
              </a:rPr>
              <a:t>(2) For the purpose of applying the optional geographic procurement preference in paragraph (g)(1) of this section, ‘‘unprocessed locally grown or locally raised agricultural products’’ </a:t>
            </a:r>
            <a:r>
              <a:rPr lang="en-US" sz="2000" u="sng" dirty="0" smtClean="0">
                <a:solidFill>
                  <a:schemeClr val="bg1"/>
                </a:solidFill>
              </a:rPr>
              <a:t>means only those agricultural products that </a:t>
            </a:r>
            <a:r>
              <a:rPr lang="en-US" sz="2000" b="1" u="sng" dirty="0" smtClean="0">
                <a:solidFill>
                  <a:schemeClr val="bg1"/>
                </a:solidFill>
              </a:rPr>
              <a:t>retain their inherent character</a:t>
            </a:r>
            <a:r>
              <a:rPr lang="en-US" sz="2000" u="sng" dirty="0" smtClean="0">
                <a:solidFill>
                  <a:schemeClr val="bg1"/>
                </a:solidFill>
              </a:rPr>
              <a:t>. </a:t>
            </a:r>
          </a:p>
          <a:p>
            <a:pPr lvl="2">
              <a:lnSpc>
                <a:spcPct val="170000"/>
              </a:lnSpc>
            </a:pPr>
            <a:endParaRPr lang="en-US" sz="1400" dirty="0" smtClean="0"/>
          </a:p>
          <a:p>
            <a:endParaRPr lang="en-US" sz="1400" dirty="0"/>
          </a:p>
        </p:txBody>
      </p:sp>
      <p:pic>
        <p:nvPicPr>
          <p:cNvPr id="5" name="Picture 4" descr="Veggy Drawer.JPG"/>
          <p:cNvPicPr>
            <a:picLocks noChangeAspect="1"/>
          </p:cNvPicPr>
          <p:nvPr/>
        </p:nvPicPr>
        <p:blipFill>
          <a:blip r:embed="rId3" cstate="print"/>
          <a:stretch>
            <a:fillRect/>
          </a:stretch>
        </p:blipFill>
        <p:spPr>
          <a:xfrm>
            <a:off x="4114800" y="4572000"/>
            <a:ext cx="2438400" cy="2034183"/>
          </a:xfrm>
          <a:prstGeom prst="rect">
            <a:avLst/>
          </a:prstGeom>
        </p:spPr>
      </p:pic>
    </p:spTree>
    <p:extLst>
      <p:ext uri="{BB962C8B-B14F-4D97-AF65-F5344CB8AC3E}">
        <p14:creationId xmlns:p14="http://schemas.microsoft.com/office/powerpoint/2010/main" val="29030142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Geographic Preference</a:t>
            </a:r>
            <a:endParaRPr lang="en-US" b="1" dirty="0">
              <a:solidFill>
                <a:srgbClr val="FFC000"/>
              </a:solidFill>
            </a:endParaRPr>
          </a:p>
        </p:txBody>
      </p:sp>
      <p:sp>
        <p:nvSpPr>
          <p:cNvPr id="3" name="Content Placeholder 2"/>
          <p:cNvSpPr>
            <a:spLocks noGrp="1"/>
          </p:cNvSpPr>
          <p:nvPr>
            <p:ph idx="1"/>
          </p:nvPr>
        </p:nvSpPr>
        <p:spPr>
          <a:xfrm>
            <a:off x="990600" y="1600200"/>
            <a:ext cx="6400800" cy="4495800"/>
          </a:xfrm>
        </p:spPr>
        <p:txBody>
          <a:bodyPr>
            <a:normAutofit fontScale="92500"/>
          </a:bodyPr>
          <a:lstStyle/>
          <a:p>
            <a:pPr marL="914400" lvl="4" indent="0">
              <a:lnSpc>
                <a:spcPct val="150000"/>
              </a:lnSpc>
              <a:buNone/>
            </a:pPr>
            <a:r>
              <a:rPr lang="en-US" dirty="0" smtClean="0">
                <a:solidFill>
                  <a:schemeClr val="bg1"/>
                </a:solidFill>
              </a:rPr>
              <a:t>The effects of the following food handling and preservation techniques shall not be considered as changing an agricultural product into a product of a different kind or character: </a:t>
            </a:r>
            <a:r>
              <a:rPr lang="en-US" sz="1600" dirty="0" smtClean="0">
                <a:solidFill>
                  <a:schemeClr val="bg1"/>
                </a:solidFill>
              </a:rPr>
              <a:t>Cooling; refrigerating; freezing; size adjustment made by peeling, slicing, dicing, cutting, chopping, shucking, and grinding; forming ground products into patties without any additives or fillers; </a:t>
            </a:r>
            <a:r>
              <a:rPr lang="en-US" sz="1600" dirty="0">
                <a:solidFill>
                  <a:schemeClr val="bg1"/>
                </a:solidFill>
              </a:rPr>
              <a:t>drying/ </a:t>
            </a:r>
            <a:r>
              <a:rPr lang="en-US" sz="1600" dirty="0" smtClean="0">
                <a:solidFill>
                  <a:schemeClr val="bg1"/>
                </a:solidFill>
              </a:rPr>
              <a:t>dehydration; vacuum packing and bagging (such as placing vegetables in bags or combining two or more types of vegetables or fruits in a single package); the </a:t>
            </a:r>
            <a:r>
              <a:rPr lang="en-US" sz="1600" dirty="0">
                <a:solidFill>
                  <a:schemeClr val="bg1"/>
                </a:solidFill>
              </a:rPr>
              <a:t>addition of ascorbic acid or other preservatives to prevent oxidation of produce</a:t>
            </a:r>
            <a:r>
              <a:rPr lang="en-US" sz="1600" dirty="0" smtClean="0">
                <a:solidFill>
                  <a:schemeClr val="bg1"/>
                </a:solidFill>
              </a:rPr>
              <a:t>; </a:t>
            </a:r>
            <a:r>
              <a:rPr lang="en-US" sz="1600" dirty="0">
                <a:solidFill>
                  <a:schemeClr val="bg1"/>
                </a:solidFill>
              </a:rPr>
              <a:t>butchering livestock and poultry; cleaning fish; and the pasteurization of milk.</a:t>
            </a:r>
          </a:p>
          <a:p>
            <a:pPr marL="1714500" lvl="5" indent="-342900">
              <a:lnSpc>
                <a:spcPct val="150000"/>
              </a:lnSpc>
              <a:buFont typeface="Wingdings" pitchFamily="2" charset="2"/>
              <a:buChar char="Ø"/>
            </a:pPr>
            <a:endParaRPr lang="en-US" sz="1600" dirty="0" smtClean="0">
              <a:solidFill>
                <a:schemeClr val="bg1"/>
              </a:solidFill>
            </a:endParaRPr>
          </a:p>
          <a:p>
            <a:endParaRPr lang="en-US" sz="2000" dirty="0"/>
          </a:p>
        </p:txBody>
      </p:sp>
      <p:pic>
        <p:nvPicPr>
          <p:cNvPr id="5" name="Picture 4" descr="Cutting Veggies.JPG"/>
          <p:cNvPicPr>
            <a:picLocks noChangeAspect="1"/>
          </p:cNvPicPr>
          <p:nvPr/>
        </p:nvPicPr>
        <p:blipFill>
          <a:blip r:embed="rId3" cstate="print"/>
          <a:stretch>
            <a:fillRect/>
          </a:stretch>
        </p:blipFill>
        <p:spPr>
          <a:xfrm>
            <a:off x="6934200" y="5486400"/>
            <a:ext cx="1600200" cy="1066384"/>
          </a:xfrm>
          <a:prstGeom prst="rect">
            <a:avLst/>
          </a:prstGeom>
        </p:spPr>
      </p:pic>
    </p:spTree>
    <p:extLst>
      <p:ext uri="{BB962C8B-B14F-4D97-AF65-F5344CB8AC3E}">
        <p14:creationId xmlns:p14="http://schemas.microsoft.com/office/powerpoint/2010/main" val="23580456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idx="1"/>
          </p:nvPr>
        </p:nvSpPr>
        <p:spPr>
          <a:xfrm>
            <a:off x="457200" y="1524000"/>
            <a:ext cx="8229600" cy="4572000"/>
          </a:xfrm>
        </p:spPr>
        <p:txBody>
          <a:bodyPr>
            <a:normAutofit/>
          </a:bodyPr>
          <a:lstStyle/>
          <a:p>
            <a:pPr>
              <a:lnSpc>
                <a:spcPct val="150000"/>
              </a:lnSpc>
              <a:buClr>
                <a:schemeClr val="accent1">
                  <a:lumMod val="50000"/>
                </a:schemeClr>
              </a:buClr>
            </a:pPr>
            <a:r>
              <a:rPr lang="en-US" sz="2000" dirty="0" smtClean="0">
                <a:solidFill>
                  <a:schemeClr val="bg1"/>
                </a:solidFill>
              </a:rPr>
              <a:t>Unallowable food handling and preservation techniques</a:t>
            </a:r>
          </a:p>
          <a:p>
            <a:pPr lvl="1">
              <a:lnSpc>
                <a:spcPct val="150000"/>
              </a:lnSpc>
              <a:buClr>
                <a:schemeClr val="accent1">
                  <a:lumMod val="50000"/>
                </a:schemeClr>
              </a:buClr>
            </a:pPr>
            <a:r>
              <a:rPr lang="en-US" sz="2000" dirty="0" smtClean="0">
                <a:solidFill>
                  <a:schemeClr val="bg1"/>
                </a:solidFill>
              </a:rPr>
              <a:t>Heating/canning -- the inherent character of the product is not retained because the heating process involved in canning changes the agricultural product into a product of a different kind or character</a:t>
            </a:r>
          </a:p>
          <a:p>
            <a:pPr lvl="1"/>
            <a:endParaRPr lang="en-US" sz="2000" dirty="0"/>
          </a:p>
        </p:txBody>
      </p:sp>
      <p:sp>
        <p:nvSpPr>
          <p:cNvPr id="6" name="Title 1"/>
          <p:cNvSpPr>
            <a:spLocks noGrp="1"/>
          </p:cNvSpPr>
          <p:nvPr>
            <p:ph type="title"/>
          </p:nvPr>
        </p:nvSpPr>
        <p:spPr>
          <a:xfrm>
            <a:off x="457200" y="152400"/>
            <a:ext cx="8229600" cy="1219200"/>
          </a:xfrm>
        </p:spPr>
        <p:txBody>
          <a:bodyPr/>
          <a:lstStyle/>
          <a:p>
            <a:r>
              <a:rPr lang="en-US" b="1" dirty="0" smtClean="0">
                <a:solidFill>
                  <a:srgbClr val="FFC000"/>
                </a:solidFill>
              </a:rPr>
              <a:t>Geographic Preference</a:t>
            </a:r>
            <a:endParaRPr lang="en-US" b="1" dirty="0">
              <a:solidFill>
                <a:srgbClr val="FFC000"/>
              </a:solidFill>
            </a:endParaRPr>
          </a:p>
        </p:txBody>
      </p:sp>
      <p:pic>
        <p:nvPicPr>
          <p:cNvPr id="7" name="Picture 6" descr="no-cans.jpg"/>
          <p:cNvPicPr>
            <a:picLocks noChangeAspect="1"/>
          </p:cNvPicPr>
          <p:nvPr/>
        </p:nvPicPr>
        <p:blipFill>
          <a:blip r:embed="rId3" cstate="print"/>
          <a:stretch>
            <a:fillRect/>
          </a:stretch>
        </p:blipFill>
        <p:spPr>
          <a:xfrm>
            <a:off x="5715000" y="3886200"/>
            <a:ext cx="2286001" cy="2362200"/>
          </a:xfrm>
          <a:prstGeom prst="rect">
            <a:avLst/>
          </a:prstGeom>
        </p:spPr>
      </p:pic>
    </p:spTree>
    <p:extLst>
      <p:ext uri="{BB962C8B-B14F-4D97-AF65-F5344CB8AC3E}">
        <p14:creationId xmlns:p14="http://schemas.microsoft.com/office/powerpoint/2010/main" val="34480228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C000"/>
                </a:solidFill>
              </a:rPr>
              <a:t>Geographic Preference</a:t>
            </a:r>
            <a:endParaRPr lang="en-US" b="1" dirty="0">
              <a:solidFill>
                <a:srgbClr val="FFC000"/>
              </a:solidFill>
            </a:endParaRPr>
          </a:p>
        </p:txBody>
      </p:sp>
      <p:sp>
        <p:nvSpPr>
          <p:cNvPr id="3" name="Content Placeholder 2"/>
          <p:cNvSpPr>
            <a:spLocks noGrp="1"/>
          </p:cNvSpPr>
          <p:nvPr>
            <p:ph idx="1"/>
          </p:nvPr>
        </p:nvSpPr>
        <p:spPr/>
        <p:txBody>
          <a:bodyPr>
            <a:normAutofit/>
          </a:bodyPr>
          <a:lstStyle/>
          <a:p>
            <a:pPr>
              <a:buNone/>
            </a:pPr>
            <a:r>
              <a:rPr lang="en-US" sz="2000" dirty="0" smtClean="0">
                <a:solidFill>
                  <a:schemeClr val="bg1"/>
                </a:solidFill>
              </a:rPr>
              <a:t>What is Local?</a:t>
            </a:r>
          </a:p>
          <a:p>
            <a:pPr lvl="1">
              <a:lnSpc>
                <a:spcPct val="150000"/>
              </a:lnSpc>
              <a:buClr>
                <a:schemeClr val="tx2">
                  <a:lumMod val="25000"/>
                </a:schemeClr>
              </a:buClr>
            </a:pPr>
            <a:r>
              <a:rPr lang="en-US" sz="2000" dirty="0" smtClean="0">
                <a:solidFill>
                  <a:schemeClr val="bg1"/>
                </a:solidFill>
              </a:rPr>
              <a:t>Discretion to define the local area for any geographic preference is left to the institution responsible for procurement</a:t>
            </a:r>
          </a:p>
          <a:p>
            <a:pPr lvl="1">
              <a:lnSpc>
                <a:spcPct val="150000"/>
              </a:lnSpc>
              <a:buClr>
                <a:schemeClr val="tx2">
                  <a:lumMod val="25000"/>
                </a:schemeClr>
              </a:buClr>
            </a:pPr>
            <a:r>
              <a:rPr lang="en-US" sz="2000" dirty="0" smtClean="0">
                <a:solidFill>
                  <a:schemeClr val="bg1"/>
                </a:solidFill>
              </a:rPr>
              <a:t>“Local” must not be defined in a way that unnecessarily limits competition</a:t>
            </a:r>
          </a:p>
          <a:p>
            <a:pPr lvl="1">
              <a:lnSpc>
                <a:spcPct val="150000"/>
              </a:lnSpc>
              <a:buClr>
                <a:schemeClr val="tx2">
                  <a:lumMod val="25000"/>
                </a:schemeClr>
              </a:buClr>
            </a:pPr>
            <a:r>
              <a:rPr lang="en-US" sz="2000" dirty="0" smtClean="0">
                <a:solidFill>
                  <a:schemeClr val="bg1"/>
                </a:solidFill>
              </a:rPr>
              <a:t>Bottom line:  Reduce the carbon foot print of the cost of procuring  locally grown or locally raised agricultural products.</a:t>
            </a:r>
          </a:p>
          <a:p>
            <a:pPr>
              <a:buNone/>
            </a:pPr>
            <a:endParaRPr lang="en-US" sz="2000" dirty="0"/>
          </a:p>
        </p:txBody>
      </p:sp>
      <p:pic>
        <p:nvPicPr>
          <p:cNvPr id="1030" name="Picture 6" descr="C:\Documents and Settings\farquharsonk\Local Settings\Temp\Temporary Internet Files\Content.IE5\X47CNA9V\MP900442395[1].jpg"/>
          <p:cNvPicPr>
            <a:picLocks noChangeAspect="1" noChangeArrowheads="1"/>
          </p:cNvPicPr>
          <p:nvPr/>
        </p:nvPicPr>
        <p:blipFill>
          <a:blip r:embed="rId3" cstate="print"/>
          <a:srcRect/>
          <a:stretch>
            <a:fillRect/>
          </a:stretch>
        </p:blipFill>
        <p:spPr bwMode="auto">
          <a:xfrm>
            <a:off x="6781800" y="4876800"/>
            <a:ext cx="1905000" cy="1143000"/>
          </a:xfrm>
          <a:prstGeom prst="rect">
            <a:avLst/>
          </a:prstGeom>
          <a:noFill/>
        </p:spPr>
      </p:pic>
    </p:spTree>
    <p:extLst>
      <p:ext uri="{BB962C8B-B14F-4D97-AF65-F5344CB8AC3E}">
        <p14:creationId xmlns:p14="http://schemas.microsoft.com/office/powerpoint/2010/main" val="35924025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fontAlgn="auto">
              <a:spcAft>
                <a:spcPts val="0"/>
              </a:spcAft>
              <a:defRPr/>
            </a:pPr>
            <a:r>
              <a:rPr sz="5400" b="1" dirty="0" smtClean="0">
                <a:solidFill>
                  <a:schemeClr val="bg1"/>
                </a:solidFill>
                <a:effectLst>
                  <a:outerShdw blurRad="38100" dist="38100" dir="2700000" algn="tl">
                    <a:srgbClr val="000000">
                      <a:alpha val="43137"/>
                    </a:srgbClr>
                  </a:outerShdw>
                </a:effectLst>
              </a:rPr>
              <a:t>How a Geographic Preference Can Work in Procurement</a:t>
            </a:r>
            <a:endParaRPr sz="5400" b="1" dirty="0">
              <a:solidFill>
                <a:schemeClr val="bg1"/>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52400" y="1524000"/>
          <a:ext cx="85344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Formal Procurement</a:t>
            </a:r>
            <a:r>
              <a:rPr b="1" dirty="0" smtClean="0">
                <a:solidFill>
                  <a:srgbClr val="FFFFCC"/>
                </a:solidFill>
                <a:effectLst>
                  <a:outerShdw blurRad="38100" dist="38100" dir="2700000" algn="tl">
                    <a:srgbClr val="000000">
                      <a:alpha val="43137"/>
                    </a:srgbClr>
                  </a:outerShdw>
                </a:effectLst>
              </a:rPr>
              <a:t>:</a:t>
            </a:r>
            <a:endParaRPr b="1" dirty="0">
              <a:solidFill>
                <a:srgbClr val="FFFFCC"/>
              </a:solidFill>
              <a:effectLst>
                <a:outerShdw blurRad="38100" dist="38100" dir="2700000" algn="tl">
                  <a:srgbClr val="000000">
                    <a:alpha val="43137"/>
                  </a:srgbClr>
                </a:outerShdw>
              </a:effectLst>
            </a:endParaRPr>
          </a:p>
        </p:txBody>
      </p:sp>
      <p:sp>
        <p:nvSpPr>
          <p:cNvPr id="4" name="Rectangle 3"/>
          <p:cNvSpPr/>
          <p:nvPr/>
        </p:nvSpPr>
        <p:spPr>
          <a:xfrm>
            <a:off x="2895600" y="1295400"/>
            <a:ext cx="409086"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1</a:t>
            </a:r>
          </a:p>
        </p:txBody>
      </p:sp>
      <p:sp>
        <p:nvSpPr>
          <p:cNvPr id="6" name="Rectangle 5"/>
          <p:cNvSpPr/>
          <p:nvPr/>
        </p:nvSpPr>
        <p:spPr>
          <a:xfrm>
            <a:off x="4876800" y="2667000"/>
            <a:ext cx="482824"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2</a:t>
            </a:r>
          </a:p>
        </p:txBody>
      </p:sp>
      <p:sp>
        <p:nvSpPr>
          <p:cNvPr id="7" name="Rectangle 6"/>
          <p:cNvSpPr/>
          <p:nvPr/>
        </p:nvSpPr>
        <p:spPr>
          <a:xfrm>
            <a:off x="4523051" y="4876800"/>
            <a:ext cx="465192"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3</a:t>
            </a:r>
          </a:p>
        </p:txBody>
      </p:sp>
      <p:sp>
        <p:nvSpPr>
          <p:cNvPr id="8" name="Rectangle 7"/>
          <p:cNvSpPr/>
          <p:nvPr/>
        </p:nvSpPr>
        <p:spPr>
          <a:xfrm>
            <a:off x="1350761" y="5029200"/>
            <a:ext cx="506870"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4</a:t>
            </a:r>
          </a:p>
        </p:txBody>
      </p:sp>
      <p:sp>
        <p:nvSpPr>
          <p:cNvPr id="9" name="Rectangle 8"/>
          <p:cNvSpPr/>
          <p:nvPr/>
        </p:nvSpPr>
        <p:spPr>
          <a:xfrm>
            <a:off x="855833" y="2667000"/>
            <a:ext cx="471604"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5</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52400" y="1524000"/>
          <a:ext cx="85344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pPr fontAlgn="auto">
              <a:spcAft>
                <a:spcPts val="0"/>
              </a:spcAft>
              <a:defRPr/>
            </a:pPr>
            <a:r>
              <a:rPr b="1" dirty="0" smtClean="0">
                <a:solidFill>
                  <a:srgbClr val="FFC000"/>
                </a:solidFill>
                <a:effectLst>
                  <a:outerShdw blurRad="38100" dist="38100" dir="2700000" algn="tl">
                    <a:srgbClr val="000000">
                      <a:alpha val="43137"/>
                    </a:srgbClr>
                  </a:outerShdw>
                </a:effectLst>
              </a:rPr>
              <a:t>Informal Procurement:</a:t>
            </a:r>
            <a:endParaRPr b="1" dirty="0">
              <a:solidFill>
                <a:srgbClr val="FFC000"/>
              </a:solidFill>
              <a:effectLst>
                <a:outerShdw blurRad="38100" dist="38100" dir="2700000" algn="tl">
                  <a:srgbClr val="000000">
                    <a:alpha val="43137"/>
                  </a:srgbClr>
                </a:outerShdw>
              </a:effectLst>
            </a:endParaRPr>
          </a:p>
        </p:txBody>
      </p:sp>
      <p:sp>
        <p:nvSpPr>
          <p:cNvPr id="4" name="Rectangle 3"/>
          <p:cNvSpPr/>
          <p:nvPr/>
        </p:nvSpPr>
        <p:spPr>
          <a:xfrm>
            <a:off x="2895600" y="1219200"/>
            <a:ext cx="409086"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1</a:t>
            </a:r>
          </a:p>
        </p:txBody>
      </p:sp>
      <p:sp>
        <p:nvSpPr>
          <p:cNvPr id="6" name="Rectangle 5"/>
          <p:cNvSpPr/>
          <p:nvPr/>
        </p:nvSpPr>
        <p:spPr>
          <a:xfrm>
            <a:off x="4876800" y="2667000"/>
            <a:ext cx="482824"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2</a:t>
            </a:r>
          </a:p>
        </p:txBody>
      </p:sp>
      <p:sp>
        <p:nvSpPr>
          <p:cNvPr id="7" name="Rectangle 6"/>
          <p:cNvSpPr/>
          <p:nvPr/>
        </p:nvSpPr>
        <p:spPr>
          <a:xfrm>
            <a:off x="4523051" y="4876800"/>
            <a:ext cx="465192"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3</a:t>
            </a:r>
          </a:p>
        </p:txBody>
      </p:sp>
      <p:sp>
        <p:nvSpPr>
          <p:cNvPr id="8" name="Rectangle 7"/>
          <p:cNvSpPr/>
          <p:nvPr/>
        </p:nvSpPr>
        <p:spPr>
          <a:xfrm>
            <a:off x="1371600" y="4953000"/>
            <a:ext cx="506870"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4</a:t>
            </a:r>
          </a:p>
        </p:txBody>
      </p:sp>
      <p:sp>
        <p:nvSpPr>
          <p:cNvPr id="9" name="Rectangle 8"/>
          <p:cNvSpPr/>
          <p:nvPr/>
        </p:nvSpPr>
        <p:spPr>
          <a:xfrm>
            <a:off x="855833" y="2667000"/>
            <a:ext cx="471604" cy="830997"/>
          </a:xfrm>
          <a:prstGeom prst="rect">
            <a:avLst/>
          </a:prstGeom>
          <a:noFill/>
        </p:spPr>
        <p:txBody>
          <a:bodyPr wrap="none">
            <a:spAutoFit/>
          </a:bodyPr>
          <a:lstStyle/>
          <a:p>
            <a:pPr algn="ctr" fontAlgn="auto">
              <a:spcBef>
                <a:spcPts val="0"/>
              </a:spcBef>
              <a:spcAft>
                <a:spcPts val="0"/>
              </a:spcAft>
              <a:defRPr/>
            </a:pPr>
            <a:r>
              <a:rPr lang="en-US" sz="48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n-lt"/>
              </a:rPr>
              <a:t>5</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76400"/>
            <a:ext cx="8229600" cy="4572000"/>
          </a:xfrm>
        </p:spPr>
        <p:txBody>
          <a:bodyPr>
            <a:normAutofit/>
          </a:bodyPr>
          <a:lstStyle/>
          <a:p>
            <a:pPr marL="274320" lvl="1" indent="-274320" fontAlgn="auto">
              <a:spcBef>
                <a:spcPts val="600"/>
              </a:spcBef>
              <a:spcAft>
                <a:spcPts val="0"/>
              </a:spcAft>
              <a:buClr>
                <a:schemeClr val="tx2">
                  <a:lumMod val="25000"/>
                </a:schemeClr>
              </a:buClr>
              <a:buFont typeface="Wingdings 2"/>
              <a:buChar char=""/>
              <a:defRPr/>
            </a:pPr>
            <a:r>
              <a:rPr lang="en-US" sz="3200" dirty="0" smtClean="0">
                <a:solidFill>
                  <a:schemeClr val="bg1"/>
                </a:solidFill>
              </a:rPr>
              <a:t>New website: </a:t>
            </a:r>
            <a:r>
              <a:rPr lang="en-US" sz="3200" dirty="0" smtClean="0">
                <a:solidFill>
                  <a:srgbClr val="0000FF"/>
                </a:solidFill>
              </a:rPr>
              <a:t>www.fns.usda.gov/cnd/F2S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Resources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USDA Grants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Policy</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Team Updates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Site visits</a:t>
            </a:r>
          </a:p>
          <a:p>
            <a:pPr marL="640080" lvl="1" indent="-274320" fontAlgn="auto">
              <a:spcAft>
                <a:spcPts val="0"/>
              </a:spcAft>
              <a:buClr>
                <a:schemeClr val="tx2">
                  <a:lumMod val="50000"/>
                </a:schemeClr>
              </a:buClr>
              <a:buFont typeface="Wingdings 2"/>
              <a:buChar char=""/>
              <a:defRPr/>
            </a:pPr>
            <a:r>
              <a:rPr lang="en-US" sz="3200" dirty="0" smtClean="0">
                <a:solidFill>
                  <a:schemeClr val="bg1"/>
                </a:solidFill>
              </a:rPr>
              <a:t>Webinars</a:t>
            </a:r>
          </a:p>
          <a:p>
            <a:pPr marL="274320" lvl="1" indent="-274320" fontAlgn="auto">
              <a:spcBef>
                <a:spcPts val="600"/>
              </a:spcBef>
              <a:spcAft>
                <a:spcPts val="0"/>
              </a:spcAft>
              <a:buClr>
                <a:schemeClr val="tx2">
                  <a:lumMod val="25000"/>
                </a:schemeClr>
              </a:buClr>
              <a:buFont typeface="Wingdings 2"/>
              <a:buNone/>
              <a:defRPr/>
            </a:pPr>
            <a:endParaRPr lang="en-US" sz="3200" dirty="0" smtClean="0">
              <a:solidFill>
                <a:schemeClr val="bg1"/>
              </a:solidFill>
            </a:endParaRPr>
          </a:p>
        </p:txBody>
      </p:sp>
      <p:sp>
        <p:nvSpPr>
          <p:cNvPr id="3" name="Title 2"/>
          <p:cNvSpPr>
            <a:spLocks noGrp="1"/>
          </p:cNvSpPr>
          <p:nvPr>
            <p:ph type="title"/>
          </p:nvPr>
        </p:nvSpPr>
        <p:spPr/>
        <p:txBody>
          <a:bodyPr/>
          <a:lstStyle/>
          <a:p>
            <a:pPr fontAlgn="auto">
              <a:spcAft>
                <a:spcPts val="0"/>
              </a:spcAft>
              <a:defRPr/>
            </a:pPr>
            <a:r>
              <a:rPr b="1" dirty="0" smtClean="0">
                <a:solidFill>
                  <a:srgbClr val="FFFFCC"/>
                </a:solidFill>
                <a:effectLst>
                  <a:outerShdw blurRad="38100" dist="38100" dir="2700000" algn="tl">
                    <a:srgbClr val="000000">
                      <a:alpha val="43137"/>
                    </a:srgbClr>
                  </a:outerShdw>
                </a:effectLst>
              </a:rPr>
              <a:t>           </a:t>
            </a:r>
            <a:r>
              <a:rPr sz="4400" b="1" dirty="0" smtClean="0">
                <a:solidFill>
                  <a:srgbClr val="FFC000"/>
                </a:solidFill>
                <a:effectLst>
                  <a:outerShdw blurRad="38100" dist="38100" dir="2700000" algn="tl">
                    <a:srgbClr val="000000">
                      <a:alpha val="43137"/>
                    </a:srgbClr>
                  </a:outerShdw>
                </a:effectLst>
              </a:rPr>
              <a:t>Farm to School Website</a:t>
            </a:r>
            <a:endParaRPr sz="4400" b="1" dirty="0">
              <a:solidFill>
                <a:srgbClr val="FFC000"/>
              </a:solidFill>
              <a:effectLst>
                <a:outerShdw blurRad="38100" dist="38100" dir="2700000" algn="tl">
                  <a:srgbClr val="000000">
                    <a:alpha val="43137"/>
                  </a:srgbClr>
                </a:outerShdw>
              </a:effectLst>
            </a:endParaRPr>
          </a:p>
        </p:txBody>
      </p:sp>
      <p:pic>
        <p:nvPicPr>
          <p:cNvPr id="33796" name="Picture 4" descr="http://t3.gstatic.com/images?q=tbn:EEUnXPtTf6my4M:http://afteramerica.files.wordpress.com/2010/01/usda-logo.jpg">
            <a:hlinkClick r:id="rId3"/>
          </p:cNvPr>
          <p:cNvPicPr>
            <a:picLocks noChangeAspect="1" noChangeArrowheads="1"/>
          </p:cNvPicPr>
          <p:nvPr/>
        </p:nvPicPr>
        <p:blipFill>
          <a:blip r:embed="rId4" cstate="print"/>
          <a:srcRect/>
          <a:stretch>
            <a:fillRect/>
          </a:stretch>
        </p:blipFill>
        <p:spPr bwMode="auto">
          <a:xfrm>
            <a:off x="304800" y="457200"/>
            <a:ext cx="1428750" cy="1028700"/>
          </a:xfrm>
          <a:prstGeom prst="rect">
            <a:avLst/>
          </a:prstGeom>
          <a:noFill/>
          <a:ln w="9525">
            <a:noFill/>
            <a:miter lim="800000"/>
            <a:headEnd/>
            <a:tailEnd/>
          </a:ln>
        </p:spPr>
      </p:pic>
      <p:pic>
        <p:nvPicPr>
          <p:cNvPr id="33797" name="Picture 5"/>
          <p:cNvPicPr>
            <a:picLocks noChangeAspect="1" noChangeArrowheads="1"/>
          </p:cNvPicPr>
          <p:nvPr/>
        </p:nvPicPr>
        <p:blipFill>
          <a:blip r:embed="rId5" cstate="print"/>
          <a:srcRect l="8653" t="10255" r="34296" b="5983"/>
          <a:stretch>
            <a:fillRect/>
          </a:stretch>
        </p:blipFill>
        <p:spPr bwMode="auto">
          <a:xfrm>
            <a:off x="4343400" y="2362200"/>
            <a:ext cx="34290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5386"/>
            <a:ext cx="8229600" cy="1143000"/>
          </a:xfrm>
        </p:spPr>
        <p:txBody>
          <a:bodyPr/>
          <a:lstStyle/>
          <a:p>
            <a:r>
              <a:rPr lang="en-US" b="1" dirty="0" smtClean="0">
                <a:solidFill>
                  <a:srgbClr val="FFC000"/>
                </a:solidFill>
              </a:rPr>
              <a:t>Where do I find this guidance?</a:t>
            </a:r>
            <a:endParaRPr lang="en-US" b="1" dirty="0">
              <a:solidFill>
                <a:srgbClr val="FFC000"/>
              </a:solidFill>
            </a:endParaRPr>
          </a:p>
        </p:txBody>
      </p:sp>
      <p:sp>
        <p:nvSpPr>
          <p:cNvPr id="4" name="TextBox 3"/>
          <p:cNvSpPr txBox="1"/>
          <p:nvPr/>
        </p:nvSpPr>
        <p:spPr>
          <a:xfrm>
            <a:off x="1219200" y="1371600"/>
            <a:ext cx="6705600" cy="400110"/>
          </a:xfrm>
          <a:prstGeom prst="rect">
            <a:avLst/>
          </a:prstGeom>
          <a:noFill/>
        </p:spPr>
        <p:txBody>
          <a:bodyPr wrap="square" rtlCol="0">
            <a:spAutoFit/>
          </a:bodyPr>
          <a:lstStyle/>
          <a:p>
            <a:r>
              <a:rPr lang="en-US" sz="2000" dirty="0" smtClean="0">
                <a:hlinkClick r:id="rId3"/>
              </a:rPr>
              <a:t>http://www.fns.usda.gov/cnd/governance/regulations.htm</a:t>
            </a:r>
            <a:endParaRPr lang="en-US" sz="2000" dirty="0"/>
          </a:p>
        </p:txBody>
      </p:sp>
      <p:sp>
        <p:nvSpPr>
          <p:cNvPr id="5" name="TextBox 4"/>
          <p:cNvSpPr txBox="1"/>
          <p:nvPr/>
        </p:nvSpPr>
        <p:spPr>
          <a:xfrm>
            <a:off x="1219200" y="1828800"/>
            <a:ext cx="6400800" cy="1323439"/>
          </a:xfrm>
          <a:prstGeom prst="rect">
            <a:avLst/>
          </a:prstGeom>
          <a:noFill/>
        </p:spPr>
        <p:txBody>
          <a:bodyPr wrap="square" rtlCol="0">
            <a:spAutoFit/>
          </a:bodyPr>
          <a:lstStyle/>
          <a:p>
            <a:r>
              <a:rPr lang="en-US" sz="2000" dirty="0" smtClean="0">
                <a:hlinkClick r:id="rId4"/>
              </a:rPr>
              <a:t>http://www.fns.usda.gov/cnd/F2S/f2spolicy.htm</a:t>
            </a:r>
            <a:endParaRPr lang="en-US" sz="2000" dirty="0" smtClean="0"/>
          </a:p>
          <a:p>
            <a:endParaRPr lang="en-US" sz="2000" dirty="0"/>
          </a:p>
          <a:p>
            <a:endParaRPr lang="en-US" sz="2000" dirty="0" smtClean="0"/>
          </a:p>
          <a:p>
            <a:endParaRPr lang="en-US" sz="2000" dirty="0"/>
          </a:p>
        </p:txBody>
      </p:sp>
      <p:sp>
        <p:nvSpPr>
          <p:cNvPr id="11" name="Rectangle 10"/>
          <p:cNvSpPr/>
          <p:nvPr/>
        </p:nvSpPr>
        <p:spPr>
          <a:xfrm>
            <a:off x="1688306" y="2514600"/>
            <a:ext cx="5767388" cy="1938992"/>
          </a:xfrm>
          <a:prstGeom prst="rect">
            <a:avLst/>
          </a:prstGeom>
        </p:spPr>
        <p:txBody>
          <a:bodyPr wrap="square">
            <a:spAutoFit/>
          </a:bodyPr>
          <a:lstStyle/>
          <a:p>
            <a:pPr lvl="0" algn="ctr"/>
            <a:r>
              <a:rPr lang="en-US" sz="2400" dirty="0" smtClean="0">
                <a:solidFill>
                  <a:prstClr val="black"/>
                </a:solidFill>
              </a:rPr>
              <a:t>Denise Hagan, Director,  KY DOE</a:t>
            </a:r>
          </a:p>
          <a:p>
            <a:pPr lvl="0" algn="ctr"/>
            <a:r>
              <a:rPr lang="en-US" sz="2400" dirty="0" smtClean="0">
                <a:solidFill>
                  <a:prstClr val="black"/>
                </a:solidFill>
              </a:rPr>
              <a:t>School and Community Nutrition</a:t>
            </a:r>
          </a:p>
          <a:p>
            <a:pPr lvl="0" algn="ctr"/>
            <a:r>
              <a:rPr lang="en-US" sz="2400" dirty="0" smtClean="0">
                <a:solidFill>
                  <a:prstClr val="black"/>
                </a:solidFill>
              </a:rPr>
              <a:t>(502) 564-5625; </a:t>
            </a:r>
          </a:p>
          <a:p>
            <a:pPr lvl="0" algn="ctr"/>
            <a:r>
              <a:rPr lang="en-US" sz="2400" u="sng" dirty="0" smtClean="0">
                <a:solidFill>
                  <a:prstClr val="black"/>
                </a:solidFill>
                <a:hlinkClick r:id="rId5"/>
              </a:rPr>
              <a:t>denise.hagan@education.ky.gov</a:t>
            </a:r>
            <a:endParaRPr lang="en-US" sz="2400" u="sng" dirty="0" smtClean="0">
              <a:solidFill>
                <a:prstClr val="black"/>
              </a:solidFill>
            </a:endParaRPr>
          </a:p>
          <a:p>
            <a:pPr lvl="0" algn="ctr"/>
            <a:endParaRPr lang="en-US" sz="2400" dirty="0" smtClean="0">
              <a:solidFill>
                <a:prstClr val="black"/>
              </a:solidFill>
            </a:endParaRPr>
          </a:p>
        </p:txBody>
      </p:sp>
    </p:spTree>
    <p:extLst>
      <p:ext uri="{BB962C8B-B14F-4D97-AF65-F5344CB8AC3E}">
        <p14:creationId xmlns:p14="http://schemas.microsoft.com/office/powerpoint/2010/main" val="13924198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09600" y="2743200"/>
            <a:ext cx="8305800" cy="2133600"/>
          </a:xfrm>
        </p:spPr>
        <p:txBody>
          <a:bodyPr/>
          <a:lstStyle/>
          <a:p>
            <a:pPr fontAlgn="auto">
              <a:spcAft>
                <a:spcPts val="0"/>
              </a:spcAft>
              <a:defRPr/>
            </a:pPr>
            <a:r>
              <a:rPr sz="6600" b="1" dirty="0" smtClean="0">
                <a:effectLst>
                  <a:outerShdw blurRad="38100" dist="38100" dir="2700000" algn="tl">
                    <a:srgbClr val="000000">
                      <a:alpha val="43137"/>
                    </a:srgbClr>
                  </a:outerShdw>
                </a:effectLst>
              </a:rPr>
              <a:t/>
            </a:r>
            <a:br>
              <a:rPr sz="6600" b="1" dirty="0" smtClean="0">
                <a:effectLst>
                  <a:outerShdw blurRad="38100" dist="38100" dir="2700000" algn="tl">
                    <a:srgbClr val="000000">
                      <a:alpha val="43137"/>
                    </a:srgbClr>
                  </a:outerShdw>
                </a:effectLst>
              </a:rPr>
            </a:br>
            <a:r>
              <a:rPr sz="6600" b="1" dirty="0" smtClean="0">
                <a:effectLst>
                  <a:outerShdw blurRad="38100" dist="38100" dir="2700000" algn="tl">
                    <a:srgbClr val="000000">
                      <a:alpha val="43137"/>
                    </a:srgbClr>
                  </a:outerShdw>
                </a:effectLst>
              </a:rPr>
              <a:t/>
            </a:r>
            <a:br>
              <a:rPr sz="6600" b="1" dirty="0" smtClean="0">
                <a:effectLst>
                  <a:outerShdw blurRad="38100" dist="38100" dir="2700000" algn="tl">
                    <a:srgbClr val="000000">
                      <a:alpha val="43137"/>
                    </a:srgbClr>
                  </a:outerShdw>
                </a:effectLst>
              </a:rPr>
            </a:br>
            <a:r>
              <a:rPr sz="6000" b="1" dirty="0" smtClean="0">
                <a:effectLst>
                  <a:outerShdw blurRad="38100" dist="38100" dir="2700000" algn="tl">
                    <a:srgbClr val="000000">
                      <a:alpha val="43137"/>
                    </a:srgbClr>
                  </a:outerShdw>
                </a:effectLst>
              </a:rPr>
              <a:t>Thank you!</a:t>
            </a:r>
            <a:r>
              <a:rPr sz="6600" b="1" dirty="0" smtClean="0">
                <a:effectLst>
                  <a:outerShdw blurRad="38100" dist="38100" dir="2700000" algn="tl">
                    <a:srgbClr val="000000">
                      <a:alpha val="43137"/>
                    </a:srgbClr>
                  </a:outerShdw>
                </a:effectLst>
              </a:rPr>
              <a:t/>
            </a:r>
            <a:br>
              <a:rPr sz="6600" b="1" dirty="0" smtClean="0">
                <a:effectLst>
                  <a:outerShdw blurRad="38100" dist="38100" dir="2700000" algn="tl">
                    <a:srgbClr val="000000">
                      <a:alpha val="43137"/>
                    </a:srgbClr>
                  </a:outerShdw>
                </a:effectLst>
              </a:rPr>
            </a:br>
            <a:r>
              <a:rPr sz="6600" b="1" dirty="0" smtClean="0">
                <a:effectLst>
                  <a:outerShdw blurRad="38100" dist="38100" dir="2700000" algn="tl">
                    <a:srgbClr val="000000">
                      <a:alpha val="43137"/>
                    </a:srgbClr>
                  </a:outerShdw>
                </a:effectLst>
              </a:rPr>
              <a:t/>
            </a:r>
            <a:br>
              <a:rPr sz="6600" b="1" dirty="0" smtClean="0">
                <a:effectLst>
                  <a:outerShdw blurRad="38100" dist="38100" dir="2700000" algn="tl">
                    <a:srgbClr val="000000">
                      <a:alpha val="43137"/>
                    </a:srgbClr>
                  </a:outerShdw>
                </a:effectLst>
              </a:rPr>
            </a:br>
            <a:r>
              <a:rPr sz="6600" b="1" dirty="0" smtClean="0">
                <a:effectLst>
                  <a:outerShdw blurRad="38100" dist="38100" dir="2700000" algn="tl">
                    <a:srgbClr val="000000">
                      <a:alpha val="43137"/>
                    </a:srgbClr>
                  </a:outerShdw>
                </a:effectLst>
              </a:rPr>
              <a:t/>
            </a:r>
            <a:br>
              <a:rPr sz="6600" b="1" dirty="0" smtClean="0">
                <a:effectLst>
                  <a:outerShdw blurRad="38100" dist="38100" dir="2700000" algn="tl">
                    <a:srgbClr val="000000">
                      <a:alpha val="43137"/>
                    </a:srgbClr>
                  </a:outerShdw>
                </a:effectLst>
              </a:rPr>
            </a:br>
            <a:r>
              <a:rPr sz="6600" b="1" dirty="0" smtClean="0">
                <a:effectLst>
                  <a:outerShdw blurRad="38100" dist="38100" dir="2700000" algn="tl">
                    <a:srgbClr val="000000">
                      <a:alpha val="43137"/>
                    </a:srgbClr>
                  </a:outerShdw>
                </a:effectLst>
              </a:rPr>
              <a:t>Questions?</a:t>
            </a:r>
            <a:endParaRPr sz="66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5208</TotalTime>
  <Words>1669</Words>
  <Application>Microsoft Office PowerPoint</Application>
  <PresentationFormat>On-screen Show (4:3)</PresentationFormat>
  <Paragraphs>229</Paragraphs>
  <Slides>42</Slides>
  <Notes>42</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Paper</vt:lpstr>
      <vt:lpstr>Procuring Local Foods </vt:lpstr>
      <vt:lpstr>Today’s Goals </vt:lpstr>
      <vt:lpstr>General Procurement</vt:lpstr>
      <vt:lpstr>Competition!</vt:lpstr>
      <vt:lpstr>Full and Open Competition</vt:lpstr>
      <vt:lpstr>Full and Open Competition</vt:lpstr>
      <vt:lpstr>Full and Open Competition</vt:lpstr>
      <vt:lpstr>Local rule</vt:lpstr>
      <vt:lpstr>Why is competition important? </vt:lpstr>
      <vt:lpstr>Why is competition important?</vt:lpstr>
      <vt:lpstr>What regulations must SFAs follow?</vt:lpstr>
      <vt:lpstr>Procurement Framework</vt:lpstr>
      <vt:lpstr>Procurement Methods</vt:lpstr>
      <vt:lpstr>Small Purchase Threshold</vt:lpstr>
      <vt:lpstr>What does this mean?</vt:lpstr>
      <vt:lpstr>Formal Procurement Methods</vt:lpstr>
      <vt:lpstr>What does this mean?</vt:lpstr>
      <vt:lpstr>Keep in mind…</vt:lpstr>
      <vt:lpstr>How SFAs Can Purchase from Local Producers</vt:lpstr>
      <vt:lpstr>Developing Product Specifications </vt:lpstr>
      <vt:lpstr>Evaluating Current FS Needs</vt:lpstr>
      <vt:lpstr>Developing Specifications</vt:lpstr>
      <vt:lpstr>Developing Specifications</vt:lpstr>
      <vt:lpstr>Developing Specifications</vt:lpstr>
      <vt:lpstr>Developing Specifications</vt:lpstr>
      <vt:lpstr>Direct from Farmer</vt:lpstr>
      <vt:lpstr>Farmer Cooperatives (Co-ops)</vt:lpstr>
      <vt:lpstr>Farmers’ Markets</vt:lpstr>
      <vt:lpstr>Regional Wholesaler</vt:lpstr>
      <vt:lpstr>Form Buying Cooperatives</vt:lpstr>
      <vt:lpstr>Geographic Preference</vt:lpstr>
      <vt:lpstr>Geographic Preference</vt:lpstr>
      <vt:lpstr>Geographic Preference</vt:lpstr>
      <vt:lpstr>Geographic Preference</vt:lpstr>
      <vt:lpstr>Geographic Preference</vt:lpstr>
      <vt:lpstr>Geographic Preference</vt:lpstr>
      <vt:lpstr>How a Geographic Preference Can Work in Procurement</vt:lpstr>
      <vt:lpstr>Formal Procurement:</vt:lpstr>
      <vt:lpstr>Informal Procurement:</vt:lpstr>
      <vt:lpstr>           Farm to School Website</vt:lpstr>
      <vt:lpstr>Where do I find this guidance?</vt:lpstr>
      <vt:lpstr>  Thank you!   Questions?</vt:lpstr>
    </vt:vector>
  </TitlesOfParts>
  <Company>USDA/FNS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Procuring Food For the  School Meals Programs: 101</dc:title>
  <dc:creator>JKupcha</dc:creator>
  <cp:lastModifiedBy>vcrouch</cp:lastModifiedBy>
  <cp:revision>462</cp:revision>
  <cp:lastPrinted>2012-03-21T11:51:22Z</cp:lastPrinted>
  <dcterms:created xsi:type="dcterms:W3CDTF">2010-03-23T17:12:41Z</dcterms:created>
  <dcterms:modified xsi:type="dcterms:W3CDTF">2012-03-21T11:51:36Z</dcterms:modified>
</cp:coreProperties>
</file>