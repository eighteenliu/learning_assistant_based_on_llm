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customXml/itemProps1.xml" ContentType="application/vnd.openxmlformats-officedocument.customXmlProperties+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customXml/itemProps2.xml" ContentType="application/vnd.openxmlformats-officedocument.customXmlProperties+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7" r:id="rId3"/>
    <p:sldId id="259" r:id="rId4"/>
    <p:sldId id="266" r:id="rId5"/>
    <p:sldId id="265" r:id="rId6"/>
    <p:sldId id="258" r:id="rId7"/>
    <p:sldId id="260" r:id="rId8"/>
    <p:sldId id="261" r:id="rId9"/>
    <p:sldId id="262" r:id="rId10"/>
    <p:sldId id="263" r:id="rId11"/>
    <p:sldId id="264" r:id="rId12"/>
    <p:sldId id="257" r:id="rId13"/>
    <p:sldId id="267" r:id="rId14"/>
    <p:sldId id="268" r:id="rId15"/>
    <p:sldId id="269" r:id="rId16"/>
    <p:sldId id="272" r:id="rId17"/>
    <p:sldId id="273" r:id="rId18"/>
    <p:sldId id="270" r:id="rId19"/>
    <p:sldId id="271" r:id="rId20"/>
    <p:sldId id="274" r:id="rId21"/>
    <p:sldId id="275" r:id="rId22"/>
    <p:sldId id="276"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522"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 Id="rId30"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A418BDE-2C42-43F4-BE4C-4706EC2AE641}" type="datetimeFigureOut">
              <a:rPr lang="en-US" smtClean="0"/>
              <a:pPr/>
              <a:t>6/1/2011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7CDD5-89CF-47D8-9ECA-21098277953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418BDE-2C42-43F4-BE4C-4706EC2AE641}" type="datetimeFigureOut">
              <a:rPr lang="en-US" smtClean="0"/>
              <a:pPr/>
              <a:t>6/1/2011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7CDD5-89CF-47D8-9ECA-21098277953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A418BDE-2C42-43F4-BE4C-4706EC2AE641}" type="datetimeFigureOut">
              <a:rPr lang="en-US" smtClean="0"/>
              <a:pPr/>
              <a:t>6/1/2011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7CDD5-89CF-47D8-9ECA-21098277953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A418BDE-2C42-43F4-BE4C-4706EC2AE641}" type="datetimeFigureOut">
              <a:rPr lang="en-US" smtClean="0"/>
              <a:pPr/>
              <a:t>6/1/2011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7CDD5-89CF-47D8-9ECA-21098277953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A418BDE-2C42-43F4-BE4C-4706EC2AE641}" type="datetimeFigureOut">
              <a:rPr lang="en-US" smtClean="0"/>
              <a:pPr/>
              <a:t>6/1/2011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87CDD5-89CF-47D8-9ECA-21098277953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A418BDE-2C42-43F4-BE4C-4706EC2AE641}" type="datetimeFigureOut">
              <a:rPr lang="en-US" smtClean="0"/>
              <a:pPr/>
              <a:t>6/1/2011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87CDD5-89CF-47D8-9ECA-21098277953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418BDE-2C42-43F4-BE4C-4706EC2AE641}" type="datetimeFigureOut">
              <a:rPr lang="en-US" smtClean="0"/>
              <a:pPr/>
              <a:t>6/1/2011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987CDD5-89CF-47D8-9ECA-21098277953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A418BDE-2C42-43F4-BE4C-4706EC2AE641}" type="datetimeFigureOut">
              <a:rPr lang="en-US" smtClean="0"/>
              <a:pPr/>
              <a:t>6/1/2011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7CDD5-89CF-47D8-9ECA-21098277953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A418BDE-2C42-43F4-BE4C-4706EC2AE641}" type="datetimeFigureOut">
              <a:rPr lang="en-US" smtClean="0"/>
              <a:pPr/>
              <a:t>6/1/2011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7CDD5-89CF-47D8-9ECA-21098277953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418BDE-2C42-43F4-BE4C-4706EC2AE641}" type="datetimeFigureOut">
              <a:rPr lang="en-US" smtClean="0"/>
              <a:pPr/>
              <a:t>6/1/2011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7CDD5-89CF-47D8-9ECA-21098277953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418BDE-2C42-43F4-BE4C-4706EC2AE641}" type="datetimeFigureOut">
              <a:rPr lang="en-US" smtClean="0"/>
              <a:pPr/>
              <a:t>6/1/2011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7CDD5-89CF-47D8-9ECA-21098277953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418BDE-2C42-43F4-BE4C-4706EC2AE641}" type="datetimeFigureOut">
              <a:rPr lang="en-US" smtClean="0"/>
              <a:pPr/>
              <a:t>6/1/2011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87CDD5-89CF-47D8-9ECA-210982779539}"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04800"/>
            <a:ext cx="7772400" cy="1470025"/>
          </a:xfrm>
        </p:spPr>
        <p:txBody>
          <a:bodyPr>
            <a:normAutofit fontScale="90000"/>
          </a:bodyPr>
          <a:lstStyle/>
          <a:p>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sz="2700" dirty="0" smtClean="0"/>
              <a:t>U.S. Department of State</a:t>
            </a:r>
            <a:br>
              <a:rPr lang="en-US" sz="2700" dirty="0" smtClean="0"/>
            </a:br>
            <a:r>
              <a:rPr lang="en-US" sz="2700" dirty="0" smtClean="0"/>
              <a:t>Bureau of Population, Refugees, and Migration (PRM)</a:t>
            </a:r>
            <a:r>
              <a:rPr lang="en-US" dirty="0" smtClean="0"/>
              <a:t/>
            </a:r>
            <a:br>
              <a:rPr lang="en-US" dirty="0" smtClean="0"/>
            </a:br>
            <a:r>
              <a:rPr lang="en-US" dirty="0" smtClean="0"/>
              <a:t/>
            </a:r>
            <a:br>
              <a:rPr lang="en-US" dirty="0" smtClean="0"/>
            </a:br>
            <a:r>
              <a:rPr lang="en-US" sz="4000" dirty="0" smtClean="0"/>
              <a:t>PRM’s Protracted Refugee Situations Strategy :</a:t>
            </a:r>
            <a:br>
              <a:rPr lang="en-US" sz="4000" dirty="0" smtClean="0"/>
            </a:br>
            <a:r>
              <a:rPr lang="en-US" sz="4000" dirty="0" smtClean="0"/>
              <a:t> </a:t>
            </a:r>
            <a:br>
              <a:rPr lang="en-US" sz="4000" dirty="0" smtClean="0"/>
            </a:br>
            <a:r>
              <a:rPr lang="en-US" sz="4000" dirty="0" smtClean="0"/>
              <a:t>Research Findings</a:t>
            </a:r>
            <a:br>
              <a:rPr lang="en-US" sz="4000" dirty="0" smtClean="0"/>
            </a:br>
            <a:r>
              <a:rPr lang="en-US" sz="4000" dirty="0" smtClean="0"/>
              <a:t>and Preliminary Evaluation Results</a:t>
            </a:r>
            <a:br>
              <a:rPr lang="en-US" sz="4000" dirty="0" smtClean="0"/>
            </a:br>
            <a:r>
              <a:rPr lang="en-US" sz="4000" dirty="0" smtClean="0"/>
              <a:t/>
            </a:r>
            <a:br>
              <a:rPr lang="en-US" sz="4000" dirty="0" smtClean="0"/>
            </a:br>
            <a:r>
              <a:rPr lang="en-US" sz="4000" dirty="0" smtClean="0"/>
              <a:t/>
            </a:r>
            <a:br>
              <a:rPr lang="en-US" sz="4000" dirty="0" smtClean="0"/>
            </a:br>
            <a:r>
              <a:rPr lang="en-US" sz="2200" dirty="0" smtClean="0"/>
              <a:t>Department of State Evaluation Conference</a:t>
            </a:r>
            <a:br>
              <a:rPr lang="en-US" sz="2200" dirty="0" smtClean="0"/>
            </a:br>
            <a:r>
              <a:rPr lang="en-US" sz="2200" dirty="0" smtClean="0"/>
              <a:t>June 7, 2011</a:t>
            </a:r>
            <a:endParaRPr lang="en-US" sz="2200" dirty="0"/>
          </a:p>
        </p:txBody>
      </p:sp>
      <p:sp>
        <p:nvSpPr>
          <p:cNvPr id="4" name="Subtitle 3"/>
          <p:cNvSpPr>
            <a:spLocks noGrp="1"/>
          </p:cNvSpPr>
          <p:nvPr>
            <p:ph type="subTitle" idx="1"/>
          </p:nvPr>
        </p:nvSpPr>
        <p:spPr>
          <a:xfrm>
            <a:off x="1447800" y="6324600"/>
            <a:ext cx="6400800" cy="1752600"/>
          </a:xfrm>
        </p:spPr>
        <p:txBody>
          <a:bodyPr/>
          <a:lstStyle/>
          <a:p>
            <a:r>
              <a:rPr lang="en-US" sz="2000" dirty="0" smtClean="0"/>
              <a:t>Presented by: Fruzsina Csaszar, PRM</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3"/>
          <p:cNvGrpSpPr>
            <a:grpSpLocks/>
          </p:cNvGrpSpPr>
          <p:nvPr/>
        </p:nvGrpSpPr>
        <p:grpSpPr bwMode="auto">
          <a:xfrm>
            <a:off x="3276319" y="1675959"/>
            <a:ext cx="1233212" cy="4496699"/>
            <a:chOff x="1976" y="1050"/>
            <a:chExt cx="842" cy="2834"/>
          </a:xfrm>
        </p:grpSpPr>
        <p:pic>
          <p:nvPicPr>
            <p:cNvPr id="608307" name="Picture 51"/>
            <p:cNvPicPr preferRelativeResize="0">
              <a:picLocks noChangeAspect="1" noChangeArrowheads="1"/>
            </p:cNvPicPr>
            <p:nvPr/>
          </p:nvPicPr>
          <p:blipFill>
            <a:blip r:embed="rId2" cstate="print"/>
            <a:srcRect/>
            <a:stretch>
              <a:fillRect/>
            </a:stretch>
          </p:blipFill>
          <p:spPr bwMode="auto">
            <a:xfrm>
              <a:off x="1986" y="1060"/>
              <a:ext cx="822" cy="2814"/>
            </a:xfrm>
            <a:prstGeom prst="rect">
              <a:avLst/>
            </a:prstGeom>
            <a:noFill/>
            <a:ln w="25400">
              <a:noFill/>
              <a:miter lim="800000"/>
              <a:headEnd/>
              <a:tailEnd/>
            </a:ln>
          </p:spPr>
        </p:pic>
        <p:sp>
          <p:nvSpPr>
            <p:cNvPr id="608308" name="Rectangle 52"/>
            <p:cNvSpPr>
              <a:spLocks noChangeArrowheads="1"/>
            </p:cNvSpPr>
            <p:nvPr/>
          </p:nvSpPr>
          <p:spPr bwMode="auto">
            <a:xfrm>
              <a:off x="1976" y="1050"/>
              <a:ext cx="842" cy="2834"/>
            </a:xfrm>
            <a:prstGeom prst="rect">
              <a:avLst/>
            </a:prstGeom>
            <a:noFill/>
            <a:ln w="25400">
              <a:solidFill>
                <a:srgbClr val="000000"/>
              </a:solidFill>
              <a:miter lim="800000"/>
              <a:headEnd/>
              <a:tailEnd/>
            </a:ln>
          </p:spPr>
          <p:txBody>
            <a:bodyPr/>
            <a:lstStyle/>
            <a:p>
              <a:endParaRPr lang="en-US"/>
            </a:p>
          </p:txBody>
        </p:sp>
      </p:grpSp>
      <p:grpSp>
        <p:nvGrpSpPr>
          <p:cNvPr id="3" name="Group 56"/>
          <p:cNvGrpSpPr>
            <a:grpSpLocks/>
          </p:cNvGrpSpPr>
          <p:nvPr/>
        </p:nvGrpSpPr>
        <p:grpSpPr bwMode="auto">
          <a:xfrm>
            <a:off x="7619755" y="1675959"/>
            <a:ext cx="1296417" cy="4496699"/>
            <a:chOff x="4650" y="1046"/>
            <a:chExt cx="832" cy="2846"/>
          </a:xfrm>
        </p:grpSpPr>
        <p:pic>
          <p:nvPicPr>
            <p:cNvPr id="608310" name="Picture 54"/>
            <p:cNvPicPr preferRelativeResize="0">
              <a:picLocks noChangeAspect="1" noChangeArrowheads="1"/>
            </p:cNvPicPr>
            <p:nvPr/>
          </p:nvPicPr>
          <p:blipFill>
            <a:blip r:embed="rId3" cstate="print"/>
            <a:srcRect/>
            <a:stretch>
              <a:fillRect/>
            </a:stretch>
          </p:blipFill>
          <p:spPr bwMode="auto">
            <a:xfrm>
              <a:off x="4660" y="1056"/>
              <a:ext cx="812" cy="2826"/>
            </a:xfrm>
            <a:prstGeom prst="rect">
              <a:avLst/>
            </a:prstGeom>
            <a:noFill/>
            <a:ln w="25400">
              <a:noFill/>
              <a:miter lim="800000"/>
              <a:headEnd/>
              <a:tailEnd/>
            </a:ln>
          </p:spPr>
        </p:pic>
        <p:sp>
          <p:nvSpPr>
            <p:cNvPr id="608311" name="Rectangle 55"/>
            <p:cNvSpPr>
              <a:spLocks noChangeArrowheads="1"/>
            </p:cNvSpPr>
            <p:nvPr/>
          </p:nvSpPr>
          <p:spPr bwMode="auto">
            <a:xfrm>
              <a:off x="4650" y="1046"/>
              <a:ext cx="832" cy="2846"/>
            </a:xfrm>
            <a:prstGeom prst="rect">
              <a:avLst/>
            </a:prstGeom>
            <a:noFill/>
            <a:ln w="25400">
              <a:solidFill>
                <a:srgbClr val="000000"/>
              </a:solidFill>
              <a:miter lim="800000"/>
              <a:headEnd/>
              <a:tailEnd/>
            </a:ln>
          </p:spPr>
          <p:txBody>
            <a:bodyPr/>
            <a:lstStyle/>
            <a:p>
              <a:endParaRPr lang="en-US"/>
            </a:p>
          </p:txBody>
        </p:sp>
      </p:grpSp>
      <p:grpSp>
        <p:nvGrpSpPr>
          <p:cNvPr id="4" name="Group 59"/>
          <p:cNvGrpSpPr>
            <a:grpSpLocks/>
          </p:cNvGrpSpPr>
          <p:nvPr/>
        </p:nvGrpSpPr>
        <p:grpSpPr bwMode="auto">
          <a:xfrm>
            <a:off x="6248376" y="1675959"/>
            <a:ext cx="1212634" cy="4496699"/>
            <a:chOff x="3772" y="1046"/>
            <a:chExt cx="828" cy="2846"/>
          </a:xfrm>
        </p:grpSpPr>
        <p:pic>
          <p:nvPicPr>
            <p:cNvPr id="608313" name="Picture 57"/>
            <p:cNvPicPr preferRelativeResize="0">
              <a:picLocks noChangeAspect="1" noChangeArrowheads="1"/>
            </p:cNvPicPr>
            <p:nvPr/>
          </p:nvPicPr>
          <p:blipFill>
            <a:blip r:embed="rId4" cstate="print"/>
            <a:srcRect/>
            <a:stretch>
              <a:fillRect/>
            </a:stretch>
          </p:blipFill>
          <p:spPr bwMode="auto">
            <a:xfrm>
              <a:off x="3784" y="1056"/>
              <a:ext cx="806" cy="2826"/>
            </a:xfrm>
            <a:prstGeom prst="rect">
              <a:avLst/>
            </a:prstGeom>
            <a:noFill/>
            <a:ln w="25400">
              <a:noFill/>
              <a:miter lim="800000"/>
              <a:headEnd/>
              <a:tailEnd/>
            </a:ln>
          </p:spPr>
        </p:pic>
        <p:sp>
          <p:nvSpPr>
            <p:cNvPr id="608314" name="Rectangle 58"/>
            <p:cNvSpPr>
              <a:spLocks noChangeArrowheads="1"/>
            </p:cNvSpPr>
            <p:nvPr/>
          </p:nvSpPr>
          <p:spPr bwMode="auto">
            <a:xfrm>
              <a:off x="3772" y="1046"/>
              <a:ext cx="828" cy="2846"/>
            </a:xfrm>
            <a:prstGeom prst="rect">
              <a:avLst/>
            </a:prstGeom>
            <a:noFill/>
            <a:ln w="25400">
              <a:solidFill>
                <a:srgbClr val="000000"/>
              </a:solidFill>
              <a:miter lim="800000"/>
              <a:headEnd/>
              <a:tailEnd/>
            </a:ln>
          </p:spPr>
          <p:txBody>
            <a:bodyPr/>
            <a:lstStyle/>
            <a:p>
              <a:endParaRPr lang="en-US"/>
            </a:p>
          </p:txBody>
        </p:sp>
      </p:grpSp>
      <p:grpSp>
        <p:nvGrpSpPr>
          <p:cNvPr id="5" name="Group 62"/>
          <p:cNvGrpSpPr>
            <a:grpSpLocks/>
          </p:cNvGrpSpPr>
          <p:nvPr/>
        </p:nvGrpSpPr>
        <p:grpSpPr bwMode="auto">
          <a:xfrm>
            <a:off x="4725600" y="1675959"/>
            <a:ext cx="1305236" cy="4493646"/>
            <a:chOff x="2850" y="1052"/>
            <a:chExt cx="892" cy="2830"/>
          </a:xfrm>
        </p:grpSpPr>
        <p:pic>
          <p:nvPicPr>
            <p:cNvPr id="608316" name="Picture 60"/>
            <p:cNvPicPr preferRelativeResize="0">
              <a:picLocks noChangeAspect="1" noChangeArrowheads="1"/>
            </p:cNvPicPr>
            <p:nvPr/>
          </p:nvPicPr>
          <p:blipFill>
            <a:blip r:embed="rId5" cstate="print"/>
            <a:srcRect/>
            <a:stretch>
              <a:fillRect/>
            </a:stretch>
          </p:blipFill>
          <p:spPr bwMode="auto">
            <a:xfrm>
              <a:off x="2862" y="1064"/>
              <a:ext cx="872" cy="2810"/>
            </a:xfrm>
            <a:prstGeom prst="rect">
              <a:avLst/>
            </a:prstGeom>
            <a:noFill/>
            <a:ln w="25400">
              <a:noFill/>
              <a:miter lim="800000"/>
              <a:headEnd/>
              <a:tailEnd/>
            </a:ln>
          </p:spPr>
        </p:pic>
        <p:sp>
          <p:nvSpPr>
            <p:cNvPr id="608317" name="Rectangle 61"/>
            <p:cNvSpPr>
              <a:spLocks noChangeArrowheads="1"/>
            </p:cNvSpPr>
            <p:nvPr/>
          </p:nvSpPr>
          <p:spPr bwMode="auto">
            <a:xfrm>
              <a:off x="2850" y="1052"/>
              <a:ext cx="892" cy="2830"/>
            </a:xfrm>
            <a:prstGeom prst="rect">
              <a:avLst/>
            </a:prstGeom>
            <a:noFill/>
            <a:ln w="25400">
              <a:solidFill>
                <a:srgbClr val="000000"/>
              </a:solidFill>
              <a:miter lim="800000"/>
              <a:headEnd/>
              <a:tailEnd/>
            </a:ln>
          </p:spPr>
          <p:txBody>
            <a:bodyPr/>
            <a:lstStyle/>
            <a:p>
              <a:endParaRPr lang="en-US"/>
            </a:p>
          </p:txBody>
        </p:sp>
      </p:grpSp>
      <p:grpSp>
        <p:nvGrpSpPr>
          <p:cNvPr id="6" name="Group 67"/>
          <p:cNvGrpSpPr>
            <a:grpSpLocks/>
          </p:cNvGrpSpPr>
          <p:nvPr/>
        </p:nvGrpSpPr>
        <p:grpSpPr bwMode="auto">
          <a:xfrm>
            <a:off x="227829" y="1675959"/>
            <a:ext cx="1261140" cy="4511962"/>
            <a:chOff x="200" y="1046"/>
            <a:chExt cx="860" cy="2842"/>
          </a:xfrm>
        </p:grpSpPr>
        <p:pic>
          <p:nvPicPr>
            <p:cNvPr id="608321" name="Picture 65"/>
            <p:cNvPicPr>
              <a:picLocks noChangeAspect="1" noChangeArrowheads="1"/>
            </p:cNvPicPr>
            <p:nvPr/>
          </p:nvPicPr>
          <p:blipFill>
            <a:blip r:embed="rId6" cstate="print"/>
            <a:srcRect/>
            <a:stretch>
              <a:fillRect/>
            </a:stretch>
          </p:blipFill>
          <p:spPr bwMode="auto">
            <a:xfrm>
              <a:off x="212" y="1058"/>
              <a:ext cx="838" cy="2822"/>
            </a:xfrm>
            <a:prstGeom prst="rect">
              <a:avLst/>
            </a:prstGeom>
            <a:noFill/>
            <a:ln w="9525">
              <a:noFill/>
              <a:miter lim="800000"/>
              <a:headEnd/>
              <a:tailEnd/>
            </a:ln>
          </p:spPr>
        </p:pic>
        <p:sp>
          <p:nvSpPr>
            <p:cNvPr id="608322" name="Rectangle 66"/>
            <p:cNvSpPr>
              <a:spLocks noChangeArrowheads="1"/>
            </p:cNvSpPr>
            <p:nvPr/>
          </p:nvSpPr>
          <p:spPr bwMode="auto">
            <a:xfrm>
              <a:off x="200" y="1046"/>
              <a:ext cx="860" cy="2842"/>
            </a:xfrm>
            <a:prstGeom prst="rect">
              <a:avLst/>
            </a:prstGeom>
            <a:noFill/>
            <a:ln w="28575">
              <a:solidFill>
                <a:srgbClr val="000000"/>
              </a:solidFill>
              <a:miter lim="800000"/>
              <a:headEnd/>
              <a:tailEnd/>
            </a:ln>
          </p:spPr>
          <p:txBody>
            <a:bodyPr/>
            <a:lstStyle/>
            <a:p>
              <a:endParaRPr lang="en-US"/>
            </a:p>
          </p:txBody>
        </p:sp>
      </p:grpSp>
      <p:pic>
        <p:nvPicPr>
          <p:cNvPr id="608327" name="Picture 71" descr="main-photo"/>
          <p:cNvPicPr preferRelativeResize="0">
            <a:picLocks noChangeAspect="1" noChangeArrowheads="1"/>
          </p:cNvPicPr>
          <p:nvPr/>
        </p:nvPicPr>
        <p:blipFill>
          <a:blip r:embed="rId7" cstate="print"/>
          <a:srcRect l="9329" t="6256" r="48056" b="378"/>
          <a:stretch>
            <a:fillRect/>
          </a:stretch>
        </p:blipFill>
        <p:spPr bwMode="auto">
          <a:xfrm>
            <a:off x="1677111" y="1675959"/>
            <a:ext cx="1380198" cy="4504331"/>
          </a:xfrm>
          <a:prstGeom prst="rect">
            <a:avLst/>
          </a:prstGeom>
          <a:noFill/>
          <a:ln w="25400">
            <a:solidFill>
              <a:schemeClr val="tx1"/>
            </a:solidFill>
            <a:miter lim="800000"/>
            <a:headEnd/>
            <a:tailEnd/>
          </a:ln>
        </p:spPr>
      </p:pic>
      <p:sp>
        <p:nvSpPr>
          <p:cNvPr id="608329" name="Rectangle 73"/>
          <p:cNvSpPr>
            <a:spLocks noChangeArrowheads="1"/>
          </p:cNvSpPr>
          <p:nvPr/>
        </p:nvSpPr>
        <p:spPr bwMode="auto">
          <a:xfrm>
            <a:off x="0" y="6172657"/>
            <a:ext cx="9144000" cy="685343"/>
          </a:xfrm>
          <a:prstGeom prst="rect">
            <a:avLst/>
          </a:prstGeom>
          <a:noFill/>
          <a:ln w="9525">
            <a:noFill/>
            <a:miter lim="800000"/>
            <a:headEnd/>
            <a:tailEnd/>
          </a:ln>
          <a:effectLst/>
        </p:spPr>
        <p:txBody>
          <a:bodyPr wrap="none" lIns="86027" tIns="43013" rIns="86027" bIns="43013" anchor="ctr"/>
          <a:lstStyle/>
          <a:p>
            <a:endParaRPr lang="en-US"/>
          </a:p>
        </p:txBody>
      </p:sp>
      <p:sp>
        <p:nvSpPr>
          <p:cNvPr id="608330" name="Text Box 74"/>
          <p:cNvSpPr txBox="1">
            <a:spLocks noChangeArrowheads="1"/>
          </p:cNvSpPr>
          <p:nvPr/>
        </p:nvSpPr>
        <p:spPr bwMode="auto">
          <a:xfrm>
            <a:off x="305731" y="228600"/>
            <a:ext cx="8838269" cy="1323427"/>
          </a:xfrm>
          <a:prstGeom prst="rect">
            <a:avLst/>
          </a:prstGeom>
          <a:solidFill>
            <a:schemeClr val="tx1">
              <a:lumMod val="50000"/>
            </a:schemeClr>
          </a:solidFill>
          <a:ln w="28575">
            <a:solidFill>
              <a:schemeClr val="tx1"/>
            </a:solidFill>
            <a:miter lim="800000"/>
            <a:headEnd/>
            <a:tailEnd/>
          </a:ln>
          <a:effectLst/>
        </p:spPr>
        <p:txBody>
          <a:bodyPr lIns="91428" tIns="45714" rIns="91428" bIns="45714">
            <a:spAutoFit/>
          </a:bodyPr>
          <a:lstStyle/>
          <a:p>
            <a:pPr algn="ctr" defTabSz="914034" fontAlgn="base">
              <a:spcBef>
                <a:spcPct val="50000"/>
              </a:spcBef>
            </a:pPr>
            <a:r>
              <a:rPr lang="en-US" sz="3200" b="1" dirty="0" smtClean="0">
                <a:latin typeface="Bookman Old Style" pitchFamily="18" charset="0"/>
              </a:rPr>
              <a:t>Humanitarian Assistance: </a:t>
            </a:r>
          </a:p>
          <a:p>
            <a:pPr algn="ctr" defTabSz="914034" fontAlgn="base">
              <a:spcBef>
                <a:spcPct val="50000"/>
              </a:spcBef>
            </a:pPr>
            <a:r>
              <a:rPr lang="en-US" sz="3200" b="1" dirty="0" smtClean="0">
                <a:latin typeface="Bookman Old Style" pitchFamily="18" charset="0"/>
              </a:rPr>
              <a:t>Focus on Beneficiaries</a:t>
            </a:r>
            <a:endParaRPr lang="en-US" sz="3200" b="1" dirty="0">
              <a:latin typeface="Bookman Old Style"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763962"/>
          </a:xfrm>
        </p:spPr>
        <p:txBody>
          <a:bodyPr>
            <a:normAutofit/>
          </a:bodyPr>
          <a:lstStyle/>
          <a:p>
            <a:r>
              <a:rPr lang="en-US" dirty="0" smtClean="0"/>
              <a:t>What is a “protracted” refugee situation?</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459162"/>
          </a:xfrm>
        </p:spPr>
        <p:txBody>
          <a:bodyPr>
            <a:normAutofit/>
          </a:bodyPr>
          <a:lstStyle/>
          <a:p>
            <a:r>
              <a:rPr lang="en-US" dirty="0" smtClean="0"/>
              <a:t>What factors cause protracted refugee situations? </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611562"/>
          </a:xfrm>
        </p:spPr>
        <p:txBody>
          <a:bodyPr/>
          <a:lstStyle/>
          <a:p>
            <a:r>
              <a:rPr lang="en-US" dirty="0" smtClean="0"/>
              <a:t>Why did PRM select focus populations?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Focus Populations for PRM: </a:t>
            </a:r>
            <a:endParaRPr lang="en-US" dirty="0"/>
          </a:p>
        </p:txBody>
      </p:sp>
      <p:sp>
        <p:nvSpPr>
          <p:cNvPr id="4" name="Subtitle 2"/>
          <p:cNvSpPr>
            <a:spLocks noGrp="1"/>
          </p:cNvSpPr>
          <p:nvPr>
            <p:ph idx="1"/>
          </p:nvPr>
        </p:nvSpPr>
        <p:spPr/>
        <p:txBody>
          <a:bodyPr>
            <a:normAutofit/>
          </a:bodyPr>
          <a:lstStyle/>
          <a:p>
            <a:pPr marL="514350" lvl="0" indent="-514350" algn="l">
              <a:buAutoNum type="arabicPeriod"/>
            </a:pPr>
            <a:r>
              <a:rPr lang="en-US" dirty="0" smtClean="0"/>
              <a:t>Afghans </a:t>
            </a:r>
            <a:r>
              <a:rPr lang="en-US" dirty="0"/>
              <a:t>in </a:t>
            </a:r>
            <a:r>
              <a:rPr lang="en-US" dirty="0" smtClean="0"/>
              <a:t>Pakistan</a:t>
            </a:r>
          </a:p>
          <a:p>
            <a:pPr marL="514350" lvl="0" indent="-514350" algn="l">
              <a:buAutoNum type="arabicPeriod"/>
            </a:pPr>
            <a:endParaRPr lang="en-US" dirty="0"/>
          </a:p>
          <a:p>
            <a:endParaRPr lang="en-US" dirty="0"/>
          </a:p>
        </p:txBody>
      </p:sp>
      <p:pic>
        <p:nvPicPr>
          <p:cNvPr id="11266" name="Picture 2" descr="http://www.actalliance.org/gallery/asia/pakistan/2010-02-15-pakistan-refugees/100306-PJPakistan003-landscape.jpg"/>
          <p:cNvPicPr>
            <a:picLocks noChangeAspect="1" noChangeArrowheads="1"/>
          </p:cNvPicPr>
          <p:nvPr/>
        </p:nvPicPr>
        <p:blipFill>
          <a:blip r:embed="rId2" cstate="print"/>
          <a:srcRect l="5737" t="6487" r="6770" b="11351"/>
          <a:stretch>
            <a:fillRect/>
          </a:stretch>
        </p:blipFill>
        <p:spPr bwMode="auto">
          <a:xfrm>
            <a:off x="182479" y="3276600"/>
            <a:ext cx="4770521" cy="2971800"/>
          </a:xfrm>
          <a:prstGeom prst="rect">
            <a:avLst/>
          </a:prstGeom>
          <a:noFill/>
        </p:spPr>
      </p:pic>
      <p:pic>
        <p:nvPicPr>
          <p:cNvPr id="11268" name="Picture 4" descr="http://newsimg.bbc.co.uk/media/images/41788000/jpg/_41788138_afghan_refugees_1_irc.jpg"/>
          <p:cNvPicPr>
            <a:picLocks noChangeAspect="1" noChangeArrowheads="1"/>
          </p:cNvPicPr>
          <p:nvPr/>
        </p:nvPicPr>
        <p:blipFill>
          <a:blip r:embed="rId3" cstate="print"/>
          <a:srcRect/>
          <a:stretch>
            <a:fillRect/>
          </a:stretch>
        </p:blipFill>
        <p:spPr bwMode="auto">
          <a:xfrm>
            <a:off x="5029200" y="3319096"/>
            <a:ext cx="4114800" cy="2967404"/>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Six Focus Populations for PRM: </a:t>
            </a:r>
            <a:endParaRPr lang="en-US" dirty="0"/>
          </a:p>
        </p:txBody>
      </p:sp>
      <p:sp>
        <p:nvSpPr>
          <p:cNvPr id="4" name="Content Placeholder 3"/>
          <p:cNvSpPr>
            <a:spLocks noGrp="1"/>
          </p:cNvSpPr>
          <p:nvPr>
            <p:ph idx="1"/>
          </p:nvPr>
        </p:nvSpPr>
        <p:spPr/>
        <p:txBody>
          <a:bodyPr/>
          <a:lstStyle/>
          <a:p>
            <a:pPr lvl="0">
              <a:buNone/>
            </a:pPr>
            <a:r>
              <a:rPr lang="en-US" dirty="0" smtClean="0"/>
              <a:t>2. Bhutanese </a:t>
            </a:r>
            <a:r>
              <a:rPr lang="en-US" dirty="0"/>
              <a:t>in Nepal</a:t>
            </a:r>
          </a:p>
          <a:p>
            <a:endParaRPr lang="en-US" dirty="0"/>
          </a:p>
        </p:txBody>
      </p:sp>
      <p:pic>
        <p:nvPicPr>
          <p:cNvPr id="10242" name="Picture 2" descr="http://www.asianews.it/files/img/BHUTAN_NEPAL_(F)_0909_-_Rifugiati.jpg"/>
          <p:cNvPicPr>
            <a:picLocks noChangeAspect="1" noChangeArrowheads="1"/>
          </p:cNvPicPr>
          <p:nvPr/>
        </p:nvPicPr>
        <p:blipFill>
          <a:blip r:embed="rId2" cstate="print"/>
          <a:srcRect/>
          <a:stretch>
            <a:fillRect/>
          </a:stretch>
        </p:blipFill>
        <p:spPr bwMode="auto">
          <a:xfrm>
            <a:off x="457200" y="2438400"/>
            <a:ext cx="2841955" cy="4267200"/>
          </a:xfrm>
          <a:prstGeom prst="rect">
            <a:avLst/>
          </a:prstGeom>
          <a:noFill/>
        </p:spPr>
      </p:pic>
      <p:pic>
        <p:nvPicPr>
          <p:cNvPr id="10246" name="Picture 6" descr="http://www.nepalbiznews.com/newsdata/files/bhutanirefugeetop01.jpg"/>
          <p:cNvPicPr>
            <a:picLocks noChangeAspect="1" noChangeArrowheads="1"/>
          </p:cNvPicPr>
          <p:nvPr/>
        </p:nvPicPr>
        <p:blipFill>
          <a:blip r:embed="rId3" cstate="print"/>
          <a:srcRect b="11111"/>
          <a:stretch>
            <a:fillRect/>
          </a:stretch>
        </p:blipFill>
        <p:spPr bwMode="auto">
          <a:xfrm>
            <a:off x="3657600" y="2514600"/>
            <a:ext cx="5105400" cy="340360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Six Focus Populations for PRM: </a:t>
            </a:r>
            <a:endParaRPr lang="en-US" dirty="0"/>
          </a:p>
        </p:txBody>
      </p:sp>
      <p:sp>
        <p:nvSpPr>
          <p:cNvPr id="3" name="Content Placeholder 2"/>
          <p:cNvSpPr>
            <a:spLocks noGrp="1"/>
          </p:cNvSpPr>
          <p:nvPr>
            <p:ph idx="1"/>
          </p:nvPr>
        </p:nvSpPr>
        <p:spPr/>
        <p:txBody>
          <a:bodyPr/>
          <a:lstStyle/>
          <a:p>
            <a:pPr lvl="0">
              <a:buNone/>
            </a:pPr>
            <a:r>
              <a:rPr lang="en-US" dirty="0" smtClean="0"/>
              <a:t>3. Burmese in Thailand</a:t>
            </a:r>
          </a:p>
          <a:p>
            <a:endParaRPr lang="en-US" dirty="0"/>
          </a:p>
        </p:txBody>
      </p:sp>
      <p:pic>
        <p:nvPicPr>
          <p:cNvPr id="9218" name="Picture 2" descr="http://exchange.causes.com/assets/Burmese_mother_and_baby_in_Thailand1.jpg"/>
          <p:cNvPicPr>
            <a:picLocks noChangeAspect="1" noChangeArrowheads="1"/>
          </p:cNvPicPr>
          <p:nvPr/>
        </p:nvPicPr>
        <p:blipFill>
          <a:blip r:embed="rId2" cstate="print"/>
          <a:srcRect/>
          <a:stretch>
            <a:fillRect/>
          </a:stretch>
        </p:blipFill>
        <p:spPr bwMode="auto">
          <a:xfrm>
            <a:off x="0" y="3276600"/>
            <a:ext cx="4267200" cy="2839111"/>
          </a:xfrm>
          <a:prstGeom prst="rect">
            <a:avLst/>
          </a:prstGeom>
          <a:noFill/>
        </p:spPr>
      </p:pic>
      <p:pic>
        <p:nvPicPr>
          <p:cNvPr id="9220" name="Picture 4" descr="http://www.burmalibrary.org/docskaren/Karen%20Heritage%20Web/images/maela.gif"/>
          <p:cNvPicPr>
            <a:picLocks noChangeAspect="1" noChangeArrowheads="1"/>
          </p:cNvPicPr>
          <p:nvPr/>
        </p:nvPicPr>
        <p:blipFill>
          <a:blip r:embed="rId3" cstate="print"/>
          <a:srcRect/>
          <a:stretch>
            <a:fillRect/>
          </a:stretch>
        </p:blipFill>
        <p:spPr bwMode="auto">
          <a:xfrm>
            <a:off x="4419835" y="3200400"/>
            <a:ext cx="4524963" cy="297180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Six Focus Populations for PRM: </a:t>
            </a:r>
            <a:endParaRPr lang="en-US" dirty="0"/>
          </a:p>
        </p:txBody>
      </p:sp>
      <p:sp>
        <p:nvSpPr>
          <p:cNvPr id="3" name="Content Placeholder 2"/>
          <p:cNvSpPr>
            <a:spLocks noGrp="1"/>
          </p:cNvSpPr>
          <p:nvPr>
            <p:ph idx="1"/>
          </p:nvPr>
        </p:nvSpPr>
        <p:spPr/>
        <p:txBody>
          <a:bodyPr/>
          <a:lstStyle/>
          <a:p>
            <a:pPr lvl="0">
              <a:buNone/>
            </a:pPr>
            <a:r>
              <a:rPr lang="en-US" dirty="0" smtClean="0"/>
              <a:t>4. Refugees from Croatia and Bosnia in Serbia</a:t>
            </a:r>
          </a:p>
          <a:p>
            <a:endParaRPr lang="en-US" dirty="0"/>
          </a:p>
        </p:txBody>
      </p:sp>
      <p:pic>
        <p:nvPicPr>
          <p:cNvPr id="8198" name="Picture 6" descr="http://www.osce.org/files/imagecache/small/images/web/b/5/6068.jpg?1269000527"/>
          <p:cNvPicPr>
            <a:picLocks noChangeAspect="1" noChangeArrowheads="1"/>
          </p:cNvPicPr>
          <p:nvPr/>
        </p:nvPicPr>
        <p:blipFill>
          <a:blip r:embed="rId2" cstate="print"/>
          <a:srcRect/>
          <a:stretch>
            <a:fillRect/>
          </a:stretch>
        </p:blipFill>
        <p:spPr bwMode="auto">
          <a:xfrm>
            <a:off x="381000" y="3200400"/>
            <a:ext cx="3429000" cy="2286000"/>
          </a:xfrm>
          <a:prstGeom prst="rect">
            <a:avLst/>
          </a:prstGeom>
          <a:noFill/>
        </p:spPr>
      </p:pic>
      <p:pic>
        <p:nvPicPr>
          <p:cNvPr id="8200" name="Picture 8" descr="http://www.unhcr.org/cgi-bin/texis/vtx/page/photo.jpg?MLIBID=49c3bbfd6"/>
          <p:cNvPicPr>
            <a:picLocks noChangeAspect="1" noChangeArrowheads="1"/>
          </p:cNvPicPr>
          <p:nvPr/>
        </p:nvPicPr>
        <p:blipFill>
          <a:blip r:embed="rId3" cstate="print"/>
          <a:srcRect/>
          <a:stretch>
            <a:fillRect/>
          </a:stretch>
        </p:blipFill>
        <p:spPr bwMode="auto">
          <a:xfrm>
            <a:off x="4198189" y="2971800"/>
            <a:ext cx="4945811" cy="327660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Six Focus Populations for PRM: </a:t>
            </a:r>
            <a:endParaRPr lang="en-US" dirty="0"/>
          </a:p>
        </p:txBody>
      </p:sp>
      <p:sp>
        <p:nvSpPr>
          <p:cNvPr id="3" name="Content Placeholder 2"/>
          <p:cNvSpPr>
            <a:spLocks noGrp="1"/>
          </p:cNvSpPr>
          <p:nvPr>
            <p:ph idx="1"/>
          </p:nvPr>
        </p:nvSpPr>
        <p:spPr/>
        <p:txBody>
          <a:bodyPr/>
          <a:lstStyle/>
          <a:p>
            <a:pPr lvl="0">
              <a:buNone/>
            </a:pPr>
            <a:r>
              <a:rPr lang="en-US" dirty="0" smtClean="0"/>
              <a:t>5. Liberians in West Africa</a:t>
            </a:r>
          </a:p>
          <a:p>
            <a:endParaRPr lang="en-US" dirty="0"/>
          </a:p>
        </p:txBody>
      </p:sp>
      <p:pic>
        <p:nvPicPr>
          <p:cNvPr id="7170" name="Picture 2" descr="http://thenewdispensation.files.wordpress.com/2011/02/82074389_295.jpg?w=295&amp;h=199"/>
          <p:cNvPicPr>
            <a:picLocks noChangeAspect="1" noChangeArrowheads="1"/>
          </p:cNvPicPr>
          <p:nvPr/>
        </p:nvPicPr>
        <p:blipFill>
          <a:blip r:embed="rId2" cstate="print"/>
          <a:srcRect/>
          <a:stretch>
            <a:fillRect/>
          </a:stretch>
        </p:blipFill>
        <p:spPr bwMode="auto">
          <a:xfrm>
            <a:off x="4724400" y="3352800"/>
            <a:ext cx="3840633" cy="2590800"/>
          </a:xfrm>
          <a:prstGeom prst="rect">
            <a:avLst/>
          </a:prstGeom>
          <a:noFill/>
        </p:spPr>
      </p:pic>
      <p:pic>
        <p:nvPicPr>
          <p:cNvPr id="7172" name="Picture 4" descr="http://www.worldpress.org/images/20070824-liberians.jpg"/>
          <p:cNvPicPr>
            <a:picLocks noChangeAspect="1" noChangeArrowheads="1"/>
          </p:cNvPicPr>
          <p:nvPr/>
        </p:nvPicPr>
        <p:blipFill>
          <a:blip r:embed="rId3" cstate="print"/>
          <a:srcRect/>
          <a:stretch>
            <a:fillRect/>
          </a:stretch>
        </p:blipFill>
        <p:spPr bwMode="auto">
          <a:xfrm flipH="1">
            <a:off x="373350" y="3117777"/>
            <a:ext cx="3893850" cy="2825823"/>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Six Focus Populations for PRM: </a:t>
            </a:r>
            <a:endParaRPr lang="en-US" dirty="0"/>
          </a:p>
        </p:txBody>
      </p:sp>
      <p:sp>
        <p:nvSpPr>
          <p:cNvPr id="3" name="Content Placeholder 2"/>
          <p:cNvSpPr>
            <a:spLocks noGrp="1"/>
          </p:cNvSpPr>
          <p:nvPr>
            <p:ph idx="1"/>
          </p:nvPr>
        </p:nvSpPr>
        <p:spPr/>
        <p:txBody>
          <a:bodyPr/>
          <a:lstStyle/>
          <a:p>
            <a:pPr lvl="0">
              <a:buNone/>
            </a:pPr>
            <a:r>
              <a:rPr lang="en-US" dirty="0" smtClean="0"/>
              <a:t>6. Somalis in Kenya</a:t>
            </a:r>
          </a:p>
          <a:p>
            <a:endParaRPr lang="en-US" dirty="0"/>
          </a:p>
        </p:txBody>
      </p:sp>
      <p:pic>
        <p:nvPicPr>
          <p:cNvPr id="6148" name="Picture 4" descr="Somali girls study English at a school in Dadaab, the world?s biggest refugee camp August 19, 2009 in Dadaab, Kenya. The Dadaab refugee complex in northeastern Kenya consists of three separate camps and has been in operation for 18 years and is currently home to some 289,500 inhabitants. Most of the residents of the camps are Somalis who are fleeing escalating violence in that country. Dadaab currently holds three times as many people as it was designed for with 43,000 refugees arriving from Somalia this year alone.  Concerned over the deteriorating situation in Dadaab, the Kenyan government has recently begun moving some refugees to another camp which is a three day bus ride away."/>
          <p:cNvPicPr>
            <a:picLocks noChangeAspect="1" noChangeArrowheads="1"/>
          </p:cNvPicPr>
          <p:nvPr/>
        </p:nvPicPr>
        <p:blipFill>
          <a:blip r:embed="rId2" cstate="print"/>
          <a:srcRect/>
          <a:stretch>
            <a:fillRect/>
          </a:stretch>
        </p:blipFill>
        <p:spPr bwMode="auto">
          <a:xfrm>
            <a:off x="228600" y="3048000"/>
            <a:ext cx="3810000" cy="2540000"/>
          </a:xfrm>
          <a:prstGeom prst="rect">
            <a:avLst/>
          </a:prstGeom>
          <a:noFill/>
        </p:spPr>
      </p:pic>
      <p:pic>
        <p:nvPicPr>
          <p:cNvPr id="6150" name="Picture 6" descr="http://1.bp.blogspot.com/_bNfsFqpQHas/SeuAxnJ9DUI/AAAAAAAADEU/zJyGo_YTOLY/s320/dadaab+camp.jpg"/>
          <p:cNvPicPr>
            <a:picLocks noChangeAspect="1" noChangeArrowheads="1"/>
          </p:cNvPicPr>
          <p:nvPr/>
        </p:nvPicPr>
        <p:blipFill>
          <a:blip r:embed="rId3" cstate="print"/>
          <a:srcRect/>
          <a:stretch>
            <a:fillRect/>
          </a:stretch>
        </p:blipFill>
        <p:spPr bwMode="auto">
          <a:xfrm>
            <a:off x="4419600" y="2819401"/>
            <a:ext cx="4267200" cy="3207282"/>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www.state.gov/img/11/42359/20110225PRMMap_600_1.jpg"/>
          <p:cNvPicPr>
            <a:picLocks noChangeAspect="1" noChangeArrowheads="1"/>
          </p:cNvPicPr>
          <p:nvPr/>
        </p:nvPicPr>
        <p:blipFill>
          <a:blip r:embed="rId2" cstate="print"/>
          <a:srcRect/>
          <a:stretch>
            <a:fillRect/>
          </a:stretch>
        </p:blipFill>
        <p:spPr bwMode="auto">
          <a:xfrm>
            <a:off x="273919" y="146304"/>
            <a:ext cx="8870081" cy="6711696"/>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1362"/>
          </a:xfrm>
        </p:spPr>
        <p:txBody>
          <a:bodyPr>
            <a:normAutofit/>
          </a:bodyPr>
          <a:lstStyle/>
          <a:p>
            <a:r>
              <a:rPr lang="en-US" dirty="0" smtClean="0"/>
              <a:t>What is the solution to these protracted situations? </a:t>
            </a:r>
            <a:br>
              <a:rPr lang="en-US" dirty="0" smtClean="0"/>
            </a:br>
            <a:r>
              <a:rPr lang="en-US" dirty="0"/>
              <a:t/>
            </a:r>
            <a:br>
              <a:rPr lang="en-US" dirty="0"/>
            </a:br>
            <a:r>
              <a:rPr lang="en-US" dirty="0" smtClean="0"/>
              <a:t/>
            </a:r>
            <a:br>
              <a:rPr lang="en-US" dirty="0" smtClean="0"/>
            </a:br>
            <a:r>
              <a:rPr lang="en-US" dirty="0" smtClean="0"/>
              <a:t>How can the U.S. Government help?</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Evaluation  questions: </a:t>
            </a:r>
            <a:endParaRPr lang="en-US" dirty="0"/>
          </a:p>
        </p:txBody>
      </p:sp>
      <p:sp>
        <p:nvSpPr>
          <p:cNvPr id="3" name="Content Placeholder 2"/>
          <p:cNvSpPr>
            <a:spLocks noGrp="1"/>
          </p:cNvSpPr>
          <p:nvPr>
            <p:ph idx="1"/>
          </p:nvPr>
        </p:nvSpPr>
        <p:spPr/>
        <p:txBody>
          <a:bodyPr/>
          <a:lstStyle/>
          <a:p>
            <a:r>
              <a:rPr lang="en-US" dirty="0" smtClean="0"/>
              <a:t>What </a:t>
            </a:r>
            <a:r>
              <a:rPr lang="en-US" dirty="0"/>
              <a:t>types of interventions work and what doesn’t work in supporting refugees’ economic welfare, protection, and </a:t>
            </a:r>
            <a:r>
              <a:rPr lang="en-US" dirty="0" smtClean="0"/>
              <a:t>self-reliance in protracted situation?</a:t>
            </a:r>
          </a:p>
          <a:p>
            <a:endParaRPr lang="en-US" dirty="0" smtClean="0"/>
          </a:p>
          <a:p>
            <a:r>
              <a:rPr lang="en-US" dirty="0"/>
              <a:t>H</a:t>
            </a:r>
            <a:r>
              <a:rPr lang="en-US" dirty="0" smtClean="0"/>
              <a:t>ow can we </a:t>
            </a:r>
            <a:r>
              <a:rPr lang="en-US" dirty="0"/>
              <a:t>strengthen humanitarian assistance programs </a:t>
            </a:r>
            <a:r>
              <a:rPr lang="en-US" dirty="0" smtClean="0"/>
              <a:t>for these populations?</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Two populations: </a:t>
            </a:r>
            <a:endParaRPr lang="en-US" dirty="0"/>
          </a:p>
        </p:txBody>
      </p:sp>
      <p:sp>
        <p:nvSpPr>
          <p:cNvPr id="3" name="Content Placeholder 2"/>
          <p:cNvSpPr>
            <a:spLocks noGrp="1"/>
          </p:cNvSpPr>
          <p:nvPr>
            <p:ph idx="1"/>
          </p:nvPr>
        </p:nvSpPr>
        <p:spPr/>
        <p:txBody>
          <a:bodyPr/>
          <a:lstStyle/>
          <a:p>
            <a:r>
              <a:rPr lang="en-US" dirty="0" smtClean="0"/>
              <a:t>Somali refugees in the </a:t>
            </a:r>
            <a:r>
              <a:rPr lang="en-US" dirty="0" err="1" smtClean="0"/>
              <a:t>Dadaab</a:t>
            </a:r>
            <a:r>
              <a:rPr lang="en-US" dirty="0" smtClean="0"/>
              <a:t> camps in Kenya</a:t>
            </a:r>
          </a:p>
          <a:p>
            <a:endParaRPr lang="en-US" dirty="0"/>
          </a:p>
          <a:p>
            <a:endParaRPr lang="en-US" dirty="0" smtClean="0"/>
          </a:p>
          <a:p>
            <a:endParaRPr lang="en-US" dirty="0"/>
          </a:p>
          <a:p>
            <a:r>
              <a:rPr lang="en-US" dirty="0" smtClean="0"/>
              <a:t>Colombian refugees in settlements/cities in Ecuador</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Dadaab</a:t>
            </a:r>
            <a:r>
              <a:rPr lang="en-US" dirty="0" smtClean="0"/>
              <a:t> refugee camps</a:t>
            </a:r>
            <a:endParaRPr lang="en-US" dirty="0"/>
          </a:p>
        </p:txBody>
      </p:sp>
      <p:pic>
        <p:nvPicPr>
          <p:cNvPr id="4" name="Picture 3" descr="http://his.unhcr.org/filestore/fieldbriefs/2010-06-Kenya/Links/25Kenya_DadaabCamps_A3PC_18-03-2009.png"/>
          <p:cNvPicPr/>
          <p:nvPr/>
        </p:nvPicPr>
        <p:blipFill>
          <a:blip r:embed="rId2" cstate="print"/>
          <a:srcRect t="47019" r="3366" b="2812"/>
          <a:stretch>
            <a:fillRect/>
          </a:stretch>
        </p:blipFill>
        <p:spPr bwMode="auto">
          <a:xfrm>
            <a:off x="838200" y="1600200"/>
            <a:ext cx="7467600" cy="502920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Ecuador</a:t>
            </a:r>
            <a:endParaRPr lang="en-US" dirty="0"/>
          </a:p>
        </p:txBody>
      </p:sp>
      <p:pic>
        <p:nvPicPr>
          <p:cNvPr id="30722" name="Picture 2" descr="http://pennyinparadise.files.wordpress.com/2008/11/ecuador_map.gif"/>
          <p:cNvPicPr>
            <a:picLocks noChangeAspect="1" noChangeArrowheads="1"/>
          </p:cNvPicPr>
          <p:nvPr/>
        </p:nvPicPr>
        <p:blipFill>
          <a:blip r:embed="rId2" cstate="print"/>
          <a:srcRect/>
          <a:stretch>
            <a:fillRect/>
          </a:stretch>
        </p:blipFill>
        <p:spPr bwMode="auto">
          <a:xfrm>
            <a:off x="1905000" y="1295400"/>
            <a:ext cx="5248275" cy="5308949"/>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Methodology</a:t>
            </a:r>
            <a:endParaRPr lang="en-US" dirty="0"/>
          </a:p>
        </p:txBody>
      </p:sp>
      <p:sp>
        <p:nvSpPr>
          <p:cNvPr id="3" name="Content Placeholder 2"/>
          <p:cNvSpPr>
            <a:spLocks noGrp="1"/>
          </p:cNvSpPr>
          <p:nvPr>
            <p:ph idx="1"/>
          </p:nvPr>
        </p:nvSpPr>
        <p:spPr>
          <a:xfrm>
            <a:off x="609600" y="2332037"/>
            <a:ext cx="8229600" cy="4525963"/>
          </a:xfrm>
        </p:spPr>
        <p:txBody>
          <a:bodyPr/>
          <a:lstStyle/>
          <a:p>
            <a:r>
              <a:rPr lang="en-US" dirty="0" smtClean="0"/>
              <a:t>Document review</a:t>
            </a:r>
          </a:p>
          <a:p>
            <a:r>
              <a:rPr lang="en-US" dirty="0" smtClean="0"/>
              <a:t>Semi-structures questionnaires</a:t>
            </a:r>
          </a:p>
          <a:p>
            <a:r>
              <a:rPr lang="en-US" dirty="0" smtClean="0"/>
              <a:t>Focus group discussions</a:t>
            </a:r>
          </a:p>
          <a:p>
            <a:r>
              <a:rPr lang="en-US" dirty="0" smtClean="0"/>
              <a:t>Key informant interviews</a:t>
            </a:r>
          </a:p>
          <a:p>
            <a:r>
              <a:rPr lang="en-US" dirty="0" smtClean="0"/>
              <a:t>Secondary research</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630362"/>
          </a:xfrm>
        </p:spPr>
        <p:txBody>
          <a:bodyPr>
            <a:normAutofit/>
          </a:bodyPr>
          <a:lstStyle/>
          <a:p>
            <a:r>
              <a:rPr lang="en-US" dirty="0" smtClean="0"/>
              <a:t/>
            </a:r>
            <a:br>
              <a:rPr lang="en-US" dirty="0" smtClean="0"/>
            </a:br>
            <a:r>
              <a:rPr lang="en-US" dirty="0" smtClean="0"/>
              <a:t>Preliminary Findings</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630362"/>
          </a:xfrm>
        </p:spPr>
        <p:txBody>
          <a:bodyPr>
            <a:normAutofit/>
          </a:bodyPr>
          <a:lstStyle/>
          <a:p>
            <a:r>
              <a:rPr lang="en-US" dirty="0" smtClean="0"/>
              <a:t>Urban Research Findings</a:t>
            </a:r>
            <a:endParaRPr lang="en-US" dirty="0"/>
          </a:p>
        </p:txBody>
      </p:sp>
      <p:pic>
        <p:nvPicPr>
          <p:cNvPr id="33794" name="Picture 2" descr="http://johnbatchelorshow.com/schedules/image/Somali%20refugees%20in%20Kampala.jpg"/>
          <p:cNvPicPr>
            <a:picLocks noChangeAspect="1" noChangeArrowheads="1"/>
          </p:cNvPicPr>
          <p:nvPr/>
        </p:nvPicPr>
        <p:blipFill>
          <a:blip r:embed="rId2" cstate="print"/>
          <a:srcRect r="12353"/>
          <a:stretch>
            <a:fillRect/>
          </a:stretch>
        </p:blipFill>
        <p:spPr bwMode="auto">
          <a:xfrm>
            <a:off x="4648200" y="2514600"/>
            <a:ext cx="4325257" cy="2590800"/>
          </a:xfrm>
          <a:prstGeom prst="rect">
            <a:avLst/>
          </a:prstGeom>
          <a:noFill/>
        </p:spPr>
      </p:pic>
      <p:pic>
        <p:nvPicPr>
          <p:cNvPr id="33796" name="Picture 4" descr="http://npsn.info/images/KenyaSlumR_468x301.jpg"/>
          <p:cNvPicPr>
            <a:picLocks noChangeAspect="1" noChangeArrowheads="1"/>
          </p:cNvPicPr>
          <p:nvPr/>
        </p:nvPicPr>
        <p:blipFill>
          <a:blip r:embed="rId3" cstate="print"/>
          <a:srcRect/>
          <a:stretch>
            <a:fillRect/>
          </a:stretch>
        </p:blipFill>
        <p:spPr bwMode="auto">
          <a:xfrm>
            <a:off x="0" y="3810000"/>
            <a:ext cx="4457700" cy="2867025"/>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219200"/>
            <a:ext cx="8229600" cy="1630362"/>
          </a:xfrm>
        </p:spPr>
        <p:txBody>
          <a:bodyPr>
            <a:normAutofit fontScale="90000"/>
          </a:bodyPr>
          <a:lstStyle/>
          <a:p>
            <a:r>
              <a:rPr lang="en-US" dirty="0" smtClean="0"/>
              <a:t/>
            </a:r>
            <a:br>
              <a:rPr lang="en-US" dirty="0" smtClean="0"/>
            </a:br>
            <a:r>
              <a:rPr lang="en-US" sz="8000" dirty="0" smtClean="0"/>
              <a:t>Applying</a:t>
            </a:r>
            <a:r>
              <a:rPr lang="en-US" dirty="0" smtClean="0"/>
              <a:t> </a:t>
            </a:r>
            <a:br>
              <a:rPr lang="en-US" dirty="0" smtClean="0"/>
            </a:br>
            <a:r>
              <a:rPr lang="en-US" dirty="0" smtClean="0"/>
              <a:t/>
            </a:r>
            <a:br>
              <a:rPr lang="en-US" dirty="0" smtClean="0"/>
            </a:br>
            <a:r>
              <a:rPr lang="en-US" dirty="0" smtClean="0"/>
              <a:t>Research and Evaluation </a:t>
            </a:r>
            <a:br>
              <a:rPr lang="en-US" dirty="0" smtClean="0"/>
            </a:br>
            <a:r>
              <a:rPr lang="en-US" dirty="0" smtClean="0"/>
              <a:t/>
            </a:r>
            <a:br>
              <a:rPr lang="en-US" dirty="0" smtClean="0"/>
            </a:br>
            <a:r>
              <a:rPr lang="en-US" dirty="0" smtClean="0"/>
              <a:t>Findings &amp; Recommendations</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276600"/>
            <a:ext cx="8229600" cy="1630362"/>
          </a:xfrm>
        </p:spPr>
        <p:txBody>
          <a:bodyPr>
            <a:normAutofit fontScale="90000"/>
          </a:bodyPr>
          <a:lstStyle/>
          <a:p>
            <a:r>
              <a:rPr lang="en-US" dirty="0" smtClean="0"/>
              <a:t/>
            </a:r>
            <a:br>
              <a:rPr lang="en-US" dirty="0" smtClean="0"/>
            </a:br>
            <a:r>
              <a:rPr lang="en-US" dirty="0" smtClean="0"/>
              <a:t>Strengthening Programs that Promote Self-Sufficiency and Protection</a:t>
            </a:r>
            <a:br>
              <a:rPr lang="en-US" dirty="0" smtClean="0"/>
            </a:br>
            <a:r>
              <a:rPr lang="en-US" dirty="0" smtClean="0"/>
              <a:t/>
            </a:r>
            <a:br>
              <a:rPr lang="en-US" dirty="0" smtClean="0"/>
            </a:br>
            <a:r>
              <a:rPr lang="en-US" dirty="0" smtClean="0"/>
              <a:t> </a:t>
            </a:r>
            <a:br>
              <a:rPr lang="en-US" dirty="0" smtClean="0"/>
            </a:br>
            <a:r>
              <a:rPr lang="en-US" dirty="0" smtClean="0"/>
              <a:t/>
            </a:r>
            <a:br>
              <a:rPr lang="en-US" dirty="0" smtClean="0"/>
            </a:br>
            <a:r>
              <a:rPr lang="en-US" dirty="0" smtClean="0"/>
              <a:t>Strengthening Relief to Development Linkages</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992B92A23BC514F9BBE2CB9F7D71805" ma:contentTypeVersion="4" ma:contentTypeDescription="Create a new document." ma:contentTypeScope="" ma:versionID="40be9190df5d70cccd4ea0d2f02881f6">
  <xsd:schema xmlns:xsd="http://www.w3.org/2001/XMLSchema" xmlns:p="http://schemas.microsoft.com/office/2006/metadata/properties" xmlns:ns2="f6d794f7-83d4-4667-8e3c-8658d9f80a03" targetNamespace="http://schemas.microsoft.com/office/2006/metadata/properties" ma:root="true" ma:fieldsID="a6162f810f8fa043ce656a94f7dfcb3f" ns2:_="">
    <xsd:import namespace="f6d794f7-83d4-4667-8e3c-8658d9f80a03"/>
    <xsd:element name="properties">
      <xsd:complexType>
        <xsd:sequence>
          <xsd:element name="documentManagement">
            <xsd:complexType>
              <xsd:all>
                <xsd:element ref="ns2:Day" minOccurs="0"/>
                <xsd:element ref="ns2:Time" minOccurs="0"/>
                <xsd:element ref="ns2:Room_x0020_Number" minOccurs="0"/>
                <xsd:element ref="ns2:Presenter_x0028_s_x0029_" minOccurs="0"/>
              </xsd:all>
            </xsd:complexType>
          </xsd:element>
        </xsd:sequence>
      </xsd:complexType>
    </xsd:element>
  </xsd:schema>
  <xsd:schema xmlns:xsd="http://www.w3.org/2001/XMLSchema" xmlns:dms="http://schemas.microsoft.com/office/2006/documentManagement/types" targetNamespace="f6d794f7-83d4-4667-8e3c-8658d9f80a03" elementFormDefault="qualified">
    <xsd:import namespace="http://schemas.microsoft.com/office/2006/documentManagement/types"/>
    <xsd:element name="Day" ma:index="8" nillable="true" ma:displayName="Day" ma:default="Day 1" ma:format="Dropdown" ma:internalName="Day">
      <xsd:simpleType>
        <xsd:union memberTypes="dms:Text">
          <xsd:simpleType>
            <xsd:restriction base="dms:Choice">
              <xsd:enumeration value="Day 1"/>
              <xsd:enumeration value="Day 2"/>
            </xsd:restriction>
          </xsd:simpleType>
        </xsd:union>
      </xsd:simpleType>
    </xsd:element>
    <xsd:element name="Time" ma:index="9" nillable="true" ma:displayName="Time" ma:internalName="Time">
      <xsd:simpleType>
        <xsd:restriction base="dms:Text">
          <xsd:maxLength value="255"/>
        </xsd:restriction>
      </xsd:simpleType>
    </xsd:element>
    <xsd:element name="Room_x0020_Number" ma:index="10" nillable="true" ma:displayName="Room Number" ma:format="Dropdown" ma:internalName="Room_x0020_Number">
      <xsd:simpleType>
        <xsd:restriction base="dms:Choice">
          <xsd:enumeration value="1478"/>
          <xsd:enumeration value="1482"/>
          <xsd:enumeration value="1485"/>
          <xsd:enumeration value="1498"/>
          <xsd:enumeration value="1499"/>
          <xsd:enumeration value="Auditorium"/>
        </xsd:restriction>
      </xsd:simpleType>
    </xsd:element>
    <xsd:element name="Presenter_x0028_s_x0029_" ma:index="11" nillable="true" ma:displayName="Presenter(s)" ma:internalName="Presenter_x0028_s_x0029_">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documentManagement>
    <Day xmlns="f6d794f7-83d4-4667-8e3c-8658d9f80a03">Day 1</Day>
    <Room_x0020_Number xmlns="f6d794f7-83d4-4667-8e3c-8658d9f80a03">Auditorium</Room_x0020_Number>
    <Time xmlns="f6d794f7-83d4-4667-8e3c-8658d9f80a03">11:15-12:00</Time>
    <Presenter_x0028_s_x0029_ xmlns="f6d794f7-83d4-4667-8e3c-8658d9f80a03">Csaszar, Fruzsina</Presenter_x0028_s_x0029_>
  </documentManagement>
</p:properties>
</file>

<file path=customXml/itemProps1.xml><?xml version="1.0" encoding="utf-8"?>
<ds:datastoreItem xmlns:ds="http://schemas.openxmlformats.org/officeDocument/2006/customXml" ds:itemID="{24418F14-B35B-4187-96DA-6429E979AC21}"/>
</file>

<file path=customXml/itemProps2.xml><?xml version="1.0" encoding="utf-8"?>
<ds:datastoreItem xmlns:ds="http://schemas.openxmlformats.org/officeDocument/2006/customXml" ds:itemID="{41065535-97FD-48F7-BE37-8FF62AE8DB3C}"/>
</file>

<file path=customXml/itemProps3.xml><?xml version="1.0" encoding="utf-8"?>
<ds:datastoreItem xmlns:ds="http://schemas.openxmlformats.org/officeDocument/2006/customXml" ds:itemID="{B7FF68EE-5A29-4098-A40A-3895154FEA95}"/>
</file>

<file path=docProps/app.xml><?xml version="1.0" encoding="utf-8"?>
<Properties xmlns="http://schemas.openxmlformats.org/officeDocument/2006/extended-properties" xmlns:vt="http://schemas.openxmlformats.org/officeDocument/2006/docPropsVTypes">
  <TotalTime>371</TotalTime>
  <Words>188</Words>
  <Application>Microsoft Office PowerPoint</Application>
  <PresentationFormat>On-screen Show (4:3)</PresentationFormat>
  <Paragraphs>42</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        U.S. Department of State Bureau of Population, Refugees, and Migration (PRM)  PRM’s Protracted Refugee Situations Strategy :   Research Findings and Preliminary Evaluation Results   Department of State Evaluation Conference June 7, 2011</vt:lpstr>
      <vt:lpstr>Slide 2</vt:lpstr>
      <vt:lpstr>What is a “protracted” refugee situation?</vt:lpstr>
      <vt:lpstr>What factors cause protracted refugee situations? </vt:lpstr>
      <vt:lpstr>Why did PRM select focus populations?</vt:lpstr>
      <vt:lpstr>Focus Populations for PRM: </vt:lpstr>
      <vt:lpstr>Six Focus Populations for PRM: </vt:lpstr>
      <vt:lpstr>Six Focus Populations for PRM: </vt:lpstr>
      <vt:lpstr>Six Focus Populations for PRM: </vt:lpstr>
      <vt:lpstr>Six Focus Populations for PRM: </vt:lpstr>
      <vt:lpstr>Six Focus Populations for PRM: </vt:lpstr>
      <vt:lpstr>Slide 12</vt:lpstr>
      <vt:lpstr>What is the solution to these protracted situations?    How can the U.S. Government help?</vt:lpstr>
      <vt:lpstr>Evaluation  questions: </vt:lpstr>
      <vt:lpstr>Two populations: </vt:lpstr>
      <vt:lpstr>Dadaab refugee camps</vt:lpstr>
      <vt:lpstr>Ecuador</vt:lpstr>
      <vt:lpstr>Methodology</vt:lpstr>
      <vt:lpstr> Preliminary Findings</vt:lpstr>
      <vt:lpstr>Urban Research Findings</vt:lpstr>
      <vt:lpstr> Applying   Research and Evaluation   Findings &amp; Recommendations</vt:lpstr>
      <vt:lpstr> Strengthening Programs that Promote Self-Sufficiency and Protection     Strengthening Relief to Development Linkages    </vt:lpstr>
    </vt:vector>
  </TitlesOfParts>
  <Company>U.S. Department of State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csaszarfa</dc:creator>
  <cp:lastModifiedBy>GagnonTF</cp:lastModifiedBy>
  <cp:revision>29</cp:revision>
  <dcterms:created xsi:type="dcterms:W3CDTF">2011-05-19T18:38:21Z</dcterms:created>
  <dcterms:modified xsi:type="dcterms:W3CDTF">2011-06-01T16:04:16Z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0x010100B992B92A23BC514F9BBE2CB9F7D71805</vt:lpwstr>
  </property>
  <property fmtid="{D5CDD505-2E9C-101B-9397-08002B2CF9AE}" pid="3" name="Order">
    <vt:r8>1100</vt:r8>
  </property>
</Properties>
</file>