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6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3399FF"/>
    <a:srgbClr val="FF9999"/>
    <a:srgbClr val="FFCCFF"/>
    <a:srgbClr val="CCFF99"/>
    <a:srgbClr val="CCFFFF"/>
    <a:srgbClr val="66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9" autoAdjust="0"/>
    <p:restoredTop sz="98285" autoAdjust="0"/>
  </p:normalViewPr>
  <p:slideViewPr>
    <p:cSldViewPr>
      <p:cViewPr>
        <p:scale>
          <a:sx n="150" d="100"/>
          <a:sy n="150" d="100"/>
        </p:scale>
        <p:origin x="-72" y="35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6DAE541-CCED-46C6-A286-E78B01FA36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58" tIns="46580" rIns="93158" bIns="46580" numCol="1" anchor="t" anchorCtr="0" compatLnSpc="1">
            <a:prstTxWarp prst="textNoShape">
              <a:avLst/>
            </a:prstTxWarp>
          </a:bodyPr>
          <a:lstStyle>
            <a:lvl1pPr defTabSz="931863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C288689-7796-45D9-A9E2-B8BF78A84A6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58" tIns="46580" rIns="93158" bIns="46580" numCol="1" anchor="t" anchorCtr="0" compatLnSpc="1">
            <a:prstTxWarp prst="textNoShape">
              <a:avLst/>
            </a:prstTxWarp>
          </a:bodyPr>
          <a:lstStyle>
            <a:lvl1pPr algn="r" defTabSz="931863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0DB288F-E32A-4A06-A7FC-06FE13CA0148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95EB4E87-6D8D-48E3-969B-CB6894A5200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58" tIns="46580" rIns="93158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981675C-3E83-4923-8350-7E74D70265B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58" tIns="46580" rIns="93158" bIns="46580" numCol="1" anchor="b" anchorCtr="0" compatLnSpc="1">
            <a:prstTxWarp prst="textNoShape">
              <a:avLst/>
            </a:prstTxWarp>
          </a:bodyPr>
          <a:lstStyle>
            <a:lvl1pPr defTabSz="931863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D944F4F7-4678-4FAE-B3CD-F33B0CAD0C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58" tIns="46580" rIns="93158" bIns="46580" numCol="1" anchor="b" anchorCtr="0" compatLnSpc="1">
            <a:prstTxWarp prst="textNoShape">
              <a:avLst/>
            </a:prstTxWarp>
          </a:bodyPr>
          <a:lstStyle>
            <a:lvl1pPr algn="r" defTabSz="931863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388BC3D5-47B4-4FF9-AF44-4EE5CB7FAB6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5F2D441-9F0F-41B2-8BFD-27AEC7E3DC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E838B7-6F36-4988-A741-2D83C7D559D6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E3D9D494-DBCB-4960-BBF5-D1EF09DDF03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CF4BE67-7811-4104-9E78-9EB06AA18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615EC-B00B-4760-A4CB-01A17DAE4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F78D32-3D04-4541-B887-A71D1861A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026744-4FCF-411A-BDE9-2A663F20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F65C9-C771-41FE-9C72-4E459052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F92444-8D47-4240-AF8C-9EA77C2D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8C9BC-E63C-4D48-B5A5-D96341E88E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35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E6792-BC17-486E-8248-5893F307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B5A0FF-345B-4AD4-8E03-E1F980585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B24FB-A8F2-4E19-AABD-AB4C3B24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295E1C-2C9A-4539-A5EC-B8F7A282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BF37A-4032-450A-8AAC-B1F011A6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BA1A10-B787-41A4-92AA-0135B2830C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553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5D0B2-CDC2-4199-8402-F151F1CE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D85622-573E-424E-854E-102842BB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24FEB-F33D-4B01-80D6-B125BFDF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85B403-5933-468E-AA2E-7C4AF47B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C1A570-7B2A-450A-82AF-090E3FEE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3182B-96C3-4C33-954F-4AFB83FA14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032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1EE91-F316-4406-A827-E663737F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3BE25-1474-4C1F-99CA-A1A5A8C54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8B5CDF-DCAA-4A54-BD58-85C41F8DB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AC5880-F06E-4CC6-AAF2-CFFAD1D4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716B7-3CDE-4173-99EF-DE798551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C95CE2-A9E5-46BA-A5DC-4D922F6D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0035B-8E6C-4863-A981-5AA2D6B8CF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47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D549A-D62F-4BDB-86C7-525F873D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10C2FF-D205-44A5-8E93-DFCDA9846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FE20F3-91B2-4D5F-BE24-96CBB2518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CCA85D-6EEA-4EB0-AFEB-DF78D2FB5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8BA812-9901-4061-8EA0-95FD5ABE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6C0E68-08A8-47BB-83BB-9A3EA8DE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B7868B-03AD-420E-B38B-AE396B70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10CD7C-F05C-4D4D-8E5B-0F67D704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0F18F9-C8EE-4DB3-8E23-065C2C7D69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75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40237-CCA8-4E3A-B4AA-7FE82BFE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9D0843-41FB-4F52-A719-8EFE18A2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7060C2-47F2-4287-BA48-FA78C024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B7843D-19C9-44E9-88E3-EE2B53BF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D1E5E-34F5-408D-9E5D-649B2A73B9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62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1775E4-D1C6-45C6-A279-430DC355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4A7B2A-0028-4DF3-9AD9-CD955152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B0DBCC-0D3F-49CC-B2D0-E3B5E7E6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6B9DEA-CAB4-4C64-B861-2AFF354FF4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805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BD9B9-D76D-4631-A34A-CF4EE30F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DD3F14-0B1B-4484-9437-1A9F857E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FA9167-5D23-4D60-A213-8996E0314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8395C1-C338-4827-90BE-AC453B56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AA746D-C486-4DAD-9FEA-232FA376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FDE1E-053D-4343-A9B7-19BEED16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5B832-4CD3-4FDC-86FE-EB436E2954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50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12CF0-8E1F-4FCD-9B70-EAEF148D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A3C4BF-B446-415E-908B-10E88FEE9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484DE-448A-44A5-AE9E-8A4F477B5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AE8163-052B-4618-85CE-F8C879BF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361EE1-3FE1-4A38-A9C0-6E0AF46F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8939F6-4143-41D7-B052-7C78D448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D54D0F-907D-44C7-A629-9E0DD53362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46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F27AA-79E9-450C-929B-88E45FE0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308BBB-1A82-4CCD-8625-79C7631D1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B6C59-6887-4D98-9EDB-C740AA1D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7ED3A-84F4-4603-A75F-220BFF01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3AE7B7-90A1-4496-A3DE-9AC3DFD0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C71BA3-09C3-41D6-AC4A-B226161C72A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966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8AA8CA-2BD6-4E14-AF6C-9FBF76395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B0A3A2-4E9E-4967-9E82-619D45DAB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FBEFC-3A43-4EA1-9087-B76F8C43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1015B9-DE3E-4497-BB2B-D4CB971B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7EB495-608D-411C-8AA5-17A11D72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E35479-31B9-4C25-A4A9-C921CC8173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4928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0AC1A9A-A1C7-4694-AD3D-EDE561FCD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37197A9-E36B-457B-AC24-FB15F8C29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B1ABD4F-1150-4298-867C-805B47501A6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B979730-41BB-447A-B27C-DE431E31FF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33684A-7A93-471C-9255-FBE8C01D70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fld id="{3F4548E0-E52A-4BD0-BA35-E504EB7A748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8.png"/><Relationship Id="rId11" Type="http://schemas.openxmlformats.org/officeDocument/2006/relationships/hyperlink" Target="file:///I:\Presentations\Documents%20and%20Settings\LAVER\Desktop\acronym.ppt" TargetMode="External"/><Relationship Id="rId12" Type="http://schemas.openxmlformats.org/officeDocument/2006/relationships/image" Target="../media/image9.wmf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wmf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image" Target="../media/image6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Rectangle 304">
            <a:extLst>
              <a:ext uri="{FF2B5EF4-FFF2-40B4-BE49-F238E27FC236}">
                <a16:creationId xmlns:a16="http://schemas.microsoft.com/office/drawing/2014/main" id="{FD96EDEC-81EC-477D-BA43-D8E651F8D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800600"/>
            <a:ext cx="2057400" cy="19050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5" name="Rectangle 303">
            <a:extLst>
              <a:ext uri="{FF2B5EF4-FFF2-40B4-BE49-F238E27FC236}">
                <a16:creationId xmlns:a16="http://schemas.microsoft.com/office/drawing/2014/main" id="{A13DE6A3-D04E-45CE-A446-F4B11834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048000"/>
            <a:ext cx="2057400" cy="16002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4" name="Rectangle 302">
            <a:extLst>
              <a:ext uri="{FF2B5EF4-FFF2-40B4-BE49-F238E27FC236}">
                <a16:creationId xmlns:a16="http://schemas.microsoft.com/office/drawing/2014/main" id="{0A89A1FC-7430-4B27-91C7-F3D61781B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762000"/>
            <a:ext cx="2057400" cy="21336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3" name="Rectangle 301">
            <a:extLst>
              <a:ext uri="{FF2B5EF4-FFF2-40B4-BE49-F238E27FC236}">
                <a16:creationId xmlns:a16="http://schemas.microsoft.com/office/drawing/2014/main" id="{301F9ED8-2BE4-4DA2-8C3A-1C4CF831F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00600"/>
            <a:ext cx="2057400" cy="19050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2" name="Rectangle 300">
            <a:extLst>
              <a:ext uri="{FF2B5EF4-FFF2-40B4-BE49-F238E27FC236}">
                <a16:creationId xmlns:a16="http://schemas.microsoft.com/office/drawing/2014/main" id="{E7D1F7BE-7A31-4A94-BE48-5EE5DE2E1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667000"/>
            <a:ext cx="2057400" cy="19812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1" name="Rectangle 299">
            <a:extLst>
              <a:ext uri="{FF2B5EF4-FFF2-40B4-BE49-F238E27FC236}">
                <a16:creationId xmlns:a16="http://schemas.microsoft.com/office/drawing/2014/main" id="{F1C5D059-166B-4978-AF84-5D938809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762000"/>
            <a:ext cx="2057400" cy="17526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9" name="Rectangle 297">
            <a:extLst>
              <a:ext uri="{FF2B5EF4-FFF2-40B4-BE49-F238E27FC236}">
                <a16:creationId xmlns:a16="http://schemas.microsoft.com/office/drawing/2014/main" id="{CC27210D-D818-447B-A3E6-2ACA7D03C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419600"/>
            <a:ext cx="2057400" cy="22860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8" name="Rectangle 296">
            <a:extLst>
              <a:ext uri="{FF2B5EF4-FFF2-40B4-BE49-F238E27FC236}">
                <a16:creationId xmlns:a16="http://schemas.microsoft.com/office/drawing/2014/main" id="{F1970700-143C-4169-9C7B-87661AE3A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762000"/>
            <a:ext cx="2057400" cy="35052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7" name="Rectangle 295">
            <a:extLst>
              <a:ext uri="{FF2B5EF4-FFF2-40B4-BE49-F238E27FC236}">
                <a16:creationId xmlns:a16="http://schemas.microsoft.com/office/drawing/2014/main" id="{17EAEA95-AE8A-4A96-BBF2-4E58D7AED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419600"/>
            <a:ext cx="2057400" cy="22860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6" name="Rectangle 294">
            <a:extLst>
              <a:ext uri="{FF2B5EF4-FFF2-40B4-BE49-F238E27FC236}">
                <a16:creationId xmlns:a16="http://schemas.microsoft.com/office/drawing/2014/main" id="{F9C480E2-0606-4A16-9D50-AE3D3D438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133600"/>
            <a:ext cx="2057400" cy="21336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65" name="Rectangle 293">
            <a:extLst>
              <a:ext uri="{FF2B5EF4-FFF2-40B4-BE49-F238E27FC236}">
                <a16:creationId xmlns:a16="http://schemas.microsoft.com/office/drawing/2014/main" id="{E75F198E-7740-4B32-9B76-5FD4D823B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2057400" cy="1219200"/>
          </a:xfrm>
          <a:prstGeom prst="rect">
            <a:avLst/>
          </a:prstGeom>
          <a:solidFill>
            <a:srgbClr val="CCFFFF"/>
          </a:solidFill>
          <a:ln w="12700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068C039F-CD66-4163-B199-AC5A24703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81000"/>
            <a:ext cx="6096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181" tIns="9091" rIns="18181" bIns="9091">
            <a:sp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563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3050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6353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82073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27793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73513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19233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50000"/>
              </a:spcBef>
            </a:pPr>
            <a:endParaRPr lang="zh-CN" altLang="zh-CN" sz="700">
              <a:latin typeface="Times New Roman" panose="02020603050405020304" pitchFamily="18" charset="0"/>
            </a:endParaRP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DD190F67-B7F9-44CD-8F38-5B59BFD18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82638"/>
            <a:ext cx="1981200" cy="111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342900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342900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7350" indent="-342900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14550" indent="-342900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71750" indent="-342900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950" indent="-342900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6150" indent="-342900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43350" indent="-342900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1. 简介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自1995年以来，美国国家环境预报中心（NCEP）一直使用海洋数据同化系统（ODAS，传统上称为RA6）生成实时海洋分析和再分析数据（Ji等，1995）。新的全球海洋数据同化系统（GODAS）被开发出来以替代RA6，并为NCEP新开发的全球气候预报系统（CFS）提供海洋初始条件（Behringer和Xue，2004）。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42D6ECC-833B-4A99-B9B9-7CC6DFF27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80963"/>
            <a:ext cx="48768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DBFDE8"/>
                    </a:gs>
                    <a:gs pos="100000">
                      <a:srgbClr val="DBFDE8">
                        <a:gamma/>
                        <a:shade val="6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82563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3050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6353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82073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27793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73513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19233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</a:rPr>
              <a:t>全球海洋数据同化系统（GODAS）网站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</a:rPr>
              <a:t>http://www.cpc.ncep.noaa.gov/products/GODAS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</a:rPr>
              <a:t>Boyin Huang, Yan Xue, and David Behringer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Times New Roman"/>
              </a:defRPr>
            </a:pPr>
            <a:r>
              <a:rPr sz="900">
                <a:solidFill>
                  <a:srgbClr val="000000"/>
                </a:solidFill>
                <a:latin typeface="Times New Roman"/>
              </a:rPr>
              <a:t>气候预测中心/NCEP/NOAA</a:t>
            </a:r>
          </a:p>
        </p:txBody>
      </p:sp>
      <p:pic>
        <p:nvPicPr>
          <p:cNvPr id="3101" name="Picture 29">
            <a:extLst>
              <a:ext uri="{FF2B5EF4-FFF2-40B4-BE49-F238E27FC236}">
                <a16:creationId xmlns:a16="http://schemas.microsoft.com/office/drawing/2014/main" id="{2A48C3CD-4AEA-4756-B09E-573A0DEF3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90500"/>
            <a:ext cx="393700" cy="43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20" name="Text Box 248">
            <a:extLst>
              <a:ext uri="{FF2B5EF4-FFF2-40B4-BE49-F238E27FC236}">
                <a16:creationId xmlns:a16="http://schemas.microsoft.com/office/drawing/2014/main" id="{CC10ACF7-A2F2-4114-88B3-9716C85ED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495800"/>
            <a:ext cx="19050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36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079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2275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349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921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493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065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3637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FF"/>
                </a:solidFill>
                <a:latin typeface="Times New Roman"/>
              </a:defRPr>
            </a:pPr>
            <a:r>
              <a:rPr sz="700">
                <a:solidFill>
                  <a:srgbClr val="0000FF"/>
                </a:solidFill>
                <a:latin typeface="Times New Roman"/>
              </a:rPr>
              <a:t>5. GODAS网站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FF"/>
                </a:solidFill>
                <a:latin typeface="Times New Roman"/>
              </a:defRPr>
            </a:pPr>
            <a:r>
              <a:rPr sz="700">
                <a:solidFill>
                  <a:srgbClr val="0000FF"/>
                </a:solidFill>
                <a:latin typeface="Times New Roman"/>
              </a:rPr>
              <a:t>GODAS网站（http://www.cpc.ncep.noaa.gov/products/GODAS）旨在让用户轻松访问可视化的GODAS产品。用户可浏览网站并选择相应的变量，如下图所示。用户还可在以下地址获取原始二进制数据：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FF"/>
                </a:solidFill>
                <a:latin typeface="Times New Roman"/>
              </a:defRPr>
            </a:pPr>
            <a:r>
              <a:rPr sz="700">
                <a:solidFill>
                  <a:srgbClr val="0000FF"/>
                </a:solidFill>
                <a:latin typeface="Times New Roman"/>
              </a:rPr>
              <a:t>http://cfs.ncep.noaa.gov/cfs/godas</a:t>
            </a:r>
          </a:p>
        </p:txBody>
      </p:sp>
      <p:sp>
        <p:nvSpPr>
          <p:cNvPr id="3322" name="Text Box 250">
            <a:extLst>
              <a:ext uri="{FF2B5EF4-FFF2-40B4-BE49-F238E27FC236}">
                <a16:creationId xmlns:a16="http://schemas.microsoft.com/office/drawing/2014/main" id="{A9A6166F-5DBB-4096-A6B6-28C33392D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105150"/>
            <a:ext cx="1905000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190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238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30250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93503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39223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84943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0663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76383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8. 总结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GODAS网站由NOAA气候观测办公室赞助，旨在：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更广泛地推广GODAS数据产品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提供海洋气候变化的实时监控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评估海洋观测系统的有效性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与其他海洋分析产品进行对比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请访问GODAS网站 http://www.cpc.ncep.noaa.gov/products/GODAS，或联系 boyin.huang@noaa.gov、yan.xue@noaa.gov 或 david.behringer@noaa.gov 获取更多信息。</a:t>
            </a:r>
          </a:p>
        </p:txBody>
      </p:sp>
      <p:sp>
        <p:nvSpPr>
          <p:cNvPr id="3323" name="Text Box 251">
            <a:extLst>
              <a:ext uri="{FF2B5EF4-FFF2-40B4-BE49-F238E27FC236}">
                <a16:creationId xmlns:a16="http://schemas.microsoft.com/office/drawing/2014/main" id="{BB474716-C480-4F28-86B4-695C9C7C1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59000"/>
            <a:ext cx="1981200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36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079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2275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349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921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493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065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3637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2. GODAS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GODAS基于GFDL MOM3模型构建。模型范围为南纬70°至北纬65°，分辨率为1°×1°，在10ºS至10ºN之间加密至1/3°。该模型包含40个垂直层，上层200米分辨率为10米。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GODAS由NCEP大气再分析第2版（R2）提供的动量通量、热通量和淡水通量驱动。此外，顶层模型温度会松弛至每周观测海表温度（SST）分析场，而表面盐度则松弛至年度盐度气候态。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GODAS同化来自XBT、TAO/TRITON/PIRATA浮标阵列以及Argo剖面浮标的温度剖面数据。它还同化合成盐度剖面数据。同化方法采用三维变分（3DVAR）方案。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与观测资料对比，GODAS的温度表现优于RA6，且1990年至2003年间GODAS的海平面高度表现与RA6相当或更优。</a:t>
            </a:r>
          </a:p>
        </p:txBody>
      </p:sp>
      <p:sp>
        <p:nvSpPr>
          <p:cNvPr id="3324" name="Text Box 252">
            <a:extLst>
              <a:ext uri="{FF2B5EF4-FFF2-40B4-BE49-F238E27FC236}">
                <a16:creationId xmlns:a16="http://schemas.microsoft.com/office/drawing/2014/main" id="{2EE01071-BEA2-4357-B9A1-37B4B7AB9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486275"/>
            <a:ext cx="19812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36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079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2275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349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921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493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065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3637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3. GODAS产品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GODAS网站提供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二维表面及其他海洋变量，例如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风场、表面净热通量、淡水通量、SST、混合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层深度、20ºC等温线深度、海平面高度、上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层300米热含量等。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三维海洋温度、纬向流和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经向流。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GODAS产品分为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月平均（1月至12月）和年气候态。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1979年1月至2005年9月的月平均值，以及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1979年1月至2005年9月的五日平均值。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网站通过以下方式可视化这些产品：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海洋表面（经纬度平面图），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纬向剖面（经度-深度和经度-时间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平面图），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经向剖面及纬向平均（纬度-深度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平面图）。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上述平面的动画演示。</a:t>
            </a:r>
          </a:p>
        </p:txBody>
      </p:sp>
      <p:sp>
        <p:nvSpPr>
          <p:cNvPr id="3337" name="Line 265">
            <a:extLst>
              <a:ext uri="{FF2B5EF4-FFF2-40B4-BE49-F238E27FC236}">
                <a16:creationId xmlns:a16="http://schemas.microsoft.com/office/drawing/2014/main" id="{FD767A91-A27D-4C13-BCF4-0AD76BD27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6400800"/>
            <a:ext cx="7086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" name="Text Box 276">
            <a:extLst>
              <a:ext uri="{FF2B5EF4-FFF2-40B4-BE49-F238E27FC236}">
                <a16:creationId xmlns:a16="http://schemas.microsoft.com/office/drawing/2014/main" id="{36C9433D-0C71-47D8-A978-1447D676B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692400"/>
            <a:ext cx="19050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36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079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2275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349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921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493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065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3637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7.1. GODAS验证-1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GODAS产品存在一定偏差。气候态年SST异常表明，在大部分热带海域，SST相对于最优插值SST（OISST）的偏差小于0.2ºC。然而，热带海域可识别出冷偏差，而在沿岸海域和南大洋暖偏差较为显著。</a:t>
            </a:r>
          </a:p>
        </p:txBody>
      </p:sp>
      <p:pic>
        <p:nvPicPr>
          <p:cNvPr id="3349" name="Picture 277">
            <a:extLst>
              <a:ext uri="{FF2B5EF4-FFF2-40B4-BE49-F238E27FC236}">
                <a16:creationId xmlns:a16="http://schemas.microsoft.com/office/drawing/2014/main" id="{F82F1EA4-0ACA-432B-810B-152986FCD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" t="10817" r="6085" b="7878"/>
          <a:stretch>
            <a:fillRect/>
          </a:stretch>
        </p:blipFill>
        <p:spPr bwMode="auto">
          <a:xfrm>
            <a:off x="4870450" y="3529013"/>
            <a:ext cx="1454150" cy="106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50" name="Text Box 278">
            <a:extLst>
              <a:ext uri="{FF2B5EF4-FFF2-40B4-BE49-F238E27FC236}">
                <a16:creationId xmlns:a16="http://schemas.microsoft.com/office/drawing/2014/main" id="{15A560EE-ED6D-4BD1-8BE8-81D5DEDAF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800600"/>
            <a:ext cx="19050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36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079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2275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349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921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493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065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3637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7.2. GODAS验证-2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偏差可能具有时间依赖性。如下所示，GODAS的热带表层海洋在1990年前表现出暖偏差，1990年后表现为冷偏差，这可能与Xue和Behringer（2005）提出的TAO观测数据大幅增加有关。</a:t>
            </a:r>
          </a:p>
        </p:txBody>
      </p:sp>
      <p:pic>
        <p:nvPicPr>
          <p:cNvPr id="3351" name="Picture 279">
            <a:extLst>
              <a:ext uri="{FF2B5EF4-FFF2-40B4-BE49-F238E27FC236}">
                <a16:creationId xmlns:a16="http://schemas.microsoft.com/office/drawing/2014/main" id="{0876C70D-295F-42B9-8E56-9CCC15B5E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2" t="9758" r="6812" b="5879"/>
          <a:stretch>
            <a:fillRect/>
          </a:stretch>
        </p:blipFill>
        <p:spPr bwMode="auto">
          <a:xfrm>
            <a:off x="4894263" y="5549900"/>
            <a:ext cx="1481137" cy="111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55" name="Text Box 283">
            <a:extLst>
              <a:ext uri="{FF2B5EF4-FFF2-40B4-BE49-F238E27FC236}">
                <a16:creationId xmlns:a16="http://schemas.microsoft.com/office/drawing/2014/main" id="{70A8B76B-99D6-45D1-8683-615369EC4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762000"/>
            <a:ext cx="1905000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36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079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2275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349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921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493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065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3637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7.3. GODAS验证-3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偏差也可能具有季节性特征。50ºN附近SST相对于OISST的偏差表明，北太平洋冬季通常比观测值更冷，夏季则更暖。在大西洋北部和南大洋也发现了类似的偏差。</a:t>
            </a:r>
          </a:p>
        </p:txBody>
      </p:sp>
      <p:pic>
        <p:nvPicPr>
          <p:cNvPr id="3357" name="Picture 285">
            <a:extLst>
              <a:ext uri="{FF2B5EF4-FFF2-40B4-BE49-F238E27FC236}">
                <a16:creationId xmlns:a16="http://schemas.microsoft.com/office/drawing/2014/main" id="{9EBE8643-9CF2-468C-824E-F6DCD9018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2" t="8818" r="6085" b="5879"/>
          <a:stretch>
            <a:fillRect/>
          </a:stretch>
        </p:blipFill>
        <p:spPr bwMode="auto">
          <a:xfrm>
            <a:off x="7162800" y="1608138"/>
            <a:ext cx="1498600" cy="113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58" name="Text Box 286">
            <a:extLst>
              <a:ext uri="{FF2B5EF4-FFF2-40B4-BE49-F238E27FC236}">
                <a16:creationId xmlns:a16="http://schemas.microsoft.com/office/drawing/2014/main" id="{680A937F-EFF0-4AA0-85D2-5F73D29EC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762000"/>
            <a:ext cx="19050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36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079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2275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349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921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493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065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3637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6. 网站实时更新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可视化的月平均和五日均值会实时更新。如下例所示的2005年20℃等温线深度异常图，其中清晰可见向东传播的开尔文波活动。</a:t>
            </a:r>
          </a:p>
        </p:txBody>
      </p:sp>
      <p:pic>
        <p:nvPicPr>
          <p:cNvPr id="3359" name="Picture 287">
            <a:extLst>
              <a:ext uri="{FF2B5EF4-FFF2-40B4-BE49-F238E27FC236}">
                <a16:creationId xmlns:a16="http://schemas.microsoft.com/office/drawing/2014/main" id="{F7255309-2BD9-48DD-A043-F7051DE2C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" t="9758" r="4541" b="5879"/>
          <a:stretch>
            <a:fillRect/>
          </a:stretch>
        </p:blipFill>
        <p:spPr bwMode="auto">
          <a:xfrm>
            <a:off x="4876800" y="1371600"/>
            <a:ext cx="1490663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60" name="Text Box 288">
            <a:extLst>
              <a:ext uri="{FF2B5EF4-FFF2-40B4-BE49-F238E27FC236}">
                <a16:creationId xmlns:a16="http://schemas.microsoft.com/office/drawing/2014/main" id="{BE82DB54-2562-45FC-A2B6-ACF74C41A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777875"/>
            <a:ext cx="1935162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936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079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22275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5349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9921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4493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9065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36378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4. GODAS中同化的温度剖面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为向用户展示海洋观测系统的有效性，以下示例展示了GODAS中使用的XBT、TAO/TRITON/PIRATA和Argo观测数据的温度剖面分布与数量：包括2004年的剖面分布以及1979年至2005年五个纬度带的剖面数量。</a:t>
            </a:r>
          </a:p>
        </p:txBody>
      </p:sp>
      <p:pic>
        <p:nvPicPr>
          <p:cNvPr id="3361" name="Picture 289">
            <a:extLst>
              <a:ext uri="{FF2B5EF4-FFF2-40B4-BE49-F238E27FC236}">
                <a16:creationId xmlns:a16="http://schemas.microsoft.com/office/drawing/2014/main" id="{4548F3C2-3B4F-475F-9CC1-0DB235F04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" t="6819" r="4541" b="11757"/>
          <a:stretch>
            <a:fillRect/>
          </a:stretch>
        </p:blipFill>
        <p:spPr bwMode="auto">
          <a:xfrm>
            <a:off x="2590800" y="1600200"/>
            <a:ext cx="1581150" cy="114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62" name="Picture 290">
            <a:extLst>
              <a:ext uri="{FF2B5EF4-FFF2-40B4-BE49-F238E27FC236}">
                <a16:creationId xmlns:a16="http://schemas.microsoft.com/office/drawing/2014/main" id="{4989A95B-C225-4D86-AC74-DC075A97A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4" t="9818" r="8940" b="25000"/>
          <a:stretch>
            <a:fillRect/>
          </a:stretch>
        </p:blipFill>
        <p:spPr bwMode="auto">
          <a:xfrm>
            <a:off x="2713038" y="2778125"/>
            <a:ext cx="1401762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63" name="Text Box 291">
            <a:extLst>
              <a:ext uri="{FF2B5EF4-FFF2-40B4-BE49-F238E27FC236}">
                <a16:creationId xmlns:a16="http://schemas.microsoft.com/office/drawing/2014/main" id="{99EEA60F-615F-459A-AD6D-F4D75A2B5ACF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985169" y="3477419"/>
            <a:ext cx="1243012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Arial"/>
              </a:defRPr>
            </a:pPr>
            <a:r>
              <a:rPr sz="900">
                <a:solidFill>
                  <a:srgbClr val="000000"/>
                </a:solidFill>
                <a:latin typeface="Arial"/>
              </a:rPr>
              <a:t>温度剖面数量</a:t>
            </a:r>
          </a:p>
        </p:txBody>
      </p:sp>
      <p:sp>
        <p:nvSpPr>
          <p:cNvPr id="3364" name="Text Box 292">
            <a:extLst>
              <a:ext uri="{FF2B5EF4-FFF2-40B4-BE49-F238E27FC236}">
                <a16:creationId xmlns:a16="http://schemas.microsoft.com/office/drawing/2014/main" id="{429360A9-C9F7-4CC6-ACED-FB4065025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876800"/>
            <a:ext cx="190500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wrap="square">
            <a:normAutofit/>
          </a:bodyPr>
          <a:lstStyle>
            <a:lvl1pPr marL="114300" indent="-114300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1908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23875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30250" indent="-92075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935038" indent="-90488" defTabSz="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39223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184943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30663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763838" indent="-90488" defTabSz="1825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参考文献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Behringer, D.W., 和 Y. Xue, 2004: 评估NCEP的全球海洋数据同化系统：太平洋部分。第八届大气、海洋和陆面综合观测与同化系统研讨会，AMS第84次年会，华盛顿州会议与贸易中心，西雅图，华盛顿州，11-15日。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Ji, M., A. Leetmaa, 和 J. Derber, 1995: 用于季节至年际气候研究的海洋分析系统。《月度天气评论》，123卷，460-481页。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000000"/>
                </a:solidFill>
                <a:latin typeface="Times New Roman"/>
              </a:defRPr>
            </a:pPr>
            <a:r>
              <a:rPr sz="700">
                <a:solidFill>
                  <a:srgbClr val="000000"/>
                </a:solidFill>
                <a:latin typeface="Times New Roman"/>
              </a:rPr>
              <a:t>Xue, Y., 和 Behringer, D.W., 2005: NCEP业务化全球海洋数据同化系统，拟投稿至BAMS。</a:t>
            </a:r>
          </a:p>
        </p:txBody>
      </p:sp>
      <p:pic>
        <p:nvPicPr>
          <p:cNvPr id="3377" name="Picture 305">
            <a:extLst>
              <a:ext uri="{FF2B5EF4-FFF2-40B4-BE49-F238E27FC236}">
                <a16:creationId xmlns:a16="http://schemas.microsoft.com/office/drawing/2014/main" id="{BCB6099F-12F8-42E4-9202-7C63B940C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9" t="12267" r="18300" b="22267"/>
          <a:stretch>
            <a:fillRect/>
          </a:stretch>
        </p:blipFill>
        <p:spPr bwMode="auto">
          <a:xfrm>
            <a:off x="2514600" y="5543550"/>
            <a:ext cx="1682750" cy="112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" name="Picture 307">
            <a:hlinkClick r:id="rId11" action="ppaction://hlinkpres?slideindex=1&amp;slidetitle="/>
            <a:extLst>
              <a:ext uri="{FF2B5EF4-FFF2-40B4-BE49-F238E27FC236}">
                <a16:creationId xmlns:a16="http://schemas.microsoft.com/office/drawing/2014/main" id="{261BE528-DE56-42EB-B03C-71A63BD8B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263" y="158750"/>
            <a:ext cx="520700" cy="5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80" name="TextBox 3379"/>
          <p:cNvSpPr txBox="1"/>
          <p:nvPr/>
        </p:nvSpPr>
        <p:spPr>
          <a:xfrm>
            <a:off x="444500" y="190500"/>
            <a:ext cx="393700" cy="4333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3381" name="TextBox 3380"/>
          <p:cNvSpPr txBox="1"/>
          <p:nvPr/>
        </p:nvSpPr>
        <p:spPr>
          <a:xfrm>
            <a:off x="8196263" y="158750"/>
            <a:ext cx="520700" cy="5207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3382" name="TextBox 3381"/>
          <p:cNvSpPr txBox="1"/>
          <p:nvPr/>
        </p:nvSpPr>
        <p:spPr>
          <a:xfrm>
            <a:off x="4876800" y="1371600"/>
            <a:ext cx="1490663" cy="111442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3383" name="TextBox 3382"/>
          <p:cNvSpPr txBox="1"/>
          <p:nvPr/>
        </p:nvSpPr>
        <p:spPr>
          <a:xfrm>
            <a:off x="2590800" y="1600200"/>
            <a:ext cx="1581150" cy="114141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温度剖面 (0-250米)，2004年年度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深度 (米)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MCT剖面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T/S/Temp/微结构测量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Argo浮标</a:t>
            </a:r>
          </a:p>
        </p:txBody>
      </p:sp>
      <p:sp>
        <p:nvSpPr>
          <p:cNvPr id="3384" name="TextBox 3383"/>
          <p:cNvSpPr txBox="1"/>
          <p:nvPr/>
        </p:nvSpPr>
        <p:spPr>
          <a:xfrm>
            <a:off x="7162800" y="1608138"/>
            <a:ext cx="1498600" cy="113506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3385" name="TextBox 3384"/>
          <p:cNvSpPr txBox="1"/>
          <p:nvPr/>
        </p:nvSpPr>
        <p:spPr>
          <a:xfrm>
            <a:off x="2713038" y="2778125"/>
            <a:ext cx="1401762" cy="143827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2005-2010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2010-2015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2015-2020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总计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TAD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TAS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TAL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  <a:r>
              <a:rPr sz="900">
                <a:solidFill>
                  <a:srgbClr val="000000"/>
                </a:solidFill>
                <a:latin typeface="Microsoft YaHei"/>
              </a:rPr>
              <a:t>2020-2025</a:t>
            </a:r>
          </a:p>
        </p:txBody>
      </p:sp>
      <p:sp>
        <p:nvSpPr>
          <p:cNvPr id="3386" name="TextBox 3385"/>
          <p:cNvSpPr txBox="1"/>
          <p:nvPr/>
        </p:nvSpPr>
        <p:spPr>
          <a:xfrm>
            <a:off x="4870450" y="3529013"/>
            <a:ext cx="1454150" cy="10683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3387" name="TextBox 3386"/>
          <p:cNvSpPr txBox="1"/>
          <p:nvPr/>
        </p:nvSpPr>
        <p:spPr>
          <a:xfrm>
            <a:off x="2514600" y="5543550"/>
            <a:ext cx="1682750" cy="112553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全球X-Y图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变量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最优插值海表温度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海平面高度（5米）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GOADS海表温度减去OISST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洋流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混合层深度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上层300米的平均温度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地表净热通量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地表净淡水通量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海平面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地表纬向风应力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地表经向风应力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地表纬向流（u速度）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月份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2月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3月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4月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5月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6月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7月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8月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9月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10月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11月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12月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1月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年份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1993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1994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1995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1996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1997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1998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1999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2000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2001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2002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2003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2004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400">
                <a:solidFill>
                  <a:srgbClr val="000000"/>
                </a:solidFill>
                <a:latin typeface="Microsoft YaHei"/>
              </a:defRPr>
            </a:pPr>
            <a:r>
              <a:rPr sz="400">
                <a:solidFill>
                  <a:srgbClr val="000000"/>
                </a:solidFill>
                <a:latin typeface="Microsoft YaHei"/>
              </a:rPr>
              <a:t>提交</a:t>
            </a:r>
          </a:p>
        </p:txBody>
      </p:sp>
      <p:sp>
        <p:nvSpPr>
          <p:cNvPr id="3388" name="TextBox 3387"/>
          <p:cNvSpPr txBox="1"/>
          <p:nvPr/>
        </p:nvSpPr>
        <p:spPr>
          <a:xfrm>
            <a:off x="4894263" y="5549900"/>
            <a:ext cx="1481137" cy="11191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000000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3169</TotalTime>
  <Words>1029</Words>
  <Application>Microsoft Office PowerPoint</Application>
  <PresentationFormat>全屏显示(4:3)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演示文稿</vt:lpstr>
    </vt:vector>
  </TitlesOfParts>
  <Company>NOAA / NESDIS / 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Lihang Zhou</dc:creator>
  <cp:lastModifiedBy>家梁</cp:lastModifiedBy>
  <cp:revision>169</cp:revision>
  <dcterms:created xsi:type="dcterms:W3CDTF">2004-05-04T15:04:41Z</dcterms:created>
  <dcterms:modified xsi:type="dcterms:W3CDTF">2026-04-22T07:26:59Z</dcterms:modified>
</cp:coreProperties>
</file>