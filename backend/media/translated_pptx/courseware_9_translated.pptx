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28"/>
  </p:notesMasterIdLst>
  <p:handoutMasterIdLst>
    <p:handoutMasterId r:id="rId29"/>
  </p:handoutMasterIdLst>
  <p:sldIdLst>
    <p:sldId id="386" r:id="rId2"/>
    <p:sldId id="640" r:id="rId3"/>
    <p:sldId id="702" r:id="rId4"/>
    <p:sldId id="700" r:id="rId5"/>
    <p:sldId id="642" r:id="rId6"/>
    <p:sldId id="673" r:id="rId7"/>
    <p:sldId id="643" r:id="rId8"/>
    <p:sldId id="678" r:id="rId9"/>
    <p:sldId id="704" r:id="rId10"/>
    <p:sldId id="675" r:id="rId11"/>
    <p:sldId id="674" r:id="rId12"/>
    <p:sldId id="699" r:id="rId13"/>
    <p:sldId id="679" r:id="rId14"/>
    <p:sldId id="650" r:id="rId15"/>
    <p:sldId id="698" r:id="rId16"/>
    <p:sldId id="651" r:id="rId17"/>
    <p:sldId id="697" r:id="rId18"/>
    <p:sldId id="692" r:id="rId19"/>
    <p:sldId id="680" r:id="rId20"/>
    <p:sldId id="676" r:id="rId21"/>
    <p:sldId id="703" r:id="rId22"/>
    <p:sldId id="663" r:id="rId23"/>
    <p:sldId id="693" r:id="rId24"/>
    <p:sldId id="694" r:id="rId25"/>
    <p:sldId id="701" r:id="rId26"/>
    <p:sldId id="677" r:id="rId27"/>
  </p:sldIdLst>
  <p:sldSz cx="9144000" cy="6858000" type="screen4x3"/>
  <p:notesSz cx="7010400" cy="9296400"/>
  <p:defaultTextStyle>
    <a:defPPr>
      <a:defRPr lang="es-ES"/>
    </a:defPPr>
    <a:lvl1pPr algn="ctr" rtl="0" eaLnBrk="0" fontAlgn="base" hangingPunct="0">
      <a:spcBef>
        <a:spcPct val="0"/>
      </a:spcBef>
      <a:spcAft>
        <a:spcPct val="0"/>
      </a:spcAft>
      <a:defRPr sz="1600" i="1" kern="1200">
        <a:solidFill>
          <a:schemeClr val="tx1"/>
        </a:solidFill>
        <a:latin typeface="Calibri" panose="020F0502020204030204" pitchFamily="34" charset="0"/>
        <a:ea typeface="+mn-ea"/>
        <a:cs typeface="Times New Roman" panose="02020603050405020304" pitchFamily="18" charset="0"/>
      </a:defRPr>
    </a:lvl1pPr>
    <a:lvl2pPr marL="457200" algn="ctr" rtl="0" eaLnBrk="0" fontAlgn="base" hangingPunct="0">
      <a:spcBef>
        <a:spcPct val="0"/>
      </a:spcBef>
      <a:spcAft>
        <a:spcPct val="0"/>
      </a:spcAft>
      <a:defRPr sz="1600" i="1" kern="1200">
        <a:solidFill>
          <a:schemeClr val="tx1"/>
        </a:solidFill>
        <a:latin typeface="Calibri" panose="020F0502020204030204" pitchFamily="34" charset="0"/>
        <a:ea typeface="+mn-ea"/>
        <a:cs typeface="Times New Roman" panose="02020603050405020304" pitchFamily="18" charset="0"/>
      </a:defRPr>
    </a:lvl2pPr>
    <a:lvl3pPr marL="914400" algn="ctr" rtl="0" eaLnBrk="0" fontAlgn="base" hangingPunct="0">
      <a:spcBef>
        <a:spcPct val="0"/>
      </a:spcBef>
      <a:spcAft>
        <a:spcPct val="0"/>
      </a:spcAft>
      <a:defRPr sz="1600" i="1" kern="1200">
        <a:solidFill>
          <a:schemeClr val="tx1"/>
        </a:solidFill>
        <a:latin typeface="Calibri" panose="020F0502020204030204" pitchFamily="34" charset="0"/>
        <a:ea typeface="+mn-ea"/>
        <a:cs typeface="Times New Roman" panose="02020603050405020304" pitchFamily="18" charset="0"/>
      </a:defRPr>
    </a:lvl3pPr>
    <a:lvl4pPr marL="1371600" algn="ctr" rtl="0" eaLnBrk="0" fontAlgn="base" hangingPunct="0">
      <a:spcBef>
        <a:spcPct val="0"/>
      </a:spcBef>
      <a:spcAft>
        <a:spcPct val="0"/>
      </a:spcAft>
      <a:defRPr sz="1600" i="1" kern="1200">
        <a:solidFill>
          <a:schemeClr val="tx1"/>
        </a:solidFill>
        <a:latin typeface="Calibri" panose="020F0502020204030204" pitchFamily="34" charset="0"/>
        <a:ea typeface="+mn-ea"/>
        <a:cs typeface="Times New Roman" panose="02020603050405020304" pitchFamily="18" charset="0"/>
      </a:defRPr>
    </a:lvl4pPr>
    <a:lvl5pPr marL="1828800" algn="ctr" rtl="0" eaLnBrk="0" fontAlgn="base" hangingPunct="0">
      <a:spcBef>
        <a:spcPct val="0"/>
      </a:spcBef>
      <a:spcAft>
        <a:spcPct val="0"/>
      </a:spcAft>
      <a:defRPr sz="1600" i="1" kern="1200">
        <a:solidFill>
          <a:schemeClr val="tx1"/>
        </a:solidFill>
        <a:latin typeface="Calibri" panose="020F0502020204030204" pitchFamily="34" charset="0"/>
        <a:ea typeface="+mn-ea"/>
        <a:cs typeface="Times New Roman" panose="02020603050405020304" pitchFamily="18" charset="0"/>
      </a:defRPr>
    </a:lvl5pPr>
    <a:lvl6pPr marL="2286000" algn="l" defTabSz="914400" rtl="0" eaLnBrk="1" latinLnBrk="0" hangingPunct="1">
      <a:defRPr sz="1600" i="1" kern="1200">
        <a:solidFill>
          <a:schemeClr val="tx1"/>
        </a:solidFill>
        <a:latin typeface="Calibri" panose="020F0502020204030204" pitchFamily="34" charset="0"/>
        <a:ea typeface="+mn-ea"/>
        <a:cs typeface="Times New Roman" panose="02020603050405020304" pitchFamily="18" charset="0"/>
      </a:defRPr>
    </a:lvl6pPr>
    <a:lvl7pPr marL="2743200" algn="l" defTabSz="914400" rtl="0" eaLnBrk="1" latinLnBrk="0" hangingPunct="1">
      <a:defRPr sz="1600" i="1" kern="1200">
        <a:solidFill>
          <a:schemeClr val="tx1"/>
        </a:solidFill>
        <a:latin typeface="Calibri" panose="020F0502020204030204" pitchFamily="34" charset="0"/>
        <a:ea typeface="+mn-ea"/>
        <a:cs typeface="Times New Roman" panose="02020603050405020304" pitchFamily="18" charset="0"/>
      </a:defRPr>
    </a:lvl7pPr>
    <a:lvl8pPr marL="3200400" algn="l" defTabSz="914400" rtl="0" eaLnBrk="1" latinLnBrk="0" hangingPunct="1">
      <a:defRPr sz="1600" i="1" kern="1200">
        <a:solidFill>
          <a:schemeClr val="tx1"/>
        </a:solidFill>
        <a:latin typeface="Calibri" panose="020F0502020204030204" pitchFamily="34" charset="0"/>
        <a:ea typeface="+mn-ea"/>
        <a:cs typeface="Times New Roman" panose="02020603050405020304" pitchFamily="18" charset="0"/>
      </a:defRPr>
    </a:lvl8pPr>
    <a:lvl9pPr marL="3657600" algn="l" defTabSz="914400" rtl="0" eaLnBrk="1" latinLnBrk="0" hangingPunct="1">
      <a:defRPr sz="1600" i="1" kern="1200">
        <a:solidFill>
          <a:schemeClr val="tx1"/>
        </a:solidFill>
        <a:latin typeface="Calibri" panose="020F0502020204030204" pitchFamily="34" charset="0"/>
        <a:ea typeface="+mn-ea"/>
        <a:cs typeface="Times New Roman" panose="02020603050405020304" pitchFamily="18"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FF3300"/>
    <a:srgbClr val="D240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42" autoAdjust="0"/>
    <p:restoredTop sz="82801" autoAdjust="0"/>
  </p:normalViewPr>
  <p:slideViewPr>
    <p:cSldViewPr>
      <p:cViewPr>
        <p:scale>
          <a:sx n="66" d="100"/>
          <a:sy n="66" d="100"/>
        </p:scale>
        <p:origin x="-678"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8382"/>
    </p:cViewPr>
  </p:sorterViewPr>
  <p:notesViewPr>
    <p:cSldViewPr>
      <p:cViewPr>
        <p:scale>
          <a:sx n="150" d="100"/>
          <a:sy n="150" d="100"/>
        </p:scale>
        <p:origin x="642" y="-78"/>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 Type="http://schemas.openxmlformats.org/officeDocument/2006/relationships/slide" Target="slides/slide2.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B2CF23CB-23E6-4896-B45B-3C79DD140383}"/>
              </a:ext>
            </a:extLst>
          </p:cNvPr>
          <p:cNvSpPr>
            <a:spLocks noGrp="1" noChangeArrowheads="1"/>
          </p:cNvSpPr>
          <p:nvPr>
            <p:ph type="hdr" sz="quarter"/>
          </p:nvPr>
        </p:nvSpPr>
        <p:spPr bwMode="auto">
          <a:xfrm>
            <a:off x="0" y="0"/>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2" tIns="45711" rIns="91422" bIns="45711" numCol="1" anchor="t" anchorCtr="0" compatLnSpc="1">
            <a:prstTxWarp prst="textNoShape">
              <a:avLst/>
            </a:prstTxWarp>
          </a:bodyPr>
          <a:lstStyle>
            <a:lvl1pPr algn="l" defTabSz="906463">
              <a:defRPr sz="1200" i="0">
                <a:latin typeface="Arial" panose="020B0604020202020204" pitchFamily="34" charset="0"/>
              </a:defRPr>
            </a:lvl1pPr>
          </a:lstStyle>
          <a:p>
            <a:endParaRPr lang="en-US" altLang="zh-CN"/>
          </a:p>
        </p:txBody>
      </p:sp>
      <p:sp>
        <p:nvSpPr>
          <p:cNvPr id="237571" name="Rectangle 3">
            <a:extLst>
              <a:ext uri="{FF2B5EF4-FFF2-40B4-BE49-F238E27FC236}">
                <a16:creationId xmlns:a16="http://schemas.microsoft.com/office/drawing/2014/main" id="{D29AB73B-A66D-4E84-AECA-71236CCD5506}"/>
              </a:ext>
            </a:extLst>
          </p:cNvPr>
          <p:cNvSpPr>
            <a:spLocks noGrp="1" noChangeArrowheads="1"/>
          </p:cNvSpPr>
          <p:nvPr>
            <p:ph type="dt" sz="quarter" idx="1"/>
          </p:nvPr>
        </p:nvSpPr>
        <p:spPr bwMode="auto">
          <a:xfrm>
            <a:off x="2714625" y="0"/>
            <a:ext cx="429577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2" tIns="45711" rIns="91422" bIns="45711" numCol="1" anchor="t" anchorCtr="0" compatLnSpc="1">
            <a:prstTxWarp prst="textNoShape">
              <a:avLst/>
            </a:prstTxWarp>
          </a:bodyPr>
          <a:lstStyle>
            <a:lvl1pPr algn="r" defTabSz="906463">
              <a:defRPr sz="1200" b="1">
                <a:latin typeface="Arial" panose="020B0604020202020204" pitchFamily="34" charset="0"/>
                <a:cs typeface="Arial" panose="020B0604020202020204" pitchFamily="34" charset="0"/>
              </a:defRPr>
            </a:lvl1pPr>
          </a:lstStyle>
          <a:p>
            <a:endParaRPr lang="es-MX" altLang="zh-CN"/>
          </a:p>
        </p:txBody>
      </p:sp>
      <p:sp>
        <p:nvSpPr>
          <p:cNvPr id="237572" name="Rectangle 4">
            <a:extLst>
              <a:ext uri="{FF2B5EF4-FFF2-40B4-BE49-F238E27FC236}">
                <a16:creationId xmlns:a16="http://schemas.microsoft.com/office/drawing/2014/main" id="{F575832D-145D-43CA-9A23-92B6162765D0}"/>
              </a:ext>
            </a:extLst>
          </p:cNvPr>
          <p:cNvSpPr>
            <a:spLocks noGrp="1" noChangeArrowheads="1"/>
          </p:cNvSpPr>
          <p:nvPr>
            <p:ph type="ftr" sz="quarter" idx="2"/>
          </p:nvPr>
        </p:nvSpPr>
        <p:spPr bwMode="auto">
          <a:xfrm>
            <a:off x="0"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2" tIns="45711" rIns="91422" bIns="45711" numCol="1" anchor="b" anchorCtr="0" compatLnSpc="1">
            <a:prstTxWarp prst="textNoShape">
              <a:avLst/>
            </a:prstTxWarp>
          </a:bodyPr>
          <a:lstStyle>
            <a:lvl1pPr algn="l" defTabSz="906463">
              <a:defRPr sz="1200" i="0">
                <a:latin typeface="Arial" panose="020B0604020202020204" pitchFamily="34" charset="0"/>
              </a:defRPr>
            </a:lvl1pPr>
          </a:lstStyle>
          <a:p>
            <a:endParaRPr lang="en-US" altLang="zh-CN"/>
          </a:p>
        </p:txBody>
      </p:sp>
      <p:sp>
        <p:nvSpPr>
          <p:cNvPr id="237573" name="Rectangle 5">
            <a:extLst>
              <a:ext uri="{FF2B5EF4-FFF2-40B4-BE49-F238E27FC236}">
                <a16:creationId xmlns:a16="http://schemas.microsoft.com/office/drawing/2014/main" id="{ED1CB1D4-1C18-48A0-8CF9-47809BAA6967}"/>
              </a:ext>
            </a:extLst>
          </p:cNvPr>
          <p:cNvSpPr>
            <a:spLocks noGrp="1" noChangeArrowheads="1"/>
          </p:cNvSpPr>
          <p:nvPr>
            <p:ph type="sldNum" sz="quarter" idx="3"/>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2" tIns="45711" rIns="91422" bIns="45711" numCol="1" anchor="b" anchorCtr="0" compatLnSpc="1">
            <a:prstTxWarp prst="textNoShape">
              <a:avLst/>
            </a:prstTxWarp>
          </a:bodyPr>
          <a:lstStyle>
            <a:lvl1pPr algn="r" defTabSz="906463">
              <a:defRPr sz="1200" i="0">
                <a:latin typeface="Arial" panose="020B0604020202020204" pitchFamily="34" charset="0"/>
              </a:defRPr>
            </a:lvl1pPr>
          </a:lstStyle>
          <a:p>
            <a:fld id="{DA9F03DD-3763-4F57-A4F5-80A94966FAC2}"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7429E492-6395-41A0-AAAE-BD647EBD498E}"/>
              </a:ext>
            </a:extLst>
          </p:cNvPr>
          <p:cNvSpPr>
            <a:spLocks noGrp="1"/>
          </p:cNvSpPr>
          <p:nvPr>
            <p:ph type="hdr" sz="quarter"/>
          </p:nvPr>
        </p:nvSpPr>
        <p:spPr bwMode="auto">
          <a:xfrm>
            <a:off x="0" y="0"/>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60" tIns="46580" rIns="93160" bIns="46580" numCol="1" anchor="t" anchorCtr="0" compatLnSpc="1">
            <a:prstTxWarp prst="textNoShape">
              <a:avLst/>
            </a:prstTxWarp>
          </a:bodyPr>
          <a:lstStyle>
            <a:lvl1pPr algn="l" defTabSz="930275" eaLnBrk="1" hangingPunct="1">
              <a:defRPr sz="1200" i="0">
                <a:latin typeface="Arial" panose="020B0604020202020204" pitchFamily="34" charset="0"/>
              </a:defRPr>
            </a:lvl1pPr>
          </a:lstStyle>
          <a:p>
            <a:endParaRPr lang="es-MX" altLang="zh-CN"/>
          </a:p>
        </p:txBody>
      </p:sp>
      <p:sp>
        <p:nvSpPr>
          <p:cNvPr id="3" name="2 Marcador de fecha">
            <a:extLst>
              <a:ext uri="{FF2B5EF4-FFF2-40B4-BE49-F238E27FC236}">
                <a16:creationId xmlns:a16="http://schemas.microsoft.com/office/drawing/2014/main" id="{C24A2A87-4D96-4771-87F7-DCD632AE27C9}"/>
              </a:ext>
            </a:extLst>
          </p:cNvPr>
          <p:cNvSpPr>
            <a:spLocks noGrp="1"/>
          </p:cNvSpPr>
          <p:nvPr>
            <p:ph type="dt" idx="1"/>
          </p:nvPr>
        </p:nvSpPr>
        <p:spPr bwMode="auto">
          <a:xfrm>
            <a:off x="3970338" y="0"/>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60" tIns="46580" rIns="93160" bIns="46580" numCol="1" anchor="t" anchorCtr="0" compatLnSpc="1">
            <a:prstTxWarp prst="textNoShape">
              <a:avLst/>
            </a:prstTxWarp>
          </a:bodyPr>
          <a:lstStyle>
            <a:lvl1pPr algn="r" defTabSz="930275" eaLnBrk="1" hangingPunct="1">
              <a:defRPr sz="1200" i="0">
                <a:latin typeface="Arial" panose="020B0604020202020204" pitchFamily="34" charset="0"/>
              </a:defRPr>
            </a:lvl1pPr>
          </a:lstStyle>
          <a:p>
            <a:fld id="{B5FD9068-BD26-421F-9121-6FE7B62FF104}" type="datetimeFigureOut">
              <a:rPr lang="es-MX" altLang="zh-CN"/>
              <a:pPr/>
              <a:t>21/04/2026</a:t>
            </a:fld>
            <a:endParaRPr lang="es-MX" altLang="zh-CN"/>
          </a:p>
        </p:txBody>
      </p:sp>
      <p:sp>
        <p:nvSpPr>
          <p:cNvPr id="4" name="3 Marcador de imagen de diapositiva">
            <a:extLst>
              <a:ext uri="{FF2B5EF4-FFF2-40B4-BE49-F238E27FC236}">
                <a16:creationId xmlns:a16="http://schemas.microsoft.com/office/drawing/2014/main" id="{05217940-A6D5-4B83-B08B-752D3D82153E}"/>
              </a:ext>
            </a:extLst>
          </p:cNvPr>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2290" tIns="46145" rIns="92290" bIns="46145" rtlCol="0" anchor="ctr"/>
          <a:lstStyle/>
          <a:p>
            <a:pPr lvl="0"/>
            <a:endParaRPr lang="es-MX" noProof="0"/>
          </a:p>
        </p:txBody>
      </p:sp>
      <p:sp>
        <p:nvSpPr>
          <p:cNvPr id="5" name="4 Marcador de notas">
            <a:extLst>
              <a:ext uri="{FF2B5EF4-FFF2-40B4-BE49-F238E27FC236}">
                <a16:creationId xmlns:a16="http://schemas.microsoft.com/office/drawing/2014/main" id="{F3EAD49A-4270-45F1-84B8-2D6AE98A9FCC}"/>
              </a:ext>
            </a:extLst>
          </p:cNvPr>
          <p:cNvSpPr>
            <a:spLocks noGrp="1"/>
          </p:cNvSpPr>
          <p:nvPr>
            <p:ph type="body" sz="quarter" idx="3"/>
          </p:nvPr>
        </p:nvSpPr>
        <p:spPr bwMode="auto">
          <a:xfrm>
            <a:off x="701675" y="4416425"/>
            <a:ext cx="560705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60" tIns="46580" rIns="93160" bIns="46580" numCol="1" anchor="t" anchorCtr="0" compatLnSpc="1">
            <a:prstTxWarp prst="textNoShape">
              <a:avLst/>
            </a:prstTxWarp>
          </a:bodyPr>
          <a:lstStyle/>
          <a:p>
            <a:pPr lvl="0"/>
            <a:r>
              <a:rPr lang="es-ES" altLang="zh-CN"/>
              <a:t>Haga clic para modificar el estilo de texto del patrón</a:t>
            </a:r>
          </a:p>
          <a:p>
            <a:pPr lvl="1"/>
            <a:r>
              <a:rPr lang="es-ES" altLang="zh-CN"/>
              <a:t>Segundo nivel</a:t>
            </a:r>
          </a:p>
          <a:p>
            <a:pPr lvl="2"/>
            <a:r>
              <a:rPr lang="es-ES" altLang="zh-CN"/>
              <a:t>Tercer nivel</a:t>
            </a:r>
          </a:p>
          <a:p>
            <a:pPr lvl="3"/>
            <a:r>
              <a:rPr lang="es-ES" altLang="zh-CN"/>
              <a:t>Cuarto nivel</a:t>
            </a:r>
          </a:p>
          <a:p>
            <a:pPr lvl="4"/>
            <a:r>
              <a:rPr lang="es-ES" altLang="zh-CN"/>
              <a:t>Quinto nivel</a:t>
            </a:r>
            <a:endParaRPr lang="es-MX" altLang="zh-CN"/>
          </a:p>
        </p:txBody>
      </p:sp>
      <p:sp>
        <p:nvSpPr>
          <p:cNvPr id="6" name="5 Marcador de pie de página">
            <a:extLst>
              <a:ext uri="{FF2B5EF4-FFF2-40B4-BE49-F238E27FC236}">
                <a16:creationId xmlns:a16="http://schemas.microsoft.com/office/drawing/2014/main" id="{466DF054-600E-4881-892B-F1B833EC1CFA}"/>
              </a:ext>
            </a:extLst>
          </p:cNvPr>
          <p:cNvSpPr>
            <a:spLocks noGrp="1"/>
          </p:cNvSpPr>
          <p:nvPr>
            <p:ph type="ftr" sz="quarter" idx="4"/>
          </p:nvPr>
        </p:nvSpPr>
        <p:spPr bwMode="auto">
          <a:xfrm>
            <a:off x="0"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60" tIns="46580" rIns="93160" bIns="46580" numCol="1" anchor="b" anchorCtr="0" compatLnSpc="1">
            <a:prstTxWarp prst="textNoShape">
              <a:avLst/>
            </a:prstTxWarp>
          </a:bodyPr>
          <a:lstStyle>
            <a:lvl1pPr algn="l" defTabSz="930275" eaLnBrk="1" hangingPunct="1">
              <a:defRPr sz="1200" i="0">
                <a:latin typeface="Arial" panose="020B0604020202020204" pitchFamily="34" charset="0"/>
              </a:defRPr>
            </a:lvl1pPr>
          </a:lstStyle>
          <a:p>
            <a:endParaRPr lang="es-MX" altLang="zh-CN"/>
          </a:p>
        </p:txBody>
      </p:sp>
      <p:sp>
        <p:nvSpPr>
          <p:cNvPr id="7" name="6 Marcador de número de diapositiva">
            <a:extLst>
              <a:ext uri="{FF2B5EF4-FFF2-40B4-BE49-F238E27FC236}">
                <a16:creationId xmlns:a16="http://schemas.microsoft.com/office/drawing/2014/main" id="{AB969762-F3DA-4325-B281-953C89A44E5B}"/>
              </a:ext>
            </a:extLst>
          </p:cNvPr>
          <p:cNvSpPr>
            <a:spLocks noGrp="1"/>
          </p:cNvSpPr>
          <p:nvPr>
            <p:ph type="sldNum" sz="quarter" idx="5"/>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60" tIns="46580" rIns="93160" bIns="46580" numCol="1" anchor="b" anchorCtr="0" compatLnSpc="1">
            <a:prstTxWarp prst="textNoShape">
              <a:avLst/>
            </a:prstTxWarp>
          </a:bodyPr>
          <a:lstStyle>
            <a:lvl1pPr algn="r" defTabSz="930275" eaLnBrk="1" hangingPunct="1">
              <a:defRPr sz="1200" i="0">
                <a:latin typeface="Arial" panose="020B0604020202020204" pitchFamily="34" charset="0"/>
              </a:defRPr>
            </a:lvl1pPr>
          </a:lstStyle>
          <a:p>
            <a:fld id="{86DA638E-6C8D-4E4B-98E8-2DE3FF3DF56A}" type="slidenum">
              <a:rPr lang="es-MX" altLang="zh-CN"/>
              <a:pPr/>
              <a:t>‹#›</a:t>
            </a:fld>
            <a:endParaRPr lang="es-MX"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Arial" charset="0"/>
      </a:defRPr>
    </a:lvl1pPr>
    <a:lvl2pPr marL="457200" algn="l" rtl="0" eaLnBrk="0" fontAlgn="base" hangingPunct="0">
      <a:spcBef>
        <a:spcPct val="30000"/>
      </a:spcBef>
      <a:spcAft>
        <a:spcPct val="0"/>
      </a:spcAft>
      <a:defRPr sz="1200" kern="1200">
        <a:solidFill>
          <a:schemeClr val="tx1"/>
        </a:solidFill>
        <a:latin typeface="+mn-lt"/>
        <a:ea typeface="+mn-ea"/>
        <a:cs typeface="Arial" charset="0"/>
      </a:defRPr>
    </a:lvl2pPr>
    <a:lvl3pPr marL="914400" algn="l" rtl="0" eaLnBrk="0" fontAlgn="base" hangingPunct="0">
      <a:spcBef>
        <a:spcPct val="30000"/>
      </a:spcBef>
      <a:spcAft>
        <a:spcPct val="0"/>
      </a:spcAft>
      <a:defRPr sz="1200" kern="1200">
        <a:solidFill>
          <a:schemeClr val="tx1"/>
        </a:solidFill>
        <a:latin typeface="+mn-lt"/>
        <a:ea typeface="+mn-ea"/>
        <a:cs typeface="Arial" charset="0"/>
      </a:defRPr>
    </a:lvl3pPr>
    <a:lvl4pPr marL="1371600" algn="l" rtl="0" eaLnBrk="0" fontAlgn="base" hangingPunct="0">
      <a:spcBef>
        <a:spcPct val="30000"/>
      </a:spcBef>
      <a:spcAft>
        <a:spcPct val="0"/>
      </a:spcAft>
      <a:defRPr sz="1200" kern="1200">
        <a:solidFill>
          <a:schemeClr val="tx1"/>
        </a:solidFill>
        <a:latin typeface="+mn-lt"/>
        <a:ea typeface="+mn-ea"/>
        <a:cs typeface="Arial" charset="0"/>
      </a:defRPr>
    </a:lvl4pPr>
    <a:lvl5pPr marL="1828800" algn="l" rtl="0" eaLnBrk="0" fontAlgn="base" hangingPunct="0">
      <a:spcBef>
        <a:spcPct val="30000"/>
      </a:spcBef>
      <a:spcAft>
        <a:spcPct val="0"/>
      </a:spcAft>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6 Marcador de número de diapositiva">
            <a:extLst>
              <a:ext uri="{FF2B5EF4-FFF2-40B4-BE49-F238E27FC236}">
                <a16:creationId xmlns:a16="http://schemas.microsoft.com/office/drawing/2014/main" id="{B6ABAD40-74CF-4561-A4A0-762FC84854F0}"/>
              </a:ext>
            </a:extLst>
          </p:cNvPr>
          <p:cNvSpPr>
            <a:spLocks noGrp="1"/>
          </p:cNvSpPr>
          <p:nvPr>
            <p:ph type="sldNum" sz="quarter" idx="5"/>
          </p:nvPr>
        </p:nvSpPr>
        <p:spPr>
          <a:ln/>
        </p:spPr>
        <p:txBody>
          <a:bodyPr/>
          <a:lstStyle/>
          <a:p>
            <a:fld id="{DF9C17EE-CC77-4803-877A-83050C351A62}" type="slidenum">
              <a:rPr lang="es-MX" altLang="zh-CN"/>
              <a:pPr/>
              <a:t>1</a:t>
            </a:fld>
            <a:endParaRPr lang="es-MX" altLang="zh-CN"/>
          </a:p>
        </p:txBody>
      </p:sp>
      <p:sp>
        <p:nvSpPr>
          <p:cNvPr id="117762" name="6 Marcador de número de diapositiva">
            <a:extLst>
              <a:ext uri="{FF2B5EF4-FFF2-40B4-BE49-F238E27FC236}">
                <a16:creationId xmlns:a16="http://schemas.microsoft.com/office/drawing/2014/main" id="{A63D4776-FBD5-4D52-B5B3-E37F04BD2C9C}"/>
              </a:ext>
            </a:extLst>
          </p:cNvPr>
          <p:cNvSpPr txBox="1">
            <a:spLocks noGrp="1"/>
          </p:cNvSpPr>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60" tIns="46580" rIns="93160" bIns="46580" anchor="b"/>
          <a:lstStyle>
            <a:lvl1pPr algn="l" defTabSz="930275">
              <a:defRPr sz="1600" i="1">
                <a:solidFill>
                  <a:schemeClr val="tx1"/>
                </a:solidFill>
                <a:latin typeface="Calibri" panose="020F0502020204030204" pitchFamily="34" charset="0"/>
                <a:cs typeface="Times New Roman" panose="02020603050405020304" pitchFamily="18" charset="0"/>
              </a:defRPr>
            </a:lvl1pPr>
            <a:lvl2pPr marL="715963" indent="-274638" algn="l" defTabSz="930275">
              <a:defRPr sz="1600" i="1">
                <a:solidFill>
                  <a:schemeClr val="tx1"/>
                </a:solidFill>
                <a:latin typeface="Calibri" panose="020F0502020204030204" pitchFamily="34" charset="0"/>
                <a:cs typeface="Times New Roman" panose="02020603050405020304" pitchFamily="18" charset="0"/>
              </a:defRPr>
            </a:lvl2pPr>
            <a:lvl3pPr marL="1101725" indent="-220663" algn="l" defTabSz="930275">
              <a:defRPr sz="1600" i="1">
                <a:solidFill>
                  <a:schemeClr val="tx1"/>
                </a:solidFill>
                <a:latin typeface="Calibri" panose="020F0502020204030204" pitchFamily="34" charset="0"/>
                <a:cs typeface="Times New Roman" panose="02020603050405020304" pitchFamily="18" charset="0"/>
              </a:defRPr>
            </a:lvl3pPr>
            <a:lvl4pPr marL="1543050" indent="-220663" algn="l" defTabSz="930275">
              <a:defRPr sz="1600" i="1">
                <a:solidFill>
                  <a:schemeClr val="tx1"/>
                </a:solidFill>
                <a:latin typeface="Calibri" panose="020F0502020204030204" pitchFamily="34" charset="0"/>
                <a:cs typeface="Times New Roman" panose="02020603050405020304" pitchFamily="18" charset="0"/>
              </a:defRPr>
            </a:lvl4pPr>
            <a:lvl5pPr marL="1982788" indent="-220663" algn="l" defTabSz="930275">
              <a:defRPr sz="1600" i="1">
                <a:solidFill>
                  <a:schemeClr val="tx1"/>
                </a:solidFill>
                <a:latin typeface="Calibri" panose="020F0502020204030204" pitchFamily="34" charset="0"/>
                <a:cs typeface="Times New Roman" panose="02020603050405020304" pitchFamily="18" charset="0"/>
              </a:defRPr>
            </a:lvl5pPr>
            <a:lvl6pPr marL="24399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6pPr>
            <a:lvl7pPr marL="28971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7pPr>
            <a:lvl8pPr marL="33543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8pPr>
            <a:lvl9pPr marL="38115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9pPr>
          </a:lstStyle>
          <a:p>
            <a:pPr algn="r" eaLnBrk="1" hangingPunct="1"/>
            <a:fld id="{441EB28F-3A2E-49C1-BCAA-47C628D20454}" type="slidenum">
              <a:rPr lang="es-MX" altLang="zh-CN" sz="1200" i="0">
                <a:latin typeface="Arial" panose="020B0604020202020204" pitchFamily="34" charset="0"/>
              </a:rPr>
              <a:pPr algn="r" eaLnBrk="1" hangingPunct="1"/>
              <a:t>1</a:t>
            </a:fld>
            <a:endParaRPr lang="es-MX" altLang="zh-CN" sz="1200" i="0">
              <a:latin typeface="Arial" panose="020B0604020202020204" pitchFamily="34" charset="0"/>
            </a:endParaRPr>
          </a:p>
        </p:txBody>
      </p:sp>
      <p:sp>
        <p:nvSpPr>
          <p:cNvPr id="117763" name="6 Marcador de número de diapositiva">
            <a:extLst>
              <a:ext uri="{FF2B5EF4-FFF2-40B4-BE49-F238E27FC236}">
                <a16:creationId xmlns:a16="http://schemas.microsoft.com/office/drawing/2014/main" id="{6D0E4A12-0A28-46B4-AF65-217BE89DE67A}"/>
              </a:ext>
            </a:extLst>
          </p:cNvPr>
          <p:cNvSpPr txBox="1">
            <a:spLocks noGrp="1"/>
          </p:cNvSpPr>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60" tIns="46580" rIns="93160" bIns="46580" anchor="b"/>
          <a:lstStyle>
            <a:lvl1pPr algn="l" defTabSz="930275">
              <a:defRPr sz="1600" i="1">
                <a:solidFill>
                  <a:schemeClr val="tx1"/>
                </a:solidFill>
                <a:latin typeface="Calibri" panose="020F0502020204030204" pitchFamily="34" charset="0"/>
                <a:cs typeface="Times New Roman" panose="02020603050405020304" pitchFamily="18" charset="0"/>
              </a:defRPr>
            </a:lvl1pPr>
            <a:lvl2pPr marL="715963" indent="-274638" algn="l" defTabSz="930275">
              <a:defRPr sz="1600" i="1">
                <a:solidFill>
                  <a:schemeClr val="tx1"/>
                </a:solidFill>
                <a:latin typeface="Calibri" panose="020F0502020204030204" pitchFamily="34" charset="0"/>
                <a:cs typeface="Times New Roman" panose="02020603050405020304" pitchFamily="18" charset="0"/>
              </a:defRPr>
            </a:lvl2pPr>
            <a:lvl3pPr marL="1101725" indent="-220663" algn="l" defTabSz="930275">
              <a:defRPr sz="1600" i="1">
                <a:solidFill>
                  <a:schemeClr val="tx1"/>
                </a:solidFill>
                <a:latin typeface="Calibri" panose="020F0502020204030204" pitchFamily="34" charset="0"/>
                <a:cs typeface="Times New Roman" panose="02020603050405020304" pitchFamily="18" charset="0"/>
              </a:defRPr>
            </a:lvl3pPr>
            <a:lvl4pPr marL="1543050" indent="-220663" algn="l" defTabSz="930275">
              <a:defRPr sz="1600" i="1">
                <a:solidFill>
                  <a:schemeClr val="tx1"/>
                </a:solidFill>
                <a:latin typeface="Calibri" panose="020F0502020204030204" pitchFamily="34" charset="0"/>
                <a:cs typeface="Times New Roman" panose="02020603050405020304" pitchFamily="18" charset="0"/>
              </a:defRPr>
            </a:lvl4pPr>
            <a:lvl5pPr marL="1982788" indent="-220663" algn="l" defTabSz="930275">
              <a:defRPr sz="1600" i="1">
                <a:solidFill>
                  <a:schemeClr val="tx1"/>
                </a:solidFill>
                <a:latin typeface="Calibri" panose="020F0502020204030204" pitchFamily="34" charset="0"/>
                <a:cs typeface="Times New Roman" panose="02020603050405020304" pitchFamily="18" charset="0"/>
              </a:defRPr>
            </a:lvl5pPr>
            <a:lvl6pPr marL="24399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6pPr>
            <a:lvl7pPr marL="28971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7pPr>
            <a:lvl8pPr marL="33543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8pPr>
            <a:lvl9pPr marL="38115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9pPr>
          </a:lstStyle>
          <a:p>
            <a:pPr algn="r" eaLnBrk="1" hangingPunct="1"/>
            <a:fld id="{5278BD6E-218C-40F6-B98B-98D7E8DF0EF2}" type="slidenum">
              <a:rPr lang="es-MX" altLang="zh-CN" sz="1200" i="0">
                <a:latin typeface="Arial" panose="020B0604020202020204" pitchFamily="34" charset="0"/>
              </a:rPr>
              <a:pPr algn="r" eaLnBrk="1" hangingPunct="1"/>
              <a:t>1</a:t>
            </a:fld>
            <a:endParaRPr lang="es-MX" altLang="zh-CN" sz="1200" i="0">
              <a:latin typeface="Arial" panose="020B0604020202020204" pitchFamily="34" charset="0"/>
            </a:endParaRPr>
          </a:p>
        </p:txBody>
      </p:sp>
      <p:sp>
        <p:nvSpPr>
          <p:cNvPr id="117764" name="Rectangle 2">
            <a:extLst>
              <a:ext uri="{FF2B5EF4-FFF2-40B4-BE49-F238E27FC236}">
                <a16:creationId xmlns:a16="http://schemas.microsoft.com/office/drawing/2014/main" id="{3EF7C08B-E739-4440-B1BB-4FAF9A40AA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5" name="Rectangle 3">
            <a:extLst>
              <a:ext uri="{FF2B5EF4-FFF2-40B4-BE49-F238E27FC236}">
                <a16:creationId xmlns:a16="http://schemas.microsoft.com/office/drawing/2014/main" id="{150094EB-7402-487F-BA65-B9FC6A62A3F6}"/>
              </a:ext>
            </a:extLst>
          </p:cNvPr>
          <p:cNvSpPr>
            <a:spLocks noGrp="1"/>
          </p:cNvSpPr>
          <p:nvPr>
            <p:ph type="body" idx="1"/>
          </p:nvPr>
        </p:nvSpPr>
        <p:spPr/>
        <p:txBody>
          <a:bodyPr/>
          <a:lstStyle/>
          <a:p>
            <a:pPr eaLnBrk="1" hangingPunct="1"/>
            <a:endParaRPr lang="en-US" altLang="zh-CN">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6 Marcador de número de diapositiva">
            <a:extLst>
              <a:ext uri="{FF2B5EF4-FFF2-40B4-BE49-F238E27FC236}">
                <a16:creationId xmlns:a16="http://schemas.microsoft.com/office/drawing/2014/main" id="{B8C5D0B0-9180-4591-B179-4BEE555D411D}"/>
              </a:ext>
            </a:extLst>
          </p:cNvPr>
          <p:cNvSpPr>
            <a:spLocks noGrp="1"/>
          </p:cNvSpPr>
          <p:nvPr>
            <p:ph type="sldNum" sz="quarter" idx="5"/>
          </p:nvPr>
        </p:nvSpPr>
        <p:spPr>
          <a:ln/>
        </p:spPr>
        <p:txBody>
          <a:bodyPr/>
          <a:lstStyle/>
          <a:p>
            <a:fld id="{E7890236-FD2E-4457-B024-1743B64117E1}" type="slidenum">
              <a:rPr lang="es-MX" altLang="zh-CN"/>
              <a:pPr/>
              <a:t>2</a:t>
            </a:fld>
            <a:endParaRPr lang="es-MX" altLang="zh-CN"/>
          </a:p>
        </p:txBody>
      </p:sp>
      <p:sp>
        <p:nvSpPr>
          <p:cNvPr id="558082" name="Rectangle 7">
            <a:extLst>
              <a:ext uri="{FF2B5EF4-FFF2-40B4-BE49-F238E27FC236}">
                <a16:creationId xmlns:a16="http://schemas.microsoft.com/office/drawing/2014/main" id="{D516A727-9F13-45CE-A919-4F1AB6EB0FAA}"/>
              </a:ext>
            </a:extLst>
          </p:cNvPr>
          <p:cNvSpPr txBox="1">
            <a:spLocks noGrp="1" noChangeArrowheads="1"/>
          </p:cNvSpPr>
          <p:nvPr/>
        </p:nvSpPr>
        <p:spPr bwMode="auto">
          <a:xfrm>
            <a:off x="3971925" y="8831263"/>
            <a:ext cx="30384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83" tIns="46141" rIns="92283" bIns="46141" anchor="b"/>
          <a:lstStyle>
            <a:lvl1pPr algn="l" defTabSz="922338">
              <a:defRPr sz="1600" i="1">
                <a:solidFill>
                  <a:schemeClr val="tx1"/>
                </a:solidFill>
                <a:latin typeface="Calibri" panose="020F0502020204030204" pitchFamily="34" charset="0"/>
                <a:cs typeface="Times New Roman" panose="02020603050405020304" pitchFamily="18" charset="0"/>
              </a:defRPr>
            </a:lvl1pPr>
            <a:lvl2pPr marL="741363" indent="-284163" algn="l" defTabSz="922338">
              <a:defRPr sz="1600" i="1">
                <a:solidFill>
                  <a:schemeClr val="tx1"/>
                </a:solidFill>
                <a:latin typeface="Calibri" panose="020F0502020204030204" pitchFamily="34" charset="0"/>
                <a:cs typeface="Times New Roman" panose="02020603050405020304" pitchFamily="18" charset="0"/>
              </a:defRPr>
            </a:lvl2pPr>
            <a:lvl3pPr marL="1143000" indent="-230188" algn="l" defTabSz="922338">
              <a:defRPr sz="1600" i="1">
                <a:solidFill>
                  <a:schemeClr val="tx1"/>
                </a:solidFill>
                <a:latin typeface="Calibri" panose="020F0502020204030204" pitchFamily="34" charset="0"/>
                <a:cs typeface="Times New Roman" panose="02020603050405020304" pitchFamily="18" charset="0"/>
              </a:defRPr>
            </a:lvl3pPr>
            <a:lvl4pPr marL="1600200" indent="-228600" algn="l" defTabSz="922338">
              <a:defRPr sz="1600" i="1">
                <a:solidFill>
                  <a:schemeClr val="tx1"/>
                </a:solidFill>
                <a:latin typeface="Calibri" panose="020F0502020204030204" pitchFamily="34" charset="0"/>
                <a:cs typeface="Times New Roman" panose="02020603050405020304" pitchFamily="18" charset="0"/>
              </a:defRPr>
            </a:lvl4pPr>
            <a:lvl5pPr marL="2055813" indent="-227013" algn="l" defTabSz="922338">
              <a:defRPr sz="1600" i="1">
                <a:solidFill>
                  <a:schemeClr val="tx1"/>
                </a:solidFill>
                <a:latin typeface="Calibri" panose="020F0502020204030204" pitchFamily="34" charset="0"/>
                <a:cs typeface="Times New Roman" panose="02020603050405020304" pitchFamily="18" charset="0"/>
              </a:defRPr>
            </a:lvl5pPr>
            <a:lvl6pPr marL="2513013" indent="-227013" defTabSz="922338"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6pPr>
            <a:lvl7pPr marL="2970213" indent="-227013" defTabSz="922338"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7pPr>
            <a:lvl8pPr marL="3427413" indent="-227013" defTabSz="922338"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8pPr>
            <a:lvl9pPr marL="3884613" indent="-227013" defTabSz="922338"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9pPr>
          </a:lstStyle>
          <a:p>
            <a:pPr algn="r" eaLnBrk="1" hangingPunct="1"/>
            <a:fld id="{64D5037F-299B-4A04-907F-9FDD84D56A41}" type="slidenum">
              <a:rPr lang="es-ES" altLang="zh-CN" sz="1200" i="0">
                <a:latin typeface="Times New Roman" panose="02020603050405020304" pitchFamily="18" charset="0"/>
              </a:rPr>
              <a:pPr algn="r" eaLnBrk="1" hangingPunct="1"/>
              <a:t>2</a:t>
            </a:fld>
            <a:endParaRPr lang="es-ES" altLang="zh-CN" sz="1200" i="0">
              <a:latin typeface="Times New Roman" panose="02020603050405020304" pitchFamily="18" charset="0"/>
            </a:endParaRPr>
          </a:p>
        </p:txBody>
      </p:sp>
      <p:sp>
        <p:nvSpPr>
          <p:cNvPr id="558083" name="Rectangle 2">
            <a:extLst>
              <a:ext uri="{FF2B5EF4-FFF2-40B4-BE49-F238E27FC236}">
                <a16:creationId xmlns:a16="http://schemas.microsoft.com/office/drawing/2014/main" id="{BE1D2BAB-F672-4291-B344-01D6C296B123}"/>
              </a:ext>
            </a:extLst>
          </p:cNvPr>
          <p:cNvSpPr>
            <a:spLocks noChangeArrowheads="1" noTextEdit="1"/>
          </p:cNvSpPr>
          <p:nvPr>
            <p:ph type="sldImg"/>
          </p:nvPr>
        </p:nvSpPr>
        <p:spPr bwMode="auto">
          <a:xfrm>
            <a:off x="1181100" y="696913"/>
            <a:ext cx="46482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8084" name="Rectangle 3">
            <a:extLst>
              <a:ext uri="{FF2B5EF4-FFF2-40B4-BE49-F238E27FC236}">
                <a16:creationId xmlns:a16="http://schemas.microsoft.com/office/drawing/2014/main" id="{9DEB322C-4EDB-4889-9F2D-24B4B1B11CB0}"/>
              </a:ext>
            </a:extLst>
          </p:cNvPr>
          <p:cNvSpPr>
            <a:spLocks noGrp="1" noChangeArrowheads="1"/>
          </p:cNvSpPr>
          <p:nvPr>
            <p:ph type="body" idx="1"/>
          </p:nvPr>
        </p:nvSpPr>
        <p:spPr>
          <a:xfrm>
            <a:off x="701675" y="4416425"/>
            <a:ext cx="5607050" cy="4183063"/>
          </a:xfrm>
          <a:noFill/>
        </p:spPr>
        <p:txBody>
          <a:bodyPr lIns="92283" tIns="46141" rIns="92283" bIns="46141"/>
          <a:lstStyle/>
          <a:p>
            <a:r>
              <a:rPr lang="en-US" altLang="zh-CN" sz="1600">
                <a:cs typeface="Arial" panose="020B0604020202020204" pitchFamily="34" charset="0"/>
              </a:rPr>
              <a:t>This section concentrates on the MARC coding not so much the RDA attributes and FRAD/FRBR tasks. That information is in Module F of November’s refresher workshop by Judy Kuhagen as well as Documents R-5 and R-6. </a:t>
            </a:r>
          </a:p>
          <a:p>
            <a:r>
              <a:rPr lang="en-US" altLang="zh-CN" sz="1600">
                <a:cs typeface="Arial" panose="020B0604020202020204" pitchFamily="34" charset="0"/>
              </a:rPr>
              <a:t>This covers the FRAD task: Relate. In RDA you’ll find the guidelines in Chapter 29 on recording the relationships between Persons, Families and Corporate bodies with more details, description, purpose and scope in Chapters, 30, 31, and 32 respectively for each of these entities.  </a:t>
            </a:r>
          </a:p>
          <a:p>
            <a:r>
              <a:rPr lang="en-US" altLang="zh-CN" sz="1600">
                <a:cs typeface="Arial" panose="020B0604020202020204" pitchFamily="34" charset="0"/>
              </a:rPr>
              <a:t>Generally these are used with terms from Appendix K.  Appendix J is used to describe relationships that are described in Chapters 25 and 26, note that these are the same relationship designators used for bibliographic records.  Another appendix that has relationship designators is Appendix I – but that contains the list of relationship designators that you use to relate persons, families, and corporate bodies to particular manifestations (bibliographic records) such as: author, contributor, editor, illustrator, etc.   Let’s look at this another way [CLICK]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D6278A6C-D0A2-40BA-9B0B-AEC3771A999B}"/>
              </a:ext>
            </a:extLst>
          </p:cNvPr>
          <p:cNvSpPr>
            <a:spLocks noGrp="1"/>
          </p:cNvSpPr>
          <p:nvPr>
            <p:ph type="sldNum" sz="quarter" idx="5"/>
          </p:nvPr>
        </p:nvSpPr>
        <p:spPr>
          <a:ln/>
        </p:spPr>
        <p:txBody>
          <a:bodyPr/>
          <a:lstStyle/>
          <a:p>
            <a:fld id="{23E19DB8-A3AB-41F7-BAB8-75F58ACCEEB6}" type="slidenum">
              <a:rPr lang="es-MX" altLang="zh-CN"/>
              <a:pPr/>
              <a:t>3</a:t>
            </a:fld>
            <a:endParaRPr lang="es-MX" altLang="zh-CN"/>
          </a:p>
        </p:txBody>
      </p:sp>
      <p:sp>
        <p:nvSpPr>
          <p:cNvPr id="671746" name="Rectangle 2">
            <a:extLst>
              <a:ext uri="{FF2B5EF4-FFF2-40B4-BE49-F238E27FC236}">
                <a16:creationId xmlns:a16="http://schemas.microsoft.com/office/drawing/2014/main" id="{C00467CB-A229-4533-B67A-D5B9C89F6E0C}"/>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1747" name="Rectangle 3">
            <a:extLst>
              <a:ext uri="{FF2B5EF4-FFF2-40B4-BE49-F238E27FC236}">
                <a16:creationId xmlns:a16="http://schemas.microsoft.com/office/drawing/2014/main" id="{7119DDEB-AE6F-4264-9399-619DCF3E0F76}"/>
              </a:ext>
            </a:extLst>
          </p:cNvPr>
          <p:cNvSpPr>
            <a:spLocks noGrp="1"/>
          </p:cNvSpPr>
          <p:nvPr>
            <p:ph type="body" idx="1"/>
          </p:nvPr>
        </p:nvSpPr>
        <p:spPr/>
        <p:txBody>
          <a:bodyPr/>
          <a:lstStyle/>
          <a:p>
            <a:r>
              <a:rPr lang="en-US" altLang="zh-CN" sz="1600">
                <a:cs typeface="Arial" panose="020B0604020202020204" pitchFamily="34" charset="0"/>
              </a:rPr>
              <a:t> [INSTRUCTOR: read slide and reinforce that these relationships are what used to be called “see- also references” especially when talking about the use on authority records. The point of this slide is to reinforce that Appendix I is only used for bibliographic records (and that this session will not talk about those designators). We will touch on J as that appendix is used for both and we will look more at K as that is ONLY used for authority records]</a:t>
            </a:r>
            <a:endParaRPr lang="en-US" altLang="zh-CN">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Marcador de número de diapositiva">
            <a:extLst>
              <a:ext uri="{FF2B5EF4-FFF2-40B4-BE49-F238E27FC236}">
                <a16:creationId xmlns:a16="http://schemas.microsoft.com/office/drawing/2014/main" id="{6BDE88A2-C51B-4702-8AE6-D338B59EF5B6}"/>
              </a:ext>
            </a:extLst>
          </p:cNvPr>
          <p:cNvSpPr>
            <a:spLocks noGrp="1"/>
          </p:cNvSpPr>
          <p:nvPr>
            <p:ph type="sldNum" sz="quarter" idx="5"/>
          </p:nvPr>
        </p:nvSpPr>
        <p:spPr>
          <a:ln/>
        </p:spPr>
        <p:txBody>
          <a:bodyPr/>
          <a:lstStyle/>
          <a:p>
            <a:fld id="{BF509D9D-BEED-4ED0-92CE-84DB17B7978B}" type="slidenum">
              <a:rPr lang="es-MX" altLang="zh-CN"/>
              <a:pPr/>
              <a:t>4</a:t>
            </a:fld>
            <a:endParaRPr lang="es-MX" altLang="zh-CN"/>
          </a:p>
        </p:txBody>
      </p:sp>
      <p:sp>
        <p:nvSpPr>
          <p:cNvPr id="667650" name="6 Marcador de número de diapositiva">
            <a:extLst>
              <a:ext uri="{FF2B5EF4-FFF2-40B4-BE49-F238E27FC236}">
                <a16:creationId xmlns:a16="http://schemas.microsoft.com/office/drawing/2014/main" id="{C670EE53-077B-4242-AEFC-4979DCAB22A6}"/>
              </a:ext>
            </a:extLst>
          </p:cNvPr>
          <p:cNvSpPr txBox="1">
            <a:spLocks noGrp="1"/>
          </p:cNvSpPr>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60" tIns="46580" rIns="93160" bIns="46580" anchor="b"/>
          <a:lstStyle>
            <a:lvl1pPr algn="l" defTabSz="930275">
              <a:defRPr sz="1600" i="1">
                <a:solidFill>
                  <a:schemeClr val="tx1"/>
                </a:solidFill>
                <a:latin typeface="Calibri" panose="020F0502020204030204" pitchFamily="34" charset="0"/>
                <a:cs typeface="Times New Roman" panose="02020603050405020304" pitchFamily="18" charset="0"/>
              </a:defRPr>
            </a:lvl1pPr>
            <a:lvl2pPr marL="715963" indent="-274638" algn="l" defTabSz="930275">
              <a:defRPr sz="1600" i="1">
                <a:solidFill>
                  <a:schemeClr val="tx1"/>
                </a:solidFill>
                <a:latin typeface="Calibri" panose="020F0502020204030204" pitchFamily="34" charset="0"/>
                <a:cs typeface="Times New Roman" panose="02020603050405020304" pitchFamily="18" charset="0"/>
              </a:defRPr>
            </a:lvl2pPr>
            <a:lvl3pPr marL="1101725" indent="-220663" algn="l" defTabSz="930275">
              <a:defRPr sz="1600" i="1">
                <a:solidFill>
                  <a:schemeClr val="tx1"/>
                </a:solidFill>
                <a:latin typeface="Calibri" panose="020F0502020204030204" pitchFamily="34" charset="0"/>
                <a:cs typeface="Times New Roman" panose="02020603050405020304" pitchFamily="18" charset="0"/>
              </a:defRPr>
            </a:lvl3pPr>
            <a:lvl4pPr marL="1543050" indent="-220663" algn="l" defTabSz="930275">
              <a:defRPr sz="1600" i="1">
                <a:solidFill>
                  <a:schemeClr val="tx1"/>
                </a:solidFill>
                <a:latin typeface="Calibri" panose="020F0502020204030204" pitchFamily="34" charset="0"/>
                <a:cs typeface="Times New Roman" panose="02020603050405020304" pitchFamily="18" charset="0"/>
              </a:defRPr>
            </a:lvl4pPr>
            <a:lvl5pPr marL="1982788" indent="-220663" algn="l" defTabSz="930275">
              <a:defRPr sz="1600" i="1">
                <a:solidFill>
                  <a:schemeClr val="tx1"/>
                </a:solidFill>
                <a:latin typeface="Calibri" panose="020F0502020204030204" pitchFamily="34" charset="0"/>
                <a:cs typeface="Times New Roman" panose="02020603050405020304" pitchFamily="18" charset="0"/>
              </a:defRPr>
            </a:lvl5pPr>
            <a:lvl6pPr marL="24399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6pPr>
            <a:lvl7pPr marL="28971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7pPr>
            <a:lvl8pPr marL="33543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8pPr>
            <a:lvl9pPr marL="38115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9pPr>
          </a:lstStyle>
          <a:p>
            <a:pPr algn="r" eaLnBrk="1" hangingPunct="1"/>
            <a:fld id="{02484597-1D4A-4962-BD61-4CB82D797407}" type="slidenum">
              <a:rPr lang="es-MX" altLang="zh-CN" sz="1200" i="0">
                <a:latin typeface="Arial" panose="020B0604020202020204" pitchFamily="34" charset="0"/>
              </a:rPr>
              <a:pPr algn="r" eaLnBrk="1" hangingPunct="1"/>
              <a:t>4</a:t>
            </a:fld>
            <a:endParaRPr lang="es-MX" altLang="zh-CN" sz="1200" i="0">
              <a:latin typeface="Arial" panose="020B0604020202020204" pitchFamily="34" charset="0"/>
            </a:endParaRPr>
          </a:p>
        </p:txBody>
      </p:sp>
      <p:sp>
        <p:nvSpPr>
          <p:cNvPr id="667651" name="6 Marcador de número de diapositiva">
            <a:extLst>
              <a:ext uri="{FF2B5EF4-FFF2-40B4-BE49-F238E27FC236}">
                <a16:creationId xmlns:a16="http://schemas.microsoft.com/office/drawing/2014/main" id="{C1C79DDD-4947-4FB6-9FE3-22F301D49545}"/>
              </a:ext>
            </a:extLst>
          </p:cNvPr>
          <p:cNvSpPr txBox="1">
            <a:spLocks noGrp="1"/>
          </p:cNvSpPr>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60" tIns="46580" rIns="93160" bIns="46580" anchor="b"/>
          <a:lstStyle>
            <a:lvl1pPr algn="l" defTabSz="930275">
              <a:defRPr sz="1600" i="1">
                <a:solidFill>
                  <a:schemeClr val="tx1"/>
                </a:solidFill>
                <a:latin typeface="Calibri" panose="020F0502020204030204" pitchFamily="34" charset="0"/>
                <a:cs typeface="Times New Roman" panose="02020603050405020304" pitchFamily="18" charset="0"/>
              </a:defRPr>
            </a:lvl1pPr>
            <a:lvl2pPr marL="715963" indent="-274638" algn="l" defTabSz="930275">
              <a:defRPr sz="1600" i="1">
                <a:solidFill>
                  <a:schemeClr val="tx1"/>
                </a:solidFill>
                <a:latin typeface="Calibri" panose="020F0502020204030204" pitchFamily="34" charset="0"/>
                <a:cs typeface="Times New Roman" panose="02020603050405020304" pitchFamily="18" charset="0"/>
              </a:defRPr>
            </a:lvl2pPr>
            <a:lvl3pPr marL="1101725" indent="-220663" algn="l" defTabSz="930275">
              <a:defRPr sz="1600" i="1">
                <a:solidFill>
                  <a:schemeClr val="tx1"/>
                </a:solidFill>
                <a:latin typeface="Calibri" panose="020F0502020204030204" pitchFamily="34" charset="0"/>
                <a:cs typeface="Times New Roman" panose="02020603050405020304" pitchFamily="18" charset="0"/>
              </a:defRPr>
            </a:lvl3pPr>
            <a:lvl4pPr marL="1543050" indent="-220663" algn="l" defTabSz="930275">
              <a:defRPr sz="1600" i="1">
                <a:solidFill>
                  <a:schemeClr val="tx1"/>
                </a:solidFill>
                <a:latin typeface="Calibri" panose="020F0502020204030204" pitchFamily="34" charset="0"/>
                <a:cs typeface="Times New Roman" panose="02020603050405020304" pitchFamily="18" charset="0"/>
              </a:defRPr>
            </a:lvl4pPr>
            <a:lvl5pPr marL="1982788" indent="-220663" algn="l" defTabSz="930275">
              <a:defRPr sz="1600" i="1">
                <a:solidFill>
                  <a:schemeClr val="tx1"/>
                </a:solidFill>
                <a:latin typeface="Calibri" panose="020F0502020204030204" pitchFamily="34" charset="0"/>
                <a:cs typeface="Times New Roman" panose="02020603050405020304" pitchFamily="18" charset="0"/>
              </a:defRPr>
            </a:lvl5pPr>
            <a:lvl6pPr marL="24399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6pPr>
            <a:lvl7pPr marL="28971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7pPr>
            <a:lvl8pPr marL="33543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8pPr>
            <a:lvl9pPr marL="38115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9pPr>
          </a:lstStyle>
          <a:p>
            <a:pPr algn="r" eaLnBrk="1" hangingPunct="1"/>
            <a:fld id="{1FA52CA7-BE06-4F46-A70E-B6C7A0B93E0F}" type="slidenum">
              <a:rPr lang="es-MX" altLang="zh-CN" sz="1200" i="0">
                <a:latin typeface="Arial" panose="020B0604020202020204" pitchFamily="34" charset="0"/>
              </a:rPr>
              <a:pPr algn="r" eaLnBrk="1" hangingPunct="1"/>
              <a:t>4</a:t>
            </a:fld>
            <a:endParaRPr lang="es-MX" altLang="zh-CN" sz="1200" i="0">
              <a:latin typeface="Arial" panose="020B0604020202020204" pitchFamily="34" charset="0"/>
            </a:endParaRPr>
          </a:p>
        </p:txBody>
      </p:sp>
      <p:sp>
        <p:nvSpPr>
          <p:cNvPr id="667652" name="1 Marcador de imagen de diapositiva">
            <a:extLst>
              <a:ext uri="{FF2B5EF4-FFF2-40B4-BE49-F238E27FC236}">
                <a16:creationId xmlns:a16="http://schemas.microsoft.com/office/drawing/2014/main" id="{F18E7B72-52F2-4477-950C-664A595DB6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7653" name="2 Marcador de notas">
            <a:extLst>
              <a:ext uri="{FF2B5EF4-FFF2-40B4-BE49-F238E27FC236}">
                <a16:creationId xmlns:a16="http://schemas.microsoft.com/office/drawing/2014/main" id="{8FB36861-774B-4693-94E9-525FD43A21E0}"/>
              </a:ext>
            </a:extLst>
          </p:cNvPr>
          <p:cNvSpPr>
            <a:spLocks noGrp="1"/>
          </p:cNvSpPr>
          <p:nvPr>
            <p:ph type="body" idx="1"/>
          </p:nvPr>
        </p:nvSpPr>
        <p:spPr>
          <a:noFill/>
        </p:spPr>
        <p:txBody>
          <a:bodyPr/>
          <a:lstStyle/>
          <a:p>
            <a:pPr eaLnBrk="1" hangingPunct="1"/>
            <a:r>
              <a:rPr lang="en-US" altLang="zh-CN" sz="1600">
                <a:cs typeface="Arial" panose="020B0604020202020204" pitchFamily="34" charset="0"/>
              </a:rPr>
              <a:t>And just so that you remember how you use (or that we don’t use Appendix I in NARs). </a:t>
            </a:r>
          </a:p>
          <a:p>
            <a:pPr eaLnBrk="1" hangingPunct="1"/>
            <a:r>
              <a:rPr lang="en-US" altLang="zh-CN" sz="1600">
                <a:cs typeface="Arial" panose="020B0604020202020204" pitchFamily="34" charset="0"/>
              </a:rPr>
              <a:t>Let’s start off with a quick quiz.  Based on the information in this snippet of a bibliographic record create a Name/Title NAR for this bibliographic record and create an NAR for the translator.  </a:t>
            </a:r>
          </a:p>
          <a:p>
            <a:pPr eaLnBrk="1" hangingPunct="1"/>
            <a:r>
              <a:rPr lang="en-US" altLang="zh-CN" sz="1600">
                <a:cs typeface="Arial" panose="020B0604020202020204" pitchFamily="34" charset="0"/>
              </a:rPr>
              <a:t>[Instructor - Students should supply MARC tags for the NAR – the point of the exercise is to point out that</a:t>
            </a:r>
          </a:p>
          <a:p>
            <a:pPr eaLnBrk="1" hangingPunct="1"/>
            <a:r>
              <a:rPr lang="en-US" altLang="zh-CN" sz="1600">
                <a:cs typeface="Arial" panose="020B0604020202020204" pitchFamily="34" charset="0"/>
              </a:rPr>
              <a:t>we did not carry over the relationship designator from the bibliographic record to either one of the NARs.  The answers show up by clicking thru each one]</a:t>
            </a:r>
          </a:p>
        </p:txBody>
      </p:sp>
      <p:sp>
        <p:nvSpPr>
          <p:cNvPr id="667654" name="3 Marcador de número de diapositiva">
            <a:extLst>
              <a:ext uri="{FF2B5EF4-FFF2-40B4-BE49-F238E27FC236}">
                <a16:creationId xmlns:a16="http://schemas.microsoft.com/office/drawing/2014/main" id="{1E2324D2-1CE8-4E65-8DFA-F2A12B5D9D77}"/>
              </a:ext>
            </a:extLst>
          </p:cNvPr>
          <p:cNvSpPr txBox="1">
            <a:spLocks noGrp="1"/>
          </p:cNvSpPr>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60" tIns="46580" rIns="93160" bIns="46580" anchor="b"/>
          <a:lstStyle>
            <a:lvl1pPr algn="l" defTabSz="939800">
              <a:defRPr sz="1600" i="1">
                <a:solidFill>
                  <a:schemeClr val="tx1"/>
                </a:solidFill>
                <a:latin typeface="Calibri" panose="020F0502020204030204" pitchFamily="34" charset="0"/>
                <a:cs typeface="Times New Roman" panose="02020603050405020304" pitchFamily="18" charset="0"/>
              </a:defRPr>
            </a:lvl1pPr>
            <a:lvl2pPr marL="715963" indent="-274638" algn="l" defTabSz="939800">
              <a:defRPr sz="1600" i="1">
                <a:solidFill>
                  <a:schemeClr val="tx1"/>
                </a:solidFill>
                <a:latin typeface="Calibri" panose="020F0502020204030204" pitchFamily="34" charset="0"/>
                <a:cs typeface="Times New Roman" panose="02020603050405020304" pitchFamily="18" charset="0"/>
              </a:defRPr>
            </a:lvl2pPr>
            <a:lvl3pPr marL="1101725" indent="-220663" algn="l" defTabSz="939800">
              <a:defRPr sz="1600" i="1">
                <a:solidFill>
                  <a:schemeClr val="tx1"/>
                </a:solidFill>
                <a:latin typeface="Calibri" panose="020F0502020204030204" pitchFamily="34" charset="0"/>
                <a:cs typeface="Times New Roman" panose="02020603050405020304" pitchFamily="18" charset="0"/>
              </a:defRPr>
            </a:lvl3pPr>
            <a:lvl4pPr marL="1543050" indent="-220663" algn="l" defTabSz="939800">
              <a:defRPr sz="1600" i="1">
                <a:solidFill>
                  <a:schemeClr val="tx1"/>
                </a:solidFill>
                <a:latin typeface="Calibri" panose="020F0502020204030204" pitchFamily="34" charset="0"/>
                <a:cs typeface="Times New Roman" panose="02020603050405020304" pitchFamily="18" charset="0"/>
              </a:defRPr>
            </a:lvl4pPr>
            <a:lvl5pPr marL="1982788" indent="-220663" algn="l" defTabSz="939800">
              <a:defRPr sz="1600" i="1">
                <a:solidFill>
                  <a:schemeClr val="tx1"/>
                </a:solidFill>
                <a:latin typeface="Calibri" panose="020F0502020204030204" pitchFamily="34" charset="0"/>
                <a:cs typeface="Times New Roman" panose="02020603050405020304" pitchFamily="18" charset="0"/>
              </a:defRPr>
            </a:lvl5pPr>
            <a:lvl6pPr marL="2439988" indent="-220663" defTabSz="939800"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6pPr>
            <a:lvl7pPr marL="2897188" indent="-220663" defTabSz="939800"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7pPr>
            <a:lvl8pPr marL="3354388" indent="-220663" defTabSz="939800"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8pPr>
            <a:lvl9pPr marL="3811588" indent="-220663" defTabSz="939800"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9pPr>
          </a:lstStyle>
          <a:p>
            <a:pPr algn="r" eaLnBrk="1" hangingPunct="1"/>
            <a:fld id="{F6C5B09B-2C66-438A-BD49-CF028EF1CBCD}" type="slidenum">
              <a:rPr lang="en-US" altLang="zh-CN" sz="1200" i="0">
                <a:latin typeface="Arial" panose="020B0604020202020204" pitchFamily="34" charset="0"/>
              </a:rPr>
              <a:pPr algn="r" eaLnBrk="1" hangingPunct="1"/>
              <a:t>4</a:t>
            </a:fld>
            <a:endParaRPr lang="en-US" altLang="zh-CN" sz="1200" i="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92BCB1A6-5DA0-45B5-872B-495D727EB7BA}"/>
              </a:ext>
            </a:extLst>
          </p:cNvPr>
          <p:cNvSpPr>
            <a:spLocks noGrp="1"/>
          </p:cNvSpPr>
          <p:nvPr>
            <p:ph type="sldNum" sz="quarter" idx="5"/>
          </p:nvPr>
        </p:nvSpPr>
        <p:spPr>
          <a:ln/>
        </p:spPr>
        <p:txBody>
          <a:bodyPr/>
          <a:lstStyle/>
          <a:p>
            <a:fld id="{25307C6E-F254-494B-939C-5AFCF9D91C9B}" type="slidenum">
              <a:rPr lang="es-MX" altLang="zh-CN"/>
              <a:pPr/>
              <a:t>5</a:t>
            </a:fld>
            <a:endParaRPr lang="es-MX" altLang="zh-CN"/>
          </a:p>
        </p:txBody>
      </p:sp>
      <p:sp>
        <p:nvSpPr>
          <p:cNvPr id="561154" name="Rectangle 2">
            <a:extLst>
              <a:ext uri="{FF2B5EF4-FFF2-40B4-BE49-F238E27FC236}">
                <a16:creationId xmlns:a16="http://schemas.microsoft.com/office/drawing/2014/main" id="{B2BCBD3C-93C7-49DC-9636-B38FA08DC118}"/>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1155" name="Rectangle 3">
            <a:extLst>
              <a:ext uri="{FF2B5EF4-FFF2-40B4-BE49-F238E27FC236}">
                <a16:creationId xmlns:a16="http://schemas.microsoft.com/office/drawing/2014/main" id="{A2B9E069-C5B6-4052-A36D-DC9ADA096A9B}"/>
              </a:ext>
            </a:extLst>
          </p:cNvPr>
          <p:cNvSpPr>
            <a:spLocks noGrp="1"/>
          </p:cNvSpPr>
          <p:nvPr>
            <p:ph type="body" idx="1"/>
          </p:nvPr>
        </p:nvSpPr>
        <p:spPr/>
        <p:txBody>
          <a:bodyPr/>
          <a:lstStyle/>
          <a:p>
            <a:r>
              <a:rPr lang="en-US" altLang="zh-CN" sz="1600">
                <a:cs typeface="Arial" panose="020B0604020202020204" pitchFamily="34" charset="0"/>
              </a:rPr>
              <a:t>So as I mentioned earlier the Relationship designators between persons, families, and corporate bodies (formerly known as see-alsos) are found in RDA in Appendix K.  </a:t>
            </a:r>
          </a:p>
          <a:p>
            <a:r>
              <a:rPr lang="en-US" altLang="zh-CN" sz="1600">
                <a:cs typeface="Arial" panose="020B0604020202020204" pitchFamily="34" charset="0"/>
              </a:rPr>
              <a:t>This slide shows you all the available terms to relate these entities one to another.  </a:t>
            </a:r>
          </a:p>
          <a:p>
            <a:r>
              <a:rPr lang="en-US" altLang="zh-CN" sz="1600">
                <a:cs typeface="Arial" panose="020B0604020202020204" pitchFamily="34" charset="0"/>
              </a:rPr>
              <a:t>Note that Appendix K covers other relationships especially for families to persons such as “progenitor” and for corporate entities relationship to persons such as “founder”  “employer”, etc.  but notice that the terms that we use “earlier/later” are not used to show those relationships – they are now called Predecessor/Successor.   </a:t>
            </a:r>
          </a:p>
          <a:p>
            <a:r>
              <a:rPr lang="en-US" altLang="zh-CN" sz="1600">
                <a:cs typeface="Arial" panose="020B0604020202020204" pitchFamily="34" charset="0"/>
              </a:rPr>
              <a:t>Another reminder that RDA’s Appendix J is used to relate works, expressions, and manifestations and we’ll talk about those later.</a:t>
            </a:r>
            <a:endParaRPr lang="en-US" altLang="zh-CN" sz="1600">
              <a:solidFill>
                <a:srgbClr val="000078"/>
              </a:solidFill>
              <a:cs typeface="Arial" panose="020B0604020202020204" pitchFamily="34" charset="0"/>
            </a:endParaRPr>
          </a:p>
          <a:p>
            <a:endParaRPr lang="en-US" altLang="zh-CN" sz="160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9B23231C-DC67-414F-8CE1-F42F68F7562C}"/>
              </a:ext>
            </a:extLst>
          </p:cNvPr>
          <p:cNvSpPr>
            <a:spLocks noGrp="1"/>
          </p:cNvSpPr>
          <p:nvPr>
            <p:ph type="sldNum" sz="quarter" idx="5"/>
          </p:nvPr>
        </p:nvSpPr>
        <p:spPr>
          <a:ln/>
        </p:spPr>
        <p:txBody>
          <a:bodyPr/>
          <a:lstStyle/>
          <a:p>
            <a:fld id="{1DD9D394-9F7F-4CFF-BF86-0B93F724DAA4}" type="slidenum">
              <a:rPr lang="es-MX" altLang="zh-CN"/>
              <a:pPr/>
              <a:t>6</a:t>
            </a:fld>
            <a:endParaRPr lang="es-MX" altLang="zh-CN"/>
          </a:p>
        </p:txBody>
      </p:sp>
      <p:sp>
        <p:nvSpPr>
          <p:cNvPr id="603138" name="Rectangle 2">
            <a:extLst>
              <a:ext uri="{FF2B5EF4-FFF2-40B4-BE49-F238E27FC236}">
                <a16:creationId xmlns:a16="http://schemas.microsoft.com/office/drawing/2014/main" id="{C48E036C-E46B-408D-9FB3-2F4829ED542A}"/>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3139" name="Rectangle 3">
            <a:extLst>
              <a:ext uri="{FF2B5EF4-FFF2-40B4-BE49-F238E27FC236}">
                <a16:creationId xmlns:a16="http://schemas.microsoft.com/office/drawing/2014/main" id="{2A9A6B9B-E1B5-4835-9754-E0A0859F2B3C}"/>
              </a:ext>
            </a:extLst>
          </p:cNvPr>
          <p:cNvSpPr>
            <a:spLocks noGrp="1"/>
          </p:cNvSpPr>
          <p:nvPr>
            <p:ph type="body" idx="1"/>
          </p:nvPr>
        </p:nvSpPr>
        <p:spPr/>
        <p:txBody>
          <a:bodyPr/>
          <a:lstStyle/>
          <a:p>
            <a:r>
              <a:rPr lang="en-US" altLang="zh-CN">
                <a:cs typeface="Arial" panose="020B0604020202020204" pitchFamily="34" charset="0"/>
              </a:rPr>
              <a:t>In the MARC format on the Tracings and References- General Information section you’ll need to go to the Special subfields used with 4XX and 5XX fields to read the definitions and guidelines for use. That is highlighted here with other information snipped out so that it would all fit on the slide.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B1634E87-ABD4-483C-A0EE-EBCE780AF5E2}"/>
              </a:ext>
            </a:extLst>
          </p:cNvPr>
          <p:cNvSpPr>
            <a:spLocks noGrp="1"/>
          </p:cNvSpPr>
          <p:nvPr>
            <p:ph type="sldNum" sz="quarter" idx="5"/>
          </p:nvPr>
        </p:nvSpPr>
        <p:spPr>
          <a:ln/>
        </p:spPr>
        <p:txBody>
          <a:bodyPr/>
          <a:lstStyle/>
          <a:p>
            <a:fld id="{2105BCB2-E709-4439-A267-3CE1A442416A}" type="slidenum">
              <a:rPr lang="es-MX" altLang="zh-CN"/>
              <a:pPr/>
              <a:t>7</a:t>
            </a:fld>
            <a:endParaRPr lang="es-MX" altLang="zh-CN"/>
          </a:p>
        </p:txBody>
      </p:sp>
      <p:sp>
        <p:nvSpPr>
          <p:cNvPr id="651266" name="Rectangle 2">
            <a:extLst>
              <a:ext uri="{FF2B5EF4-FFF2-40B4-BE49-F238E27FC236}">
                <a16:creationId xmlns:a16="http://schemas.microsoft.com/office/drawing/2014/main" id="{7496CA0F-8C19-4233-AF09-0DA88063A41D}"/>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1267" name="Rectangle 3">
            <a:extLst>
              <a:ext uri="{FF2B5EF4-FFF2-40B4-BE49-F238E27FC236}">
                <a16:creationId xmlns:a16="http://schemas.microsoft.com/office/drawing/2014/main" id="{A843B7D2-F221-47F8-93C1-4895E0BE878C}"/>
              </a:ext>
            </a:extLst>
          </p:cNvPr>
          <p:cNvSpPr>
            <a:spLocks noGrp="1"/>
          </p:cNvSpPr>
          <p:nvPr>
            <p:ph type="body" idx="1"/>
          </p:nvPr>
        </p:nvSpPr>
        <p:spPr/>
        <p:txBody>
          <a:bodyPr/>
          <a:lstStyle/>
          <a:p>
            <a:r>
              <a:rPr lang="en-US" altLang="zh-CN">
                <a:cs typeface="Arial" panose="020B0604020202020204" pitchFamily="34" charset="0"/>
              </a:rPr>
              <a:t>This slide show a the MARC 21 page for subfield $w and shows the possible positions for use.  Notice position 0 (zero) of the subfield $w.  Here are the codes used and their definitions.  </a:t>
            </a:r>
          </a:p>
          <a:p>
            <a:r>
              <a:rPr lang="en-US" altLang="zh-CN">
                <a:cs typeface="Arial" panose="020B0604020202020204" pitchFamily="34" charset="0"/>
              </a:rPr>
              <a:t>The only ones that we currently use in the LC/NAF are code “a”-earlier heading and “b”-later heading; but now we have a new code and the definition: “r” -relationship designation in $i or $4 – LC and NACO catalogers will only supply $i and not use $4 so we are not going to talk about $4.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489FF303-26D1-43F7-921E-931DDCE0E218}"/>
              </a:ext>
            </a:extLst>
          </p:cNvPr>
          <p:cNvSpPr>
            <a:spLocks noGrp="1"/>
          </p:cNvSpPr>
          <p:nvPr>
            <p:ph type="sldNum" sz="quarter" idx="5"/>
          </p:nvPr>
        </p:nvSpPr>
        <p:spPr>
          <a:ln/>
        </p:spPr>
        <p:txBody>
          <a:bodyPr/>
          <a:lstStyle/>
          <a:p>
            <a:fld id="{C98C98F1-AF3D-4C21-B35F-9D5EBC3ED807}" type="slidenum">
              <a:rPr lang="es-MX" altLang="zh-CN"/>
              <a:pPr/>
              <a:t>8</a:t>
            </a:fld>
            <a:endParaRPr lang="es-MX" altLang="zh-CN"/>
          </a:p>
        </p:txBody>
      </p:sp>
      <p:sp>
        <p:nvSpPr>
          <p:cNvPr id="664578" name="Rectangle 2">
            <a:extLst>
              <a:ext uri="{FF2B5EF4-FFF2-40B4-BE49-F238E27FC236}">
                <a16:creationId xmlns:a16="http://schemas.microsoft.com/office/drawing/2014/main" id="{CF2F5908-8218-4702-8644-8577F15387E7}"/>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4579" name="Rectangle 3">
            <a:extLst>
              <a:ext uri="{FF2B5EF4-FFF2-40B4-BE49-F238E27FC236}">
                <a16:creationId xmlns:a16="http://schemas.microsoft.com/office/drawing/2014/main" id="{760D880B-78ED-48C4-A936-8999D6403542}"/>
              </a:ext>
            </a:extLst>
          </p:cNvPr>
          <p:cNvSpPr>
            <a:spLocks noGrp="1"/>
          </p:cNvSpPr>
          <p:nvPr>
            <p:ph type="body" idx="1"/>
          </p:nvPr>
        </p:nvSpPr>
        <p:spPr/>
        <p:txBody>
          <a:bodyPr/>
          <a:lstStyle/>
          <a:p>
            <a:r>
              <a:rPr lang="en-US" altLang="zh-CN">
                <a:cs typeface="Arial" panose="020B0604020202020204" pitchFamily="34" charset="0"/>
              </a:rPr>
              <a:t>[INSTRUCTOR: $w/0 should be stated as “Subfield w position zero”  - Here are the LC policies for the use of code “r” and subfield $i.</a:t>
            </a:r>
          </a:p>
          <a:p>
            <a:r>
              <a:rPr lang="en-US" altLang="zh-CN">
                <a:cs typeface="Arial" panose="020B0604020202020204" pitchFamily="34" charset="0"/>
              </a:rPr>
              <a:t>After going over the bullet 2 say] REMEMBER: Terms from Appendix K and J must be used in subfield $i </a:t>
            </a:r>
            <a:r>
              <a:rPr lang="en-US" altLang="zh-CN" b="1">
                <a:cs typeface="Arial" panose="020B0604020202020204" pitchFamily="34" charset="0"/>
              </a:rPr>
              <a:t>but only if subfield</a:t>
            </a:r>
            <a:r>
              <a:rPr lang="en-US" altLang="zh-CN">
                <a:cs typeface="Arial" panose="020B0604020202020204" pitchFamily="34" charset="0"/>
              </a:rPr>
              <a:t> $w contains value “r”.   In other words code “r” in position zero of the subfield $w announces that there will be a subfield $i with information on a relationship.</a:t>
            </a:r>
          </a:p>
          <a:p>
            <a:endParaRPr lang="en-US" altLang="zh-CN">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B19E4770-4515-4782-A64B-050E0C9A0BD1}"/>
              </a:ext>
            </a:extLst>
          </p:cNvPr>
          <p:cNvSpPr>
            <a:spLocks noGrp="1"/>
          </p:cNvSpPr>
          <p:nvPr>
            <p:ph type="sldNum" sz="quarter" idx="5"/>
          </p:nvPr>
        </p:nvSpPr>
        <p:spPr>
          <a:ln/>
        </p:spPr>
        <p:txBody>
          <a:bodyPr/>
          <a:lstStyle/>
          <a:p>
            <a:fld id="{3C78AB39-F8CA-43A8-AD98-B7DF2392D83C}" type="slidenum">
              <a:rPr lang="es-MX" altLang="zh-CN"/>
              <a:pPr/>
              <a:t>9</a:t>
            </a:fld>
            <a:endParaRPr lang="es-MX" altLang="zh-CN"/>
          </a:p>
        </p:txBody>
      </p:sp>
      <p:sp>
        <p:nvSpPr>
          <p:cNvPr id="677890" name="Rectangle 2">
            <a:extLst>
              <a:ext uri="{FF2B5EF4-FFF2-40B4-BE49-F238E27FC236}">
                <a16:creationId xmlns:a16="http://schemas.microsoft.com/office/drawing/2014/main" id="{8A4A4D51-217F-4B94-B392-4145AF5118F4}"/>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7891" name="Rectangle 3">
            <a:extLst>
              <a:ext uri="{FF2B5EF4-FFF2-40B4-BE49-F238E27FC236}">
                <a16:creationId xmlns:a16="http://schemas.microsoft.com/office/drawing/2014/main" id="{908C2F59-065B-4296-BC89-900A155A3CDF}"/>
              </a:ext>
            </a:extLst>
          </p:cNvPr>
          <p:cNvSpPr>
            <a:spLocks noGrp="1"/>
          </p:cNvSpPr>
          <p:nvPr>
            <p:ph type="body" idx="1"/>
          </p:nvPr>
        </p:nvSpPr>
        <p:spPr/>
        <p:txBody>
          <a:bodyPr/>
          <a:lstStyle/>
          <a:p>
            <a:r>
              <a:rPr lang="en-US" altLang="zh-CN">
                <a:cs typeface="Arial" panose="020B0604020202020204" pitchFamily="34" charset="0"/>
              </a:rPr>
              <a:t>If you are creating a Family name and want to add the 5XX to show the relationship to the Progenitor (remember this is an optional addition) you may add a subfield $w/0 coded “r” plus the subfield $i with the Appendix K relationship designator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AA586552-83A1-4F25-9723-648534AC1510}"/>
              </a:ext>
            </a:extLst>
          </p:cNvPr>
          <p:cNvSpPr>
            <a:spLocks noGrp="1"/>
          </p:cNvSpPr>
          <p:nvPr>
            <p:ph type="sldNum" sz="quarter" idx="5"/>
          </p:nvPr>
        </p:nvSpPr>
        <p:spPr>
          <a:ln/>
        </p:spPr>
        <p:txBody>
          <a:bodyPr/>
          <a:lstStyle/>
          <a:p>
            <a:fld id="{0C6ED7B1-3865-4E0F-A787-1075DAECE3AD}" type="slidenum">
              <a:rPr lang="es-MX" altLang="zh-CN"/>
              <a:pPr/>
              <a:t>10</a:t>
            </a:fld>
            <a:endParaRPr lang="es-MX" altLang="zh-CN"/>
          </a:p>
        </p:txBody>
      </p:sp>
      <p:sp>
        <p:nvSpPr>
          <p:cNvPr id="608258" name="Rectangle 2">
            <a:extLst>
              <a:ext uri="{FF2B5EF4-FFF2-40B4-BE49-F238E27FC236}">
                <a16:creationId xmlns:a16="http://schemas.microsoft.com/office/drawing/2014/main" id="{B6A04F45-EE1D-45DA-B415-F50912A86451}"/>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8259" name="Rectangle 3">
            <a:extLst>
              <a:ext uri="{FF2B5EF4-FFF2-40B4-BE49-F238E27FC236}">
                <a16:creationId xmlns:a16="http://schemas.microsoft.com/office/drawing/2014/main" id="{53209B33-D5DC-49D3-B9CE-DC720E6E2C5D}"/>
              </a:ext>
            </a:extLst>
          </p:cNvPr>
          <p:cNvSpPr>
            <a:spLocks noGrp="1"/>
          </p:cNvSpPr>
          <p:nvPr>
            <p:ph type="body" idx="1"/>
          </p:nvPr>
        </p:nvSpPr>
        <p:spPr/>
        <p:txBody>
          <a:bodyPr/>
          <a:lstStyle/>
          <a:p>
            <a:r>
              <a:rPr lang="en-US" altLang="zh-CN">
                <a:cs typeface="Arial" panose="020B0604020202020204" pitchFamily="34" charset="0"/>
              </a:rPr>
              <a:t>As the slide states subfield $i was only meant to be used with RDA (AACR2 did not have rules for the creation of family names); but because catalogers wanted to link to a person’s name that had been established under AACR2 LC has authorized the use of indicator 3 and of subfield $w/0 coded “r” and the subfield $i with the reciprocal relationship designator. [CLICK to bring in reciprocal 5XX] – The authorized access point for the progenitor means there must be an NAR for the personal name.</a:t>
            </a:r>
          </a:p>
          <a:p>
            <a:r>
              <a:rPr lang="en-US" altLang="zh-CN">
                <a:cs typeface="Arial" panose="020B0604020202020204" pitchFamily="34" charset="0"/>
              </a:rPr>
              <a:t> [Instructor: IF anyone asks if the date in the 100 for the progenitor should have a subfield $d – remind them that: Subfield d in Family Names is defined for use as the date of the family NOT of the progenitor – therefore not needed]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4A394A95-1F69-471D-9B56-C2D2D2A865CF}"/>
              </a:ext>
            </a:extLst>
          </p:cNvPr>
          <p:cNvSpPr>
            <a:spLocks noGrp="1"/>
          </p:cNvSpPr>
          <p:nvPr>
            <p:ph type="sldNum" sz="quarter" idx="5"/>
          </p:nvPr>
        </p:nvSpPr>
        <p:spPr>
          <a:ln/>
        </p:spPr>
        <p:txBody>
          <a:bodyPr/>
          <a:lstStyle/>
          <a:p>
            <a:fld id="{738677DE-2921-4033-AA86-BEE47BF332AF}" type="slidenum">
              <a:rPr lang="es-MX" altLang="zh-CN"/>
              <a:pPr/>
              <a:t>11</a:t>
            </a:fld>
            <a:endParaRPr lang="es-MX" altLang="zh-CN"/>
          </a:p>
        </p:txBody>
      </p:sp>
      <p:sp>
        <p:nvSpPr>
          <p:cNvPr id="652290" name="Rectangle 2">
            <a:extLst>
              <a:ext uri="{FF2B5EF4-FFF2-40B4-BE49-F238E27FC236}">
                <a16:creationId xmlns:a16="http://schemas.microsoft.com/office/drawing/2014/main" id="{5A96E219-5637-40D6-8DF3-6B6DA8A2CA06}"/>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2291" name="Rectangle 3">
            <a:extLst>
              <a:ext uri="{FF2B5EF4-FFF2-40B4-BE49-F238E27FC236}">
                <a16:creationId xmlns:a16="http://schemas.microsoft.com/office/drawing/2014/main" id="{414A7282-269F-48DC-9B99-8537B2887722}"/>
              </a:ext>
            </a:extLst>
          </p:cNvPr>
          <p:cNvSpPr>
            <a:spLocks noGrp="1"/>
          </p:cNvSpPr>
          <p:nvPr>
            <p:ph type="body" idx="1"/>
          </p:nvPr>
        </p:nvSpPr>
        <p:spPr/>
        <p:txBody>
          <a:bodyPr/>
          <a:lstStyle/>
          <a:p>
            <a:r>
              <a:rPr lang="en-US" altLang="zh-CN">
                <a:cs typeface="Arial" panose="020B0604020202020204" pitchFamily="34" charset="0"/>
              </a:rPr>
              <a:t>For pseudonyms under AACR2 we use a combination of subfield $w/ position 3 “c” and a 663 note to tie together multiple pseudonyms and we will continue to do that under RDA until we have had the time to discuss with our subject colleagues the impact of undoing the “Basic name” approach to authors with multiple pseudonyms.  </a:t>
            </a:r>
          </a:p>
          <a:p>
            <a:r>
              <a:rPr lang="en-US" altLang="zh-CN">
                <a:cs typeface="Arial" panose="020B0604020202020204" pitchFamily="34" charset="0"/>
              </a:rPr>
              <a:t>Currently under LCSH we need to identify one name for use in biographies, etc.  Stay tuned for development on this issue.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E5BF9688-E2E5-4FA7-972C-B891D339CB0A}"/>
              </a:ext>
            </a:extLst>
          </p:cNvPr>
          <p:cNvSpPr>
            <a:spLocks noGrp="1"/>
          </p:cNvSpPr>
          <p:nvPr>
            <p:ph type="sldNum" sz="quarter" idx="5"/>
          </p:nvPr>
        </p:nvSpPr>
        <p:spPr>
          <a:ln/>
        </p:spPr>
        <p:txBody>
          <a:bodyPr/>
          <a:lstStyle/>
          <a:p>
            <a:fld id="{EBA5B23E-8B4B-473E-9484-9FD1996430AC}" type="slidenum">
              <a:rPr lang="es-MX" altLang="zh-CN"/>
              <a:pPr/>
              <a:t>12</a:t>
            </a:fld>
            <a:endParaRPr lang="es-MX" altLang="zh-CN"/>
          </a:p>
        </p:txBody>
      </p:sp>
      <p:sp>
        <p:nvSpPr>
          <p:cNvPr id="663554" name="Rectangle 2">
            <a:extLst>
              <a:ext uri="{FF2B5EF4-FFF2-40B4-BE49-F238E27FC236}">
                <a16:creationId xmlns:a16="http://schemas.microsoft.com/office/drawing/2014/main" id="{8BF483FE-DEFD-4867-A235-26A671C7569D}"/>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3555" name="Rectangle 3">
            <a:extLst>
              <a:ext uri="{FF2B5EF4-FFF2-40B4-BE49-F238E27FC236}">
                <a16:creationId xmlns:a16="http://schemas.microsoft.com/office/drawing/2014/main" id="{FD010030-182F-42B5-8F14-5867816EAAAE}"/>
              </a:ext>
            </a:extLst>
          </p:cNvPr>
          <p:cNvSpPr>
            <a:spLocks noGrp="1"/>
          </p:cNvSpPr>
          <p:nvPr>
            <p:ph type="body" idx="1"/>
          </p:nvPr>
        </p:nvSpPr>
        <p:spPr/>
        <p:txBody>
          <a:bodyPr/>
          <a:lstStyle/>
          <a:p>
            <a:r>
              <a:rPr lang="en-US" altLang="zh-CN">
                <a:cs typeface="Arial" panose="020B0604020202020204" pitchFamily="34" charset="0"/>
              </a:rPr>
              <a:t>But for a single pseudonym we now have the option of using subfield $w/0  in conjunction with subfield $i and the terms from Appendix K.   Currently we would only use a simple 500 to connect the two names.  As you see this is more user friendly and it may be something catalogers will want to use, but again this is still an option.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AA516445-0AB3-4914-B1C2-79C5F9F30B43}"/>
              </a:ext>
            </a:extLst>
          </p:cNvPr>
          <p:cNvSpPr>
            <a:spLocks noGrp="1"/>
          </p:cNvSpPr>
          <p:nvPr>
            <p:ph type="sldNum" sz="quarter" idx="5"/>
          </p:nvPr>
        </p:nvSpPr>
        <p:spPr>
          <a:ln/>
        </p:spPr>
        <p:txBody>
          <a:bodyPr/>
          <a:lstStyle/>
          <a:p>
            <a:fld id="{6A14FA73-5113-4747-8126-F1612BD1B104}" type="slidenum">
              <a:rPr lang="es-MX" altLang="zh-CN"/>
              <a:pPr/>
              <a:t>13</a:t>
            </a:fld>
            <a:endParaRPr lang="es-MX" altLang="zh-CN"/>
          </a:p>
        </p:txBody>
      </p:sp>
      <p:sp>
        <p:nvSpPr>
          <p:cNvPr id="672770" name="Rectangle 2">
            <a:extLst>
              <a:ext uri="{FF2B5EF4-FFF2-40B4-BE49-F238E27FC236}">
                <a16:creationId xmlns:a16="http://schemas.microsoft.com/office/drawing/2014/main" id="{3CDE9FE3-00C1-4B83-9FD0-52FBBAEF31D2}"/>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2771" name="Rectangle 3">
            <a:extLst>
              <a:ext uri="{FF2B5EF4-FFF2-40B4-BE49-F238E27FC236}">
                <a16:creationId xmlns:a16="http://schemas.microsoft.com/office/drawing/2014/main" id="{24CF2C65-827B-4609-9C27-E4B276D6AD83}"/>
              </a:ext>
            </a:extLst>
          </p:cNvPr>
          <p:cNvSpPr>
            <a:spLocks noGrp="1"/>
          </p:cNvSpPr>
          <p:nvPr>
            <p:ph type="body" idx="1"/>
          </p:nvPr>
        </p:nvSpPr>
        <p:spPr/>
        <p:txBody>
          <a:bodyPr/>
          <a:lstStyle/>
          <a:p>
            <a:r>
              <a:rPr lang="en-US" altLang="zh-CN" sz="1600">
                <a:cs typeface="Arial" panose="020B0604020202020204" pitchFamily="34" charset="0"/>
              </a:rPr>
              <a:t>Remind LC catalogers that PCC libraries have been adding Appendix J and especially Appendix K terms in NARs.  </a:t>
            </a:r>
          </a:p>
          <a:p>
            <a:r>
              <a:rPr lang="en-US" altLang="zh-CN" sz="1600">
                <a:cs typeface="Arial" panose="020B0604020202020204" pitchFamily="34" charset="0"/>
              </a:rPr>
              <a:t>While Appendix J terms are easily absorbed into the LC/NAF without notice but, the Appendix K terms are more intrusive as we’ll see in the next few slides.</a:t>
            </a:r>
            <a:r>
              <a:rPr lang="en-US" altLang="zh-CN">
                <a:cs typeface="Arial" panose="020B0604020202020204" pitchFamily="34" charset="0"/>
              </a:rPr>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92E66CDA-9C07-457B-88D0-5DCF9224F62C}"/>
              </a:ext>
            </a:extLst>
          </p:cNvPr>
          <p:cNvSpPr>
            <a:spLocks noGrp="1"/>
          </p:cNvSpPr>
          <p:nvPr>
            <p:ph type="sldNum" sz="quarter" idx="5"/>
          </p:nvPr>
        </p:nvSpPr>
        <p:spPr>
          <a:ln/>
        </p:spPr>
        <p:txBody>
          <a:bodyPr/>
          <a:lstStyle/>
          <a:p>
            <a:fld id="{B681A32C-DD0E-41D5-A603-D1D8875E9D93}" type="slidenum">
              <a:rPr lang="es-MX" altLang="zh-CN"/>
              <a:pPr/>
              <a:t>14</a:t>
            </a:fld>
            <a:endParaRPr lang="es-MX" altLang="zh-CN"/>
          </a:p>
        </p:txBody>
      </p:sp>
      <p:sp>
        <p:nvSpPr>
          <p:cNvPr id="609282" name="Rectangle 2">
            <a:extLst>
              <a:ext uri="{FF2B5EF4-FFF2-40B4-BE49-F238E27FC236}">
                <a16:creationId xmlns:a16="http://schemas.microsoft.com/office/drawing/2014/main" id="{E9C30ED0-9A0D-4AB1-81D6-B232F2484911}"/>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9283" name="Rectangle 3">
            <a:extLst>
              <a:ext uri="{FF2B5EF4-FFF2-40B4-BE49-F238E27FC236}">
                <a16:creationId xmlns:a16="http://schemas.microsoft.com/office/drawing/2014/main" id="{C841BED9-0B83-45FB-A7CD-F4F6E5F267EA}"/>
              </a:ext>
            </a:extLst>
          </p:cNvPr>
          <p:cNvSpPr>
            <a:spLocks noGrp="1"/>
          </p:cNvSpPr>
          <p:nvPr>
            <p:ph type="body" idx="1"/>
          </p:nvPr>
        </p:nvSpPr>
        <p:spPr/>
        <p:txBody>
          <a:bodyPr/>
          <a:lstStyle/>
          <a:p>
            <a:r>
              <a:rPr lang="en-US" altLang="zh-CN">
                <a:cs typeface="Arial" panose="020B0604020202020204" pitchFamily="34" charset="0"/>
              </a:rPr>
              <a:t>This slide shows the current example of what we do when Body A changes its name to Body B – We add the “b” in $w/0 of the NAR for Body A and to the NAR for Body B and subsequently we add the $w/0 “a” when Body B changes it’s name to Body C you add another 5XX with $w/0 for the later name and create the a new NAR for Body C with the $w/0.  </a:t>
            </a:r>
          </a:p>
          <a:p>
            <a:r>
              <a:rPr lang="en-US" altLang="zh-CN">
                <a:cs typeface="Arial" panose="020B0604020202020204" pitchFamily="34" charset="0"/>
              </a:rPr>
              <a:t>Just as we have been doing – we are continuing our practice under RDA per LCPS 32.1.1.3.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EDF8E30D-1095-49D9-86A4-253FB5612BFD}"/>
              </a:ext>
            </a:extLst>
          </p:cNvPr>
          <p:cNvSpPr>
            <a:spLocks noGrp="1"/>
          </p:cNvSpPr>
          <p:nvPr>
            <p:ph type="sldNum" sz="quarter" idx="5"/>
          </p:nvPr>
        </p:nvSpPr>
        <p:spPr>
          <a:ln/>
        </p:spPr>
        <p:txBody>
          <a:bodyPr/>
          <a:lstStyle/>
          <a:p>
            <a:fld id="{D9043C6B-316F-4A3C-9CA3-52599C0C1E7C}" type="slidenum">
              <a:rPr lang="es-MX" altLang="zh-CN"/>
              <a:pPr/>
              <a:t>15</a:t>
            </a:fld>
            <a:endParaRPr lang="es-MX" altLang="zh-CN"/>
          </a:p>
        </p:txBody>
      </p:sp>
      <p:sp>
        <p:nvSpPr>
          <p:cNvPr id="661506" name="Rectangle 2">
            <a:extLst>
              <a:ext uri="{FF2B5EF4-FFF2-40B4-BE49-F238E27FC236}">
                <a16:creationId xmlns:a16="http://schemas.microsoft.com/office/drawing/2014/main" id="{04A12666-930E-453B-A39C-A2C1011BA742}"/>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1507" name="Rectangle 3">
            <a:extLst>
              <a:ext uri="{FF2B5EF4-FFF2-40B4-BE49-F238E27FC236}">
                <a16:creationId xmlns:a16="http://schemas.microsoft.com/office/drawing/2014/main" id="{66CEEA55-AFEA-4C30-88C7-40186598FED4}"/>
              </a:ext>
            </a:extLst>
          </p:cNvPr>
          <p:cNvSpPr>
            <a:spLocks noGrp="1"/>
          </p:cNvSpPr>
          <p:nvPr>
            <p:ph type="body" idx="1"/>
          </p:nvPr>
        </p:nvSpPr>
        <p:spPr/>
        <p:txBody>
          <a:bodyPr/>
          <a:lstStyle/>
          <a:p>
            <a:r>
              <a:rPr lang="en-US" altLang="zh-CN">
                <a:cs typeface="Arial" panose="020B0604020202020204" pitchFamily="34" charset="0"/>
              </a:rPr>
              <a:t>Remember that earlier I said that LC started out saying that code “r” and subfield $i had been created specifically for RDA but we quickly found that these had to be used in AACR2 NARs because there was no other way to make the reciprocal link when connecting to an existing AACR2 NAR – and I showed you the example of a cataloger that wanted to link a person to an RDA family name and the name was already established as AACR2 so we had to allow code “r” and subfield $i not just for RDA NARs. </a:t>
            </a:r>
          </a:p>
          <a:p>
            <a:r>
              <a:rPr lang="en-US" altLang="zh-CN">
                <a:cs typeface="Arial" panose="020B0604020202020204" pitchFamily="34" charset="0"/>
              </a:rPr>
              <a:t>The same is true for corporate names LC will continue to code for earlier/later relationships but supposing you have a situation where you need a new NAR and there are NARs created by a PCC library using RDA Appendix K and these relationships are not called earlier/later but called “predecessor/successor” – well, as with the family name we have what might be termed a hybrid situation – LC catalogers will have to pull out the old Cataloger Judgment charm and decide on one of 2 choices.  Let’s look at the example on the next page. </a:t>
            </a:r>
          </a:p>
          <a:p>
            <a:endParaRPr lang="en-US" altLang="zh-CN">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CBB7587C-A865-4CB2-B256-8BC62B79E2A9}"/>
              </a:ext>
            </a:extLst>
          </p:cNvPr>
          <p:cNvSpPr>
            <a:spLocks noGrp="1"/>
          </p:cNvSpPr>
          <p:nvPr>
            <p:ph type="sldNum" sz="quarter" idx="5"/>
          </p:nvPr>
        </p:nvSpPr>
        <p:spPr>
          <a:ln/>
        </p:spPr>
        <p:txBody>
          <a:bodyPr/>
          <a:lstStyle/>
          <a:p>
            <a:fld id="{66BD3246-941A-4BAD-9F9D-A222DAEA56A0}" type="slidenum">
              <a:rPr lang="es-MX" altLang="zh-CN"/>
              <a:pPr/>
              <a:t>16</a:t>
            </a:fld>
            <a:endParaRPr lang="es-MX" altLang="zh-CN"/>
          </a:p>
        </p:txBody>
      </p:sp>
      <p:sp>
        <p:nvSpPr>
          <p:cNvPr id="610306" name="Rectangle 2">
            <a:extLst>
              <a:ext uri="{FF2B5EF4-FFF2-40B4-BE49-F238E27FC236}">
                <a16:creationId xmlns:a16="http://schemas.microsoft.com/office/drawing/2014/main" id="{08250BDB-EB3E-432D-80D0-DB878BB8A50D}"/>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0307" name="Rectangle 3">
            <a:extLst>
              <a:ext uri="{FF2B5EF4-FFF2-40B4-BE49-F238E27FC236}">
                <a16:creationId xmlns:a16="http://schemas.microsoft.com/office/drawing/2014/main" id="{07181AFF-D3E4-428E-AB39-A826BFD480CD}"/>
              </a:ext>
            </a:extLst>
          </p:cNvPr>
          <p:cNvSpPr>
            <a:spLocks noGrp="1"/>
          </p:cNvSpPr>
          <p:nvPr>
            <p:ph type="body" idx="1"/>
          </p:nvPr>
        </p:nvSpPr>
        <p:spPr/>
        <p:txBody>
          <a:bodyPr/>
          <a:lstStyle/>
          <a:p>
            <a:r>
              <a:rPr lang="en-US" altLang="zh-CN">
                <a:cs typeface="Arial" panose="020B0604020202020204" pitchFamily="34" charset="0"/>
              </a:rPr>
              <a:t>In this case here we see 2 reciprocal NARs created by a PCC cataloger and now the LC cataloger has the need to create a NAR for a later change of name then the cataloger must choose to decide is to follow the pattern used or to make the new NAR with the earlier/later usage – up to you – use your judgment and common sense.  In this case hybrid NARs are OK – the hybridness is really just in the mixing of MARC subfielding so we can live with this.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26DEFE06-F280-4EDE-902E-129403BA2515}"/>
              </a:ext>
            </a:extLst>
          </p:cNvPr>
          <p:cNvSpPr>
            <a:spLocks noGrp="1"/>
          </p:cNvSpPr>
          <p:nvPr>
            <p:ph type="sldNum" sz="quarter" idx="5"/>
          </p:nvPr>
        </p:nvSpPr>
        <p:spPr>
          <a:ln/>
        </p:spPr>
        <p:txBody>
          <a:bodyPr/>
          <a:lstStyle/>
          <a:p>
            <a:fld id="{96E5FACC-FFF0-4026-8BAA-4313EBF5419E}" type="slidenum">
              <a:rPr lang="es-MX" altLang="zh-CN"/>
              <a:pPr/>
              <a:t>17</a:t>
            </a:fld>
            <a:endParaRPr lang="es-MX" altLang="zh-CN"/>
          </a:p>
        </p:txBody>
      </p:sp>
      <p:sp>
        <p:nvSpPr>
          <p:cNvPr id="665602" name="Rectangle 2">
            <a:extLst>
              <a:ext uri="{FF2B5EF4-FFF2-40B4-BE49-F238E27FC236}">
                <a16:creationId xmlns:a16="http://schemas.microsoft.com/office/drawing/2014/main" id="{8F0C6A9A-889B-4BCD-A5DC-93D14B866271}"/>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03" name="Rectangle 3">
            <a:extLst>
              <a:ext uri="{FF2B5EF4-FFF2-40B4-BE49-F238E27FC236}">
                <a16:creationId xmlns:a16="http://schemas.microsoft.com/office/drawing/2014/main" id="{FCF51DEF-4C97-44C9-818C-15BDD08EE1F7}"/>
              </a:ext>
            </a:extLst>
          </p:cNvPr>
          <p:cNvSpPr>
            <a:spLocks noGrp="1"/>
          </p:cNvSpPr>
          <p:nvPr>
            <p:ph type="body" idx="1"/>
          </p:nvPr>
        </p:nvSpPr>
        <p:spPr/>
        <p:txBody>
          <a:bodyPr/>
          <a:lstStyle/>
          <a:p>
            <a:r>
              <a:rPr lang="en-US" altLang="zh-CN">
                <a:cs typeface="Arial" panose="020B0604020202020204" pitchFamily="34" charset="0"/>
              </a:rPr>
              <a:t>This example shows the NAR for the Art Tatum Trio - under the previous LCRI – LC restricted making links between the group and the person unless the person’s name appear as part of the name of the corporate entity and we encouraged reciprocity. </a:t>
            </a:r>
          </a:p>
          <a:p>
            <a:r>
              <a:rPr lang="en-US" altLang="zh-CN">
                <a:cs typeface="Arial" panose="020B0604020202020204" pitchFamily="34" charset="0"/>
              </a:rPr>
              <a:t>Under RDA there is no LCPS limiting the addition of these relationships – but just as before if you do make those links the names in the 5xx must be established; however reciprocity is not required.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CCC80A62-DA0C-4538-A5AC-BBC6490F426C}"/>
              </a:ext>
            </a:extLst>
          </p:cNvPr>
          <p:cNvSpPr>
            <a:spLocks noGrp="1"/>
          </p:cNvSpPr>
          <p:nvPr>
            <p:ph type="sldNum" sz="quarter" idx="5"/>
          </p:nvPr>
        </p:nvSpPr>
        <p:spPr>
          <a:ln/>
        </p:spPr>
        <p:txBody>
          <a:bodyPr/>
          <a:lstStyle/>
          <a:p>
            <a:fld id="{F4EF66A0-0489-4D08-BFD0-419285596A3C}" type="slidenum">
              <a:rPr lang="es-MX" altLang="zh-CN"/>
              <a:pPr/>
              <a:t>18</a:t>
            </a:fld>
            <a:endParaRPr lang="es-MX" altLang="zh-CN"/>
          </a:p>
        </p:txBody>
      </p:sp>
      <p:sp>
        <p:nvSpPr>
          <p:cNvPr id="675842" name="Rectangle 2">
            <a:extLst>
              <a:ext uri="{FF2B5EF4-FFF2-40B4-BE49-F238E27FC236}">
                <a16:creationId xmlns:a16="http://schemas.microsoft.com/office/drawing/2014/main" id="{797C1080-1F10-4142-9E28-C31A236B1D4F}"/>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43" name="Rectangle 3">
            <a:extLst>
              <a:ext uri="{FF2B5EF4-FFF2-40B4-BE49-F238E27FC236}">
                <a16:creationId xmlns:a16="http://schemas.microsoft.com/office/drawing/2014/main" id="{2F98953B-319B-4304-81C2-8CF43039E8E4}"/>
              </a:ext>
            </a:extLst>
          </p:cNvPr>
          <p:cNvSpPr>
            <a:spLocks noGrp="1"/>
          </p:cNvSpPr>
          <p:nvPr>
            <p:ph type="body" idx="1"/>
          </p:nvPr>
        </p:nvSpPr>
        <p:spPr/>
        <p:txBody>
          <a:bodyPr/>
          <a:lstStyle/>
          <a:p>
            <a:r>
              <a:rPr lang="en-US" altLang="zh-CN">
                <a:cs typeface="Arial" panose="020B0604020202020204" pitchFamily="34" charset="0"/>
              </a:rPr>
              <a:t>Example for R.E.M. </a:t>
            </a:r>
          </a:p>
          <a:p>
            <a:r>
              <a:rPr lang="en-US" altLang="zh-CN">
                <a:cs typeface="Arial" panose="020B0604020202020204" pitchFamily="34" charset="0"/>
              </a:rPr>
              <a:t>In this case making all the relationships to the band members means that you will also have to create authority records for the names of the persons. Continue to rely on 670 information to show that a member has been added, etc.</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2C2F7BFA-6599-4882-844C-F51DA95417FF}"/>
              </a:ext>
            </a:extLst>
          </p:cNvPr>
          <p:cNvSpPr>
            <a:spLocks noGrp="1"/>
          </p:cNvSpPr>
          <p:nvPr>
            <p:ph type="sldNum" sz="quarter" idx="5"/>
          </p:nvPr>
        </p:nvSpPr>
        <p:spPr>
          <a:ln/>
        </p:spPr>
        <p:txBody>
          <a:bodyPr/>
          <a:lstStyle/>
          <a:p>
            <a:fld id="{B66438ED-15B9-4F69-BC7F-275564F18CD0}" type="slidenum">
              <a:rPr lang="es-MX" altLang="zh-CN"/>
              <a:pPr/>
              <a:t>19</a:t>
            </a:fld>
            <a:endParaRPr lang="es-MX" altLang="zh-CN"/>
          </a:p>
        </p:txBody>
      </p:sp>
      <p:sp>
        <p:nvSpPr>
          <p:cNvPr id="619522" name="Rectangle 2">
            <a:extLst>
              <a:ext uri="{FF2B5EF4-FFF2-40B4-BE49-F238E27FC236}">
                <a16:creationId xmlns:a16="http://schemas.microsoft.com/office/drawing/2014/main" id="{6A8564FC-E5E2-4EAA-B0EE-0E77E0BD5ACF}"/>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9523" name="Rectangle 3">
            <a:extLst>
              <a:ext uri="{FF2B5EF4-FFF2-40B4-BE49-F238E27FC236}">
                <a16:creationId xmlns:a16="http://schemas.microsoft.com/office/drawing/2014/main" id="{4090F854-93C2-4CAD-8566-F2BBE5E46050}"/>
              </a:ext>
            </a:extLst>
          </p:cNvPr>
          <p:cNvSpPr>
            <a:spLocks noGrp="1"/>
          </p:cNvSpPr>
          <p:nvPr>
            <p:ph type="body" idx="1"/>
          </p:nvPr>
        </p:nvSpPr>
        <p:spPr/>
        <p:txBody>
          <a:bodyPr/>
          <a:lstStyle/>
          <a:p>
            <a:r>
              <a:rPr lang="en-US" altLang="zh-CN" sz="1600">
                <a:cs typeface="Arial" panose="020B0604020202020204" pitchFamily="34" charset="0"/>
              </a:rPr>
              <a:t>Here’s a lacuna in RDA; because currently there is no term available to in Appendix K to convey the relationship between corporate body and the person (other than employer) then on the personal name NAR we’d simply have a 5XX without the subfield $i – in other words what we call a “simple” see also.</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0416B577-913C-4020-B341-9F0B99A7C52D}"/>
              </a:ext>
            </a:extLst>
          </p:cNvPr>
          <p:cNvSpPr>
            <a:spLocks noGrp="1"/>
          </p:cNvSpPr>
          <p:nvPr>
            <p:ph type="sldNum" sz="quarter" idx="5"/>
          </p:nvPr>
        </p:nvSpPr>
        <p:spPr>
          <a:ln/>
        </p:spPr>
        <p:txBody>
          <a:bodyPr/>
          <a:lstStyle/>
          <a:p>
            <a:fld id="{1EB59DB4-7721-42DC-977E-2860BF32DC82}" type="slidenum">
              <a:rPr lang="es-MX" altLang="zh-CN"/>
              <a:pPr/>
              <a:t>20</a:t>
            </a:fld>
            <a:endParaRPr lang="es-MX" altLang="zh-CN"/>
          </a:p>
        </p:txBody>
      </p:sp>
      <p:sp>
        <p:nvSpPr>
          <p:cNvPr id="620546" name="Rectangle 2">
            <a:extLst>
              <a:ext uri="{FF2B5EF4-FFF2-40B4-BE49-F238E27FC236}">
                <a16:creationId xmlns:a16="http://schemas.microsoft.com/office/drawing/2014/main" id="{DCC7CF73-1644-4DE9-97DA-1B711A9F31F1}"/>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0547" name="Rectangle 3">
            <a:extLst>
              <a:ext uri="{FF2B5EF4-FFF2-40B4-BE49-F238E27FC236}">
                <a16:creationId xmlns:a16="http://schemas.microsoft.com/office/drawing/2014/main" id="{AB240C9A-213F-4C7E-8BDD-461065DDC7E8}"/>
              </a:ext>
            </a:extLst>
          </p:cNvPr>
          <p:cNvSpPr>
            <a:spLocks noGrp="1"/>
          </p:cNvSpPr>
          <p:nvPr>
            <p:ph type="body" idx="1"/>
          </p:nvPr>
        </p:nvSpPr>
        <p:spPr/>
        <p:txBody>
          <a:bodyPr/>
          <a:lstStyle/>
          <a:p>
            <a:r>
              <a:rPr lang="en-US" altLang="zh-CN" sz="1000">
                <a:cs typeface="Arial" panose="020B0604020202020204" pitchFamily="34" charset="0"/>
              </a:rPr>
              <a:t>Relate the corporate body to the person but be wary of the reciprocal relationship for example  in the case of the NAR for the Library of Congress or Disney, or any large institution it would be thousands of names to be added to the NAR if you added the relationship “Employee” for each person.</a:t>
            </a:r>
            <a:r>
              <a:rPr lang="en-US" altLang="zh-CN">
                <a:cs typeface="Arial" panose="020B0604020202020204" pitchFamily="34" charset="0"/>
              </a:rPr>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3FB5CDD7-D414-4A61-891D-87011ECE3AA8}"/>
              </a:ext>
            </a:extLst>
          </p:cNvPr>
          <p:cNvSpPr>
            <a:spLocks noGrp="1"/>
          </p:cNvSpPr>
          <p:nvPr>
            <p:ph type="sldNum" sz="quarter" idx="5"/>
          </p:nvPr>
        </p:nvSpPr>
        <p:spPr>
          <a:ln/>
        </p:spPr>
        <p:txBody>
          <a:bodyPr/>
          <a:lstStyle/>
          <a:p>
            <a:fld id="{70D9F1C4-799D-4E47-8313-6A0C692AEE87}" type="slidenum">
              <a:rPr lang="es-MX" altLang="zh-CN"/>
              <a:pPr/>
              <a:t>21</a:t>
            </a:fld>
            <a:endParaRPr lang="es-MX" altLang="zh-CN"/>
          </a:p>
        </p:txBody>
      </p:sp>
      <p:sp>
        <p:nvSpPr>
          <p:cNvPr id="674818" name="Rectangle 2">
            <a:extLst>
              <a:ext uri="{FF2B5EF4-FFF2-40B4-BE49-F238E27FC236}">
                <a16:creationId xmlns:a16="http://schemas.microsoft.com/office/drawing/2014/main" id="{70511563-3211-45F3-ACB5-C5E2DAF8CDAA}"/>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4819" name="Rectangle 3">
            <a:extLst>
              <a:ext uri="{FF2B5EF4-FFF2-40B4-BE49-F238E27FC236}">
                <a16:creationId xmlns:a16="http://schemas.microsoft.com/office/drawing/2014/main" id="{834458A2-38B7-46F5-AA2C-5076BE5CFA47}"/>
              </a:ext>
            </a:extLst>
          </p:cNvPr>
          <p:cNvSpPr>
            <a:spLocks noGrp="1"/>
          </p:cNvSpPr>
          <p:nvPr>
            <p:ph type="body" idx="1"/>
          </p:nvPr>
        </p:nvSpPr>
        <p:spPr/>
        <p:txBody>
          <a:bodyPr/>
          <a:lstStyle/>
          <a:p>
            <a:r>
              <a:rPr lang="en-US" altLang="zh-CN" sz="1600">
                <a:cs typeface="Arial" panose="020B0604020202020204" pitchFamily="34" charset="0"/>
              </a:rPr>
              <a:t>In RDA making the reciprocal 5XX on the opposite NAR is not required – especially in the case of Employer/Employee relationships.  A best practice would be to add the 373 to NAR instead of a 510 to the personal name NAR to show the relationship– this is cataloger judgment.  </a:t>
            </a:r>
          </a:p>
          <a:p>
            <a:r>
              <a:rPr lang="en-US" altLang="zh-CN" sz="1600">
                <a:cs typeface="Arial" panose="020B0604020202020204" pitchFamily="34" charset="0"/>
              </a:rPr>
              <a:t>Consider that in  the case of a musical group, architectural firm or other corporate body that has 6 or 7 prominent members showing a reciprocal relationship to those persons may be acceptable, but for a large institution that has hundreds/thousands of employees it would be best practice to not make those relationships in the NAR.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D034FE56-AD2C-411C-9D4C-E06A6B43036F}"/>
              </a:ext>
            </a:extLst>
          </p:cNvPr>
          <p:cNvSpPr>
            <a:spLocks noGrp="1"/>
          </p:cNvSpPr>
          <p:nvPr>
            <p:ph type="sldNum" sz="quarter" idx="5"/>
          </p:nvPr>
        </p:nvSpPr>
        <p:spPr>
          <a:ln/>
        </p:spPr>
        <p:txBody>
          <a:bodyPr/>
          <a:lstStyle/>
          <a:p>
            <a:fld id="{A3B6C00D-BC2B-4C76-9958-7BEFBA652D5B}" type="slidenum">
              <a:rPr lang="es-MX" altLang="zh-CN"/>
              <a:pPr/>
              <a:t>22</a:t>
            </a:fld>
            <a:endParaRPr lang="es-MX" altLang="zh-CN"/>
          </a:p>
        </p:txBody>
      </p:sp>
      <p:sp>
        <p:nvSpPr>
          <p:cNvPr id="613378" name="Rectangle 2">
            <a:extLst>
              <a:ext uri="{FF2B5EF4-FFF2-40B4-BE49-F238E27FC236}">
                <a16:creationId xmlns:a16="http://schemas.microsoft.com/office/drawing/2014/main" id="{CF2AC428-CFBD-4CC1-B36D-09854D791DC8}"/>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3379" name="Rectangle 3">
            <a:extLst>
              <a:ext uri="{FF2B5EF4-FFF2-40B4-BE49-F238E27FC236}">
                <a16:creationId xmlns:a16="http://schemas.microsoft.com/office/drawing/2014/main" id="{F8DB3EC4-1325-42F0-9749-5C97375332BD}"/>
              </a:ext>
            </a:extLst>
          </p:cNvPr>
          <p:cNvSpPr>
            <a:spLocks noGrp="1"/>
          </p:cNvSpPr>
          <p:nvPr>
            <p:ph type="body" idx="1"/>
          </p:nvPr>
        </p:nvSpPr>
        <p:spPr/>
        <p:txBody>
          <a:bodyPr/>
          <a:lstStyle/>
          <a:p>
            <a:r>
              <a:rPr lang="en-US" altLang="zh-CN">
                <a:cs typeface="Arial" panose="020B0604020202020204" pitchFamily="34" charset="0"/>
              </a:rPr>
              <a:t>So now your saying – I ain’t scared of no relationship designator - but look at this NAR and at the corporate body relationships to other corporate bodies shown here and note the complexity.  Me, I prefer the simple earlier/later, but if an institution has the need and time for catalogers to show all these relationships, the use of Appendix K facilitates  this – so just be aware of the possibilities.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6B29CE3E-6F63-4A07-9222-12A6BF154F42}"/>
              </a:ext>
            </a:extLst>
          </p:cNvPr>
          <p:cNvSpPr>
            <a:spLocks noGrp="1"/>
          </p:cNvSpPr>
          <p:nvPr>
            <p:ph type="sldNum" sz="quarter" idx="5"/>
          </p:nvPr>
        </p:nvSpPr>
        <p:spPr>
          <a:ln/>
        </p:spPr>
        <p:txBody>
          <a:bodyPr/>
          <a:lstStyle/>
          <a:p>
            <a:fld id="{2D2CAD5E-1B57-4FF1-B06F-72F3C9B89B13}" type="slidenum">
              <a:rPr lang="es-MX" altLang="zh-CN"/>
              <a:pPr/>
              <a:t>23</a:t>
            </a:fld>
            <a:endParaRPr lang="es-MX" altLang="zh-CN"/>
          </a:p>
        </p:txBody>
      </p:sp>
      <p:sp>
        <p:nvSpPr>
          <p:cNvPr id="653314" name="Rectangle 2">
            <a:extLst>
              <a:ext uri="{FF2B5EF4-FFF2-40B4-BE49-F238E27FC236}">
                <a16:creationId xmlns:a16="http://schemas.microsoft.com/office/drawing/2014/main" id="{8A44BB95-FDE4-432F-A7F1-88596CD65B61}"/>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3315" name="Rectangle 3">
            <a:extLst>
              <a:ext uri="{FF2B5EF4-FFF2-40B4-BE49-F238E27FC236}">
                <a16:creationId xmlns:a16="http://schemas.microsoft.com/office/drawing/2014/main" id="{C8A11C53-98E0-466B-8705-1010DD44AAF7}"/>
              </a:ext>
            </a:extLst>
          </p:cNvPr>
          <p:cNvSpPr>
            <a:spLocks noGrp="1"/>
          </p:cNvSpPr>
          <p:nvPr>
            <p:ph type="body" idx="1"/>
          </p:nvPr>
        </p:nvSpPr>
        <p:spPr/>
        <p:txBody>
          <a:bodyPr/>
          <a:lstStyle/>
          <a:p>
            <a:r>
              <a:rPr lang="en-US" altLang="zh-CN">
                <a:cs typeface="Arial" panose="020B0604020202020204" pitchFamily="34" charset="0"/>
              </a:rPr>
              <a:t>Before we wrap up - I want to quickly show you an example of using terms from Appendix J in NARs for works and expressions – Here is an example of using a relationship designator for Related Works (Work to Work relationship) – The Motion picture is a work and the term used shows its relationship to the opera by Auber.  Notice also the 046 subfield $k the date of the creation of the work and the 380 added to show Form of the work.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6 Marcador de número de diapositiva">
            <a:extLst>
              <a:ext uri="{FF2B5EF4-FFF2-40B4-BE49-F238E27FC236}">
                <a16:creationId xmlns:a16="http://schemas.microsoft.com/office/drawing/2014/main" id="{B3F91CFC-BF66-4BB8-9A5E-966FB15203FD}"/>
              </a:ext>
            </a:extLst>
          </p:cNvPr>
          <p:cNvSpPr>
            <a:spLocks noGrp="1"/>
          </p:cNvSpPr>
          <p:nvPr>
            <p:ph type="sldNum" sz="quarter" idx="5"/>
          </p:nvPr>
        </p:nvSpPr>
        <p:spPr>
          <a:ln/>
        </p:spPr>
        <p:txBody>
          <a:bodyPr/>
          <a:lstStyle/>
          <a:p>
            <a:fld id="{91A404AA-992E-47C3-914E-9F3CC081894C}" type="slidenum">
              <a:rPr lang="es-MX" altLang="zh-CN"/>
              <a:pPr/>
              <a:t>24</a:t>
            </a:fld>
            <a:endParaRPr lang="es-MX" altLang="zh-CN"/>
          </a:p>
        </p:txBody>
      </p:sp>
      <p:sp>
        <p:nvSpPr>
          <p:cNvPr id="654338" name="Rectangle 2">
            <a:extLst>
              <a:ext uri="{FF2B5EF4-FFF2-40B4-BE49-F238E27FC236}">
                <a16:creationId xmlns:a16="http://schemas.microsoft.com/office/drawing/2014/main" id="{3409FAC4-BDC6-48FA-A8D5-D12816BC6F03}"/>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4339" name="Rectangle 3">
            <a:extLst>
              <a:ext uri="{FF2B5EF4-FFF2-40B4-BE49-F238E27FC236}">
                <a16:creationId xmlns:a16="http://schemas.microsoft.com/office/drawing/2014/main" id="{737A7BD5-145C-4C8D-BE79-706E88D66D9E}"/>
              </a:ext>
            </a:extLst>
          </p:cNvPr>
          <p:cNvSpPr>
            <a:spLocks noGrp="1"/>
          </p:cNvSpPr>
          <p:nvPr>
            <p:ph type="body" idx="1"/>
          </p:nvPr>
        </p:nvSpPr>
        <p:spPr/>
        <p:txBody>
          <a:bodyPr/>
          <a:lstStyle/>
          <a:p>
            <a:r>
              <a:rPr lang="en-US" altLang="zh-CN">
                <a:cs typeface="Arial" panose="020B0604020202020204" pitchFamily="34" charset="0"/>
              </a:rPr>
              <a:t>This is of course reciprocal on the Name/Title NAR for the work and in this case the term is Adapted as a motion picture (work):  and again notice the 046 this time for the creation of the opera based on when it was first performed.    These are the same relationships you might make in the bibliographic record but they can also be made in NARs.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Marcador de número de diapositiva">
            <a:extLst>
              <a:ext uri="{FF2B5EF4-FFF2-40B4-BE49-F238E27FC236}">
                <a16:creationId xmlns:a16="http://schemas.microsoft.com/office/drawing/2014/main" id="{FB9D16F7-9956-427B-A6AE-079423124AD6}"/>
              </a:ext>
            </a:extLst>
          </p:cNvPr>
          <p:cNvSpPr>
            <a:spLocks noGrp="1"/>
          </p:cNvSpPr>
          <p:nvPr>
            <p:ph type="sldNum" sz="quarter" idx="5"/>
          </p:nvPr>
        </p:nvSpPr>
        <p:spPr>
          <a:ln/>
        </p:spPr>
        <p:txBody>
          <a:bodyPr/>
          <a:lstStyle/>
          <a:p>
            <a:fld id="{CD3CA224-A386-4C43-BA9A-12E8D0EE08B7}" type="slidenum">
              <a:rPr lang="es-MX" altLang="zh-CN"/>
              <a:pPr/>
              <a:t>25</a:t>
            </a:fld>
            <a:endParaRPr lang="es-MX" altLang="zh-CN"/>
          </a:p>
        </p:txBody>
      </p:sp>
      <p:sp>
        <p:nvSpPr>
          <p:cNvPr id="669698" name="6 Marcador de número de diapositiva">
            <a:extLst>
              <a:ext uri="{FF2B5EF4-FFF2-40B4-BE49-F238E27FC236}">
                <a16:creationId xmlns:a16="http://schemas.microsoft.com/office/drawing/2014/main" id="{14A935CB-038F-4E23-9808-DEE063783314}"/>
              </a:ext>
            </a:extLst>
          </p:cNvPr>
          <p:cNvSpPr txBox="1">
            <a:spLocks noGrp="1"/>
          </p:cNvSpPr>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60" tIns="46580" rIns="93160" bIns="46580" anchor="b"/>
          <a:lstStyle>
            <a:lvl1pPr algn="l" defTabSz="930275">
              <a:defRPr sz="1600" i="1">
                <a:solidFill>
                  <a:schemeClr val="tx1"/>
                </a:solidFill>
                <a:latin typeface="Calibri" panose="020F0502020204030204" pitchFamily="34" charset="0"/>
                <a:cs typeface="Times New Roman" panose="02020603050405020304" pitchFamily="18" charset="0"/>
              </a:defRPr>
            </a:lvl1pPr>
            <a:lvl2pPr marL="715963" indent="-274638" algn="l" defTabSz="930275">
              <a:defRPr sz="1600" i="1">
                <a:solidFill>
                  <a:schemeClr val="tx1"/>
                </a:solidFill>
                <a:latin typeface="Calibri" panose="020F0502020204030204" pitchFamily="34" charset="0"/>
                <a:cs typeface="Times New Roman" panose="02020603050405020304" pitchFamily="18" charset="0"/>
              </a:defRPr>
            </a:lvl2pPr>
            <a:lvl3pPr marL="1101725" indent="-220663" algn="l" defTabSz="930275">
              <a:defRPr sz="1600" i="1">
                <a:solidFill>
                  <a:schemeClr val="tx1"/>
                </a:solidFill>
                <a:latin typeface="Calibri" panose="020F0502020204030204" pitchFamily="34" charset="0"/>
                <a:cs typeface="Times New Roman" panose="02020603050405020304" pitchFamily="18" charset="0"/>
              </a:defRPr>
            </a:lvl3pPr>
            <a:lvl4pPr marL="1543050" indent="-220663" algn="l" defTabSz="930275">
              <a:defRPr sz="1600" i="1">
                <a:solidFill>
                  <a:schemeClr val="tx1"/>
                </a:solidFill>
                <a:latin typeface="Calibri" panose="020F0502020204030204" pitchFamily="34" charset="0"/>
                <a:cs typeface="Times New Roman" panose="02020603050405020304" pitchFamily="18" charset="0"/>
              </a:defRPr>
            </a:lvl4pPr>
            <a:lvl5pPr marL="1982788" indent="-220663" algn="l" defTabSz="930275">
              <a:defRPr sz="1600" i="1">
                <a:solidFill>
                  <a:schemeClr val="tx1"/>
                </a:solidFill>
                <a:latin typeface="Calibri" panose="020F0502020204030204" pitchFamily="34" charset="0"/>
                <a:cs typeface="Times New Roman" panose="02020603050405020304" pitchFamily="18" charset="0"/>
              </a:defRPr>
            </a:lvl5pPr>
            <a:lvl6pPr marL="24399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6pPr>
            <a:lvl7pPr marL="28971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7pPr>
            <a:lvl8pPr marL="33543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8pPr>
            <a:lvl9pPr marL="38115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9pPr>
          </a:lstStyle>
          <a:p>
            <a:pPr algn="r" eaLnBrk="1" hangingPunct="1"/>
            <a:fld id="{96BF89AE-CBF2-4D03-A625-DD2524CBA093}" type="slidenum">
              <a:rPr lang="es-MX" altLang="zh-CN" sz="1200" i="0">
                <a:latin typeface="Arial" panose="020B0604020202020204" pitchFamily="34" charset="0"/>
              </a:rPr>
              <a:pPr algn="r" eaLnBrk="1" hangingPunct="1"/>
              <a:t>25</a:t>
            </a:fld>
            <a:endParaRPr lang="es-MX" altLang="zh-CN" sz="1200" i="0">
              <a:latin typeface="Arial" panose="020B0604020202020204" pitchFamily="34" charset="0"/>
            </a:endParaRPr>
          </a:p>
        </p:txBody>
      </p:sp>
      <p:sp>
        <p:nvSpPr>
          <p:cNvPr id="669699" name="6 Marcador de número de diapositiva">
            <a:extLst>
              <a:ext uri="{FF2B5EF4-FFF2-40B4-BE49-F238E27FC236}">
                <a16:creationId xmlns:a16="http://schemas.microsoft.com/office/drawing/2014/main" id="{B8FE9239-47A7-4C83-AAE7-D8045FABE90A}"/>
              </a:ext>
            </a:extLst>
          </p:cNvPr>
          <p:cNvSpPr txBox="1">
            <a:spLocks noGrp="1"/>
          </p:cNvSpPr>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60" tIns="46580" rIns="93160" bIns="46580" anchor="b"/>
          <a:lstStyle>
            <a:lvl1pPr algn="l" defTabSz="930275">
              <a:defRPr sz="1600" i="1">
                <a:solidFill>
                  <a:schemeClr val="tx1"/>
                </a:solidFill>
                <a:latin typeface="Calibri" panose="020F0502020204030204" pitchFamily="34" charset="0"/>
                <a:cs typeface="Times New Roman" panose="02020603050405020304" pitchFamily="18" charset="0"/>
              </a:defRPr>
            </a:lvl1pPr>
            <a:lvl2pPr marL="715963" indent="-274638" algn="l" defTabSz="930275">
              <a:defRPr sz="1600" i="1">
                <a:solidFill>
                  <a:schemeClr val="tx1"/>
                </a:solidFill>
                <a:latin typeface="Calibri" panose="020F0502020204030204" pitchFamily="34" charset="0"/>
                <a:cs typeface="Times New Roman" panose="02020603050405020304" pitchFamily="18" charset="0"/>
              </a:defRPr>
            </a:lvl2pPr>
            <a:lvl3pPr marL="1101725" indent="-220663" algn="l" defTabSz="930275">
              <a:defRPr sz="1600" i="1">
                <a:solidFill>
                  <a:schemeClr val="tx1"/>
                </a:solidFill>
                <a:latin typeface="Calibri" panose="020F0502020204030204" pitchFamily="34" charset="0"/>
                <a:cs typeface="Times New Roman" panose="02020603050405020304" pitchFamily="18" charset="0"/>
              </a:defRPr>
            </a:lvl3pPr>
            <a:lvl4pPr marL="1543050" indent="-220663" algn="l" defTabSz="930275">
              <a:defRPr sz="1600" i="1">
                <a:solidFill>
                  <a:schemeClr val="tx1"/>
                </a:solidFill>
                <a:latin typeface="Calibri" panose="020F0502020204030204" pitchFamily="34" charset="0"/>
                <a:cs typeface="Times New Roman" panose="02020603050405020304" pitchFamily="18" charset="0"/>
              </a:defRPr>
            </a:lvl4pPr>
            <a:lvl5pPr marL="1982788" indent="-220663" algn="l" defTabSz="930275">
              <a:defRPr sz="1600" i="1">
                <a:solidFill>
                  <a:schemeClr val="tx1"/>
                </a:solidFill>
                <a:latin typeface="Calibri" panose="020F0502020204030204" pitchFamily="34" charset="0"/>
                <a:cs typeface="Times New Roman" panose="02020603050405020304" pitchFamily="18" charset="0"/>
              </a:defRPr>
            </a:lvl5pPr>
            <a:lvl6pPr marL="24399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6pPr>
            <a:lvl7pPr marL="28971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7pPr>
            <a:lvl8pPr marL="33543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8pPr>
            <a:lvl9pPr marL="3811588" indent="-220663" defTabSz="930275"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9pPr>
          </a:lstStyle>
          <a:p>
            <a:pPr algn="r" eaLnBrk="1" hangingPunct="1"/>
            <a:fld id="{6CCA640B-6190-427B-A7AE-B60C5EF84F2F}" type="slidenum">
              <a:rPr lang="es-MX" altLang="zh-CN" sz="1200" i="0">
                <a:latin typeface="Arial" panose="020B0604020202020204" pitchFamily="34" charset="0"/>
              </a:rPr>
              <a:pPr algn="r" eaLnBrk="1" hangingPunct="1"/>
              <a:t>25</a:t>
            </a:fld>
            <a:endParaRPr lang="es-MX" altLang="zh-CN" sz="1200" i="0">
              <a:latin typeface="Arial" panose="020B0604020202020204" pitchFamily="34" charset="0"/>
            </a:endParaRPr>
          </a:p>
        </p:txBody>
      </p:sp>
      <p:sp>
        <p:nvSpPr>
          <p:cNvPr id="669700" name="1 Marcador de imagen de diapositiva">
            <a:extLst>
              <a:ext uri="{FF2B5EF4-FFF2-40B4-BE49-F238E27FC236}">
                <a16:creationId xmlns:a16="http://schemas.microsoft.com/office/drawing/2014/main" id="{215AC6A5-BCCA-45BD-9AC5-C78CE43825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9701" name="2 Marcador de notas">
            <a:extLst>
              <a:ext uri="{FF2B5EF4-FFF2-40B4-BE49-F238E27FC236}">
                <a16:creationId xmlns:a16="http://schemas.microsoft.com/office/drawing/2014/main" id="{563D4C8A-5675-431A-A578-267FBD438BFB}"/>
              </a:ext>
            </a:extLst>
          </p:cNvPr>
          <p:cNvSpPr>
            <a:spLocks noGrp="1"/>
          </p:cNvSpPr>
          <p:nvPr>
            <p:ph type="body" idx="1"/>
          </p:nvPr>
        </p:nvSpPr>
        <p:spPr>
          <a:noFill/>
        </p:spPr>
        <p:txBody>
          <a:bodyPr/>
          <a:lstStyle/>
          <a:p>
            <a:pPr eaLnBrk="1" hangingPunct="1"/>
            <a:r>
              <a:rPr lang="en-US" altLang="zh-CN">
                <a:latin typeface="Arial" panose="020B0604020202020204" pitchFamily="34" charset="0"/>
                <a:cs typeface="Arial" panose="020B0604020202020204" pitchFamily="34" charset="0"/>
              </a:rPr>
              <a:t>One last example for Appendix J in the form of a quiz.  So here is the NAR for the name/title – authorized access point for the preferred title.  What could we add to this NAR?  It’s an expression so we add  1) a 336 for the type of content (field used only for expressions which this is) and 2) a 500 with the relationship designator from Appendix J for Related Expressions – Derivative Expression Relationships: Translation of – NOTICE here that you do not need to add (work) in this case because that is all it could ever be – a translation of a work so no need to repeat. </a:t>
            </a:r>
          </a:p>
          <a:p>
            <a:pPr eaLnBrk="1" hangingPunct="1"/>
            <a:r>
              <a:rPr lang="en-US" altLang="zh-CN">
                <a:latin typeface="Arial" panose="020B0604020202020204" pitchFamily="34" charset="0"/>
                <a:cs typeface="Arial" panose="020B0604020202020204" pitchFamily="34" charset="0"/>
              </a:rPr>
              <a:t>Note also that in this case the reciprocal NAR is not very helpful (at least in the current scenario) but perhaps in the future… – the point is that some PCC institutions are making these relationships in NARs now so you will see these in the LC/NAF.  </a:t>
            </a:r>
          </a:p>
        </p:txBody>
      </p:sp>
      <p:sp>
        <p:nvSpPr>
          <p:cNvPr id="669702" name="3 Marcador de número de diapositiva">
            <a:extLst>
              <a:ext uri="{FF2B5EF4-FFF2-40B4-BE49-F238E27FC236}">
                <a16:creationId xmlns:a16="http://schemas.microsoft.com/office/drawing/2014/main" id="{C5654470-68A7-40D0-A020-7F22A4D667C1}"/>
              </a:ext>
            </a:extLst>
          </p:cNvPr>
          <p:cNvSpPr txBox="1">
            <a:spLocks noGrp="1"/>
          </p:cNvSpPr>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60" tIns="46580" rIns="93160" bIns="46580" anchor="b"/>
          <a:lstStyle>
            <a:lvl1pPr algn="l" defTabSz="939800">
              <a:defRPr sz="1600" i="1">
                <a:solidFill>
                  <a:schemeClr val="tx1"/>
                </a:solidFill>
                <a:latin typeface="Calibri" panose="020F0502020204030204" pitchFamily="34" charset="0"/>
                <a:cs typeface="Times New Roman" panose="02020603050405020304" pitchFamily="18" charset="0"/>
              </a:defRPr>
            </a:lvl1pPr>
            <a:lvl2pPr marL="715963" indent="-274638" algn="l" defTabSz="939800">
              <a:defRPr sz="1600" i="1">
                <a:solidFill>
                  <a:schemeClr val="tx1"/>
                </a:solidFill>
                <a:latin typeface="Calibri" panose="020F0502020204030204" pitchFamily="34" charset="0"/>
                <a:cs typeface="Times New Roman" panose="02020603050405020304" pitchFamily="18" charset="0"/>
              </a:defRPr>
            </a:lvl2pPr>
            <a:lvl3pPr marL="1101725" indent="-220663" algn="l" defTabSz="939800">
              <a:defRPr sz="1600" i="1">
                <a:solidFill>
                  <a:schemeClr val="tx1"/>
                </a:solidFill>
                <a:latin typeface="Calibri" panose="020F0502020204030204" pitchFamily="34" charset="0"/>
                <a:cs typeface="Times New Roman" panose="02020603050405020304" pitchFamily="18" charset="0"/>
              </a:defRPr>
            </a:lvl3pPr>
            <a:lvl4pPr marL="1543050" indent="-220663" algn="l" defTabSz="939800">
              <a:defRPr sz="1600" i="1">
                <a:solidFill>
                  <a:schemeClr val="tx1"/>
                </a:solidFill>
                <a:latin typeface="Calibri" panose="020F0502020204030204" pitchFamily="34" charset="0"/>
                <a:cs typeface="Times New Roman" panose="02020603050405020304" pitchFamily="18" charset="0"/>
              </a:defRPr>
            </a:lvl4pPr>
            <a:lvl5pPr marL="1982788" indent="-220663" algn="l" defTabSz="939800">
              <a:defRPr sz="1600" i="1">
                <a:solidFill>
                  <a:schemeClr val="tx1"/>
                </a:solidFill>
                <a:latin typeface="Calibri" panose="020F0502020204030204" pitchFamily="34" charset="0"/>
                <a:cs typeface="Times New Roman" panose="02020603050405020304" pitchFamily="18" charset="0"/>
              </a:defRPr>
            </a:lvl5pPr>
            <a:lvl6pPr marL="2439988" indent="-220663" defTabSz="939800"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6pPr>
            <a:lvl7pPr marL="2897188" indent="-220663" defTabSz="939800"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7pPr>
            <a:lvl8pPr marL="3354388" indent="-220663" defTabSz="939800"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8pPr>
            <a:lvl9pPr marL="3811588" indent="-220663" defTabSz="939800" eaLnBrk="0" fontAlgn="base" hangingPunct="0">
              <a:spcBef>
                <a:spcPct val="0"/>
              </a:spcBef>
              <a:spcAft>
                <a:spcPct val="0"/>
              </a:spcAft>
              <a:defRPr sz="1600" i="1">
                <a:solidFill>
                  <a:schemeClr val="tx1"/>
                </a:solidFill>
                <a:latin typeface="Calibri" panose="020F0502020204030204" pitchFamily="34" charset="0"/>
                <a:cs typeface="Times New Roman" panose="02020603050405020304" pitchFamily="18" charset="0"/>
              </a:defRPr>
            </a:lvl9pPr>
          </a:lstStyle>
          <a:p>
            <a:pPr algn="r" eaLnBrk="1" hangingPunct="1"/>
            <a:fld id="{75F4CD35-4566-4707-A328-C9744BD39E7A}" type="slidenum">
              <a:rPr lang="en-US" altLang="zh-CN" sz="1200" i="0">
                <a:latin typeface="Arial" panose="020B0604020202020204" pitchFamily="34" charset="0"/>
              </a:rPr>
              <a:pPr algn="r" eaLnBrk="1" hangingPunct="1"/>
              <a:t>25</a:t>
            </a:fld>
            <a:endParaRPr lang="en-US" altLang="zh-CN" sz="1200" i="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B5AE8478-D5D8-47B3-A9D3-8485A465C708}"/>
              </a:ext>
            </a:extLst>
          </p:cNvPr>
          <p:cNvGrpSpPr>
            <a:grpSpLocks/>
          </p:cNvGrpSpPr>
          <p:nvPr/>
        </p:nvGrpSpPr>
        <p:grpSpPr bwMode="auto">
          <a:xfrm>
            <a:off x="-3222625" y="304800"/>
            <a:ext cx="11909425" cy="4724400"/>
            <a:chOff x="-2030" y="192"/>
            <a:chExt cx="7502" cy="2976"/>
          </a:xfrm>
        </p:grpSpPr>
        <p:sp>
          <p:nvSpPr>
            <p:cNvPr id="5" name="Line 3">
              <a:extLst>
                <a:ext uri="{FF2B5EF4-FFF2-40B4-BE49-F238E27FC236}">
                  <a16:creationId xmlns:a16="http://schemas.microsoft.com/office/drawing/2014/main" id="{B7C384BF-6B92-4D25-A4BA-AD274E993040}"/>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AutoShape 4">
              <a:extLst>
                <a:ext uri="{FF2B5EF4-FFF2-40B4-BE49-F238E27FC236}">
                  <a16:creationId xmlns:a16="http://schemas.microsoft.com/office/drawing/2014/main" id="{8CE02342-5730-4101-A451-7E9C9B2D7B30}"/>
                </a:ext>
              </a:extLst>
            </p:cNvPr>
            <p:cNvSpPr>
              <a:spLocks noChangeArrowheads="1"/>
            </p:cNvSpPr>
            <p:nvPr/>
          </p:nvSpPr>
          <p:spPr bwMode="auto">
            <a:xfrm>
              <a:off x="-1584" y="864"/>
              <a:ext cx="2304" cy="2304"/>
            </a:xfrm>
            <a:custGeom>
              <a:avLst/>
              <a:gdLst>
                <a:gd name="T0" fmla="*/ 57 w 64000"/>
                <a:gd name="T1" fmla="*/ -38 h 64000"/>
                <a:gd name="T2" fmla="*/ 83 w 64000"/>
                <a:gd name="T3" fmla="*/ 0 h 64000"/>
                <a:gd name="T4" fmla="*/ 57 w 64000"/>
                <a:gd name="T5" fmla="*/ 38 h 64000"/>
                <a:gd name="T6" fmla="*/ 57 w 64000"/>
                <a:gd name="T7" fmla="*/ 38 h 64000"/>
                <a:gd name="T8" fmla="*/ 57 w 64000"/>
                <a:gd name="T9" fmla="*/ 38 h 64000"/>
                <a:gd name="T10" fmla="*/ 57 w 64000"/>
                <a:gd name="T11" fmla="*/ 38 h 64000"/>
                <a:gd name="T12" fmla="*/ 57 w 64000"/>
                <a:gd name="T13" fmla="*/ -38 h 64000"/>
                <a:gd name="T14" fmla="*/ 57 w 64000"/>
                <a:gd name="T15" fmla="*/ -38 h 64000"/>
                <a:gd name="T16" fmla="*/ 57 w 64000"/>
                <a:gd name="T17" fmla="*/ -38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 name="AutoShape 5">
              <a:extLst>
                <a:ext uri="{FF2B5EF4-FFF2-40B4-BE49-F238E27FC236}">
                  <a16:creationId xmlns:a16="http://schemas.microsoft.com/office/drawing/2014/main" id="{12BD256B-0BED-446F-ACEC-8DBE7D730DD0}"/>
                </a:ext>
              </a:extLst>
            </p:cNvPr>
            <p:cNvSpPr>
              <a:spLocks noChangeArrowheads="1"/>
            </p:cNvSpPr>
            <p:nvPr/>
          </p:nvSpPr>
          <p:spPr bwMode="auto">
            <a:xfrm>
              <a:off x="-2030" y="192"/>
              <a:ext cx="2544" cy="2544"/>
            </a:xfrm>
            <a:custGeom>
              <a:avLst/>
              <a:gdLst>
                <a:gd name="T0" fmla="*/ 81 w 64000"/>
                <a:gd name="T1" fmla="*/ -41 h 64000"/>
                <a:gd name="T2" fmla="*/ 101 w 64000"/>
                <a:gd name="T3" fmla="*/ 0 h 64000"/>
                <a:gd name="T4" fmla="*/ 81 w 64000"/>
                <a:gd name="T5" fmla="*/ 41 h 64000"/>
                <a:gd name="T6" fmla="*/ 81 w 64000"/>
                <a:gd name="T7" fmla="*/ 41 h 64000"/>
                <a:gd name="T8" fmla="*/ 81 w 64000"/>
                <a:gd name="T9" fmla="*/ 41 h 64000"/>
                <a:gd name="T10" fmla="*/ 81 w 64000"/>
                <a:gd name="T11" fmla="*/ 41 h 64000"/>
                <a:gd name="T12" fmla="*/ 81 w 64000"/>
                <a:gd name="T13" fmla="*/ -41 h 64000"/>
                <a:gd name="T14" fmla="*/ 81 w 64000"/>
                <a:gd name="T15" fmla="*/ -41 h 64000"/>
                <a:gd name="T16" fmla="*/ 81 w 64000"/>
                <a:gd name="T17" fmla="*/ -41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211974" name="Rectangle 6"/>
          <p:cNvSpPr>
            <a:spLocks noGrp="1" noChangeArrowheads="1"/>
          </p:cNvSpPr>
          <p:nvPr>
            <p:ph type="ctrTitle"/>
          </p:nvPr>
        </p:nvSpPr>
        <p:spPr>
          <a:xfrm>
            <a:off x="1443038" y="985838"/>
            <a:ext cx="7239000" cy="1444625"/>
          </a:xfrm>
        </p:spPr>
        <p:txBody>
          <a:bodyPr/>
          <a:lstStyle>
            <a:lvl1pPr>
              <a:defRPr sz="4000"/>
            </a:lvl1pPr>
          </a:lstStyle>
          <a:p>
            <a:pPr lvl="0"/>
            <a:r>
              <a:rPr lang="en-US" noProof="0"/>
              <a:t>Click to edit Master title style</a:t>
            </a:r>
          </a:p>
        </p:txBody>
      </p:sp>
      <p:sp>
        <p:nvSpPr>
          <p:cNvPr id="211975" name="Rectangle 7"/>
          <p:cNvSpPr>
            <a:spLocks noGrp="1" noChangeArrowheads="1"/>
          </p:cNvSpPr>
          <p:nvPr>
            <p:ph type="subTitle" idx="1"/>
          </p:nvPr>
        </p:nvSpPr>
        <p:spPr>
          <a:xfrm>
            <a:off x="1443038" y="3427413"/>
            <a:ext cx="7239000" cy="1752600"/>
          </a:xfrm>
        </p:spPr>
        <p:txBody>
          <a:bodyPr/>
          <a:lstStyle>
            <a:lvl1pPr marL="0" indent="0">
              <a:buFont typeface="Wingdings" pitchFamily="2" charset="2"/>
              <a:buNone/>
              <a:defRPr/>
            </a:lvl1pPr>
          </a:lstStyle>
          <a:p>
            <a:pPr lvl="0"/>
            <a:r>
              <a:rPr lang="en-US" noProof="0"/>
              <a:t>Click to edit Master subtitle style</a:t>
            </a:r>
          </a:p>
        </p:txBody>
      </p:sp>
      <p:sp>
        <p:nvSpPr>
          <p:cNvPr id="8" name="Rectangle 8">
            <a:extLst>
              <a:ext uri="{FF2B5EF4-FFF2-40B4-BE49-F238E27FC236}">
                <a16:creationId xmlns:a16="http://schemas.microsoft.com/office/drawing/2014/main" id="{32F0D08E-16DA-448B-B159-175427B47AE2}"/>
              </a:ext>
            </a:extLst>
          </p:cNvPr>
          <p:cNvSpPr>
            <a:spLocks noGrp="1" noChangeArrowheads="1"/>
          </p:cNvSpPr>
          <p:nvPr>
            <p:ph type="dt" sz="half" idx="10"/>
          </p:nvPr>
        </p:nvSpPr>
        <p:spPr/>
        <p:txBody>
          <a:bodyPr/>
          <a:lstStyle>
            <a:lvl1pPr>
              <a:defRPr/>
            </a:lvl1pPr>
          </a:lstStyle>
          <a:p>
            <a:pPr>
              <a:defRPr/>
            </a:pPr>
            <a:fld id="{45C6D3EC-3B21-4484-AAD9-50D0E96510DD}" type="datetime1">
              <a:rPr lang="en-US"/>
              <a:pPr>
                <a:defRPr/>
              </a:pPr>
              <a:t>4/21/2026</a:t>
            </a:fld>
            <a:endParaRPr lang="en-US"/>
          </a:p>
        </p:txBody>
      </p:sp>
      <p:sp>
        <p:nvSpPr>
          <p:cNvPr id="9" name="Rectangle 9">
            <a:extLst>
              <a:ext uri="{FF2B5EF4-FFF2-40B4-BE49-F238E27FC236}">
                <a16:creationId xmlns:a16="http://schemas.microsoft.com/office/drawing/2014/main" id="{D66DC690-4596-4C47-B148-6C4205FF3DB5}"/>
              </a:ext>
            </a:extLst>
          </p:cNvPr>
          <p:cNvSpPr>
            <a:spLocks noGrp="1" noChangeArrowheads="1"/>
          </p:cNvSpPr>
          <p:nvPr>
            <p:ph type="ftr" sz="quarter" idx="11"/>
          </p:nvPr>
        </p:nvSpPr>
        <p:spPr/>
        <p:txBody>
          <a:bodyPr/>
          <a:lstStyle>
            <a:lvl1pPr>
              <a:defRPr/>
            </a:lvl1pPr>
          </a:lstStyle>
          <a:p>
            <a:endParaRPr lang="en-US" altLang="zh-CN"/>
          </a:p>
        </p:txBody>
      </p:sp>
      <p:sp>
        <p:nvSpPr>
          <p:cNvPr id="10" name="Rectangle 10">
            <a:extLst>
              <a:ext uri="{FF2B5EF4-FFF2-40B4-BE49-F238E27FC236}">
                <a16:creationId xmlns:a16="http://schemas.microsoft.com/office/drawing/2014/main" id="{D0180EBA-A025-4106-AEAC-B7FD1971C45A}"/>
              </a:ext>
            </a:extLst>
          </p:cNvPr>
          <p:cNvSpPr>
            <a:spLocks noGrp="1" noChangeArrowheads="1"/>
          </p:cNvSpPr>
          <p:nvPr>
            <p:ph type="sldNum" sz="quarter" idx="12"/>
          </p:nvPr>
        </p:nvSpPr>
        <p:spPr/>
        <p:txBody>
          <a:bodyPr/>
          <a:lstStyle>
            <a:lvl1pPr>
              <a:defRPr/>
            </a:lvl1pPr>
          </a:lstStyle>
          <a:p>
            <a:fld id="{0ADB5E82-7E5E-47CE-9B35-FB6614DFA4F0}" type="slidenum">
              <a:rPr lang="en-US" altLang="zh-CN"/>
              <a:pPr/>
              <a:t>‹#›</a:t>
            </a:fld>
            <a:endParaRPr lang="en-US" altLang="zh-CN"/>
          </a:p>
        </p:txBody>
      </p:sp>
    </p:spTree>
    <p:extLst>
      <p:ext uri="{BB962C8B-B14F-4D97-AF65-F5344CB8AC3E}">
        <p14:creationId xmlns:p14="http://schemas.microsoft.com/office/powerpoint/2010/main" val="2978108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Rectangle 8">
            <a:extLst>
              <a:ext uri="{FF2B5EF4-FFF2-40B4-BE49-F238E27FC236}">
                <a16:creationId xmlns:a16="http://schemas.microsoft.com/office/drawing/2014/main" id="{12862798-4B5C-464E-9C1B-DE0D1B73A810}"/>
              </a:ext>
            </a:extLst>
          </p:cNvPr>
          <p:cNvSpPr>
            <a:spLocks noGrp="1" noChangeArrowheads="1"/>
          </p:cNvSpPr>
          <p:nvPr>
            <p:ph type="dt" sz="half" idx="10"/>
          </p:nvPr>
        </p:nvSpPr>
        <p:spPr>
          <a:ln/>
        </p:spPr>
        <p:txBody>
          <a:bodyPr/>
          <a:lstStyle>
            <a:lvl1pPr>
              <a:defRPr/>
            </a:lvl1pPr>
          </a:lstStyle>
          <a:p>
            <a:pPr>
              <a:defRPr/>
            </a:pPr>
            <a:fld id="{D6FC93A1-57CA-4F09-80A4-395132362108}" type="datetime1">
              <a:rPr lang="en-US"/>
              <a:pPr>
                <a:defRPr/>
              </a:pPr>
              <a:t>4/21/2026</a:t>
            </a:fld>
            <a:endParaRPr lang="en-US"/>
          </a:p>
        </p:txBody>
      </p:sp>
      <p:sp>
        <p:nvSpPr>
          <p:cNvPr id="5" name="Rectangle 9">
            <a:extLst>
              <a:ext uri="{FF2B5EF4-FFF2-40B4-BE49-F238E27FC236}">
                <a16:creationId xmlns:a16="http://schemas.microsoft.com/office/drawing/2014/main" id="{68570587-207A-49A9-A96F-434222DCB059}"/>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10">
            <a:extLst>
              <a:ext uri="{FF2B5EF4-FFF2-40B4-BE49-F238E27FC236}">
                <a16:creationId xmlns:a16="http://schemas.microsoft.com/office/drawing/2014/main" id="{415FDA8C-E1A1-4BEF-BBE3-DA68598D030D}"/>
              </a:ext>
            </a:extLst>
          </p:cNvPr>
          <p:cNvSpPr>
            <a:spLocks noGrp="1" noChangeArrowheads="1"/>
          </p:cNvSpPr>
          <p:nvPr>
            <p:ph type="sldNum" sz="quarter" idx="12"/>
          </p:nvPr>
        </p:nvSpPr>
        <p:spPr>
          <a:ln/>
        </p:spPr>
        <p:txBody>
          <a:bodyPr/>
          <a:lstStyle>
            <a:lvl1pPr>
              <a:defRPr/>
            </a:lvl1pPr>
          </a:lstStyle>
          <a:p>
            <a:fld id="{E6A94EBF-2638-42F7-8A6C-7A259EEB3153}" type="slidenum">
              <a:rPr lang="en-US" altLang="zh-CN"/>
              <a:pPr/>
              <a:t>‹#›</a:t>
            </a:fld>
            <a:endParaRPr lang="en-US" altLang="zh-CN"/>
          </a:p>
        </p:txBody>
      </p:sp>
    </p:spTree>
    <p:extLst>
      <p:ext uri="{BB962C8B-B14F-4D97-AF65-F5344CB8AC3E}">
        <p14:creationId xmlns:p14="http://schemas.microsoft.com/office/powerpoint/2010/main" val="3547137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PE"/>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8">
            <a:extLst>
              <a:ext uri="{FF2B5EF4-FFF2-40B4-BE49-F238E27FC236}">
                <a16:creationId xmlns:a16="http://schemas.microsoft.com/office/drawing/2014/main" id="{88C74A10-CFD0-429D-BA4C-AD61D1AAD703}"/>
              </a:ext>
            </a:extLst>
          </p:cNvPr>
          <p:cNvSpPr>
            <a:spLocks noGrp="1" noChangeArrowheads="1"/>
          </p:cNvSpPr>
          <p:nvPr>
            <p:ph type="dt" sz="half" idx="10"/>
          </p:nvPr>
        </p:nvSpPr>
        <p:spPr>
          <a:ln/>
        </p:spPr>
        <p:txBody>
          <a:bodyPr/>
          <a:lstStyle>
            <a:lvl1pPr>
              <a:defRPr/>
            </a:lvl1pPr>
          </a:lstStyle>
          <a:p>
            <a:pPr>
              <a:defRPr/>
            </a:pPr>
            <a:fld id="{5E6EF7F7-0991-4B28-AA10-E3FC344110CC}" type="datetime1">
              <a:rPr lang="en-US"/>
              <a:pPr>
                <a:defRPr/>
              </a:pPr>
              <a:t>4/21/2026</a:t>
            </a:fld>
            <a:endParaRPr lang="en-US"/>
          </a:p>
        </p:txBody>
      </p:sp>
      <p:sp>
        <p:nvSpPr>
          <p:cNvPr id="5" name="Rectangle 9">
            <a:extLst>
              <a:ext uri="{FF2B5EF4-FFF2-40B4-BE49-F238E27FC236}">
                <a16:creationId xmlns:a16="http://schemas.microsoft.com/office/drawing/2014/main" id="{2AB181B7-B23C-4FD6-B265-F0BE95268B59}"/>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10">
            <a:extLst>
              <a:ext uri="{FF2B5EF4-FFF2-40B4-BE49-F238E27FC236}">
                <a16:creationId xmlns:a16="http://schemas.microsoft.com/office/drawing/2014/main" id="{B65E321C-D3F6-4D1D-8516-C28F33BC596B}"/>
              </a:ext>
            </a:extLst>
          </p:cNvPr>
          <p:cNvSpPr>
            <a:spLocks noGrp="1" noChangeArrowheads="1"/>
          </p:cNvSpPr>
          <p:nvPr>
            <p:ph type="sldNum" sz="quarter" idx="12"/>
          </p:nvPr>
        </p:nvSpPr>
        <p:spPr>
          <a:ln/>
        </p:spPr>
        <p:txBody>
          <a:bodyPr/>
          <a:lstStyle>
            <a:lvl1pPr>
              <a:defRPr/>
            </a:lvl1pPr>
          </a:lstStyle>
          <a:p>
            <a:fld id="{392BE725-BEF7-421A-884C-161715ADCC4D}" type="slidenum">
              <a:rPr lang="en-US" altLang="zh-CN"/>
              <a:pPr/>
              <a:t>‹#›</a:t>
            </a:fld>
            <a:endParaRPr lang="en-US" altLang="zh-CN"/>
          </a:p>
        </p:txBody>
      </p:sp>
    </p:spTree>
    <p:extLst>
      <p:ext uri="{BB962C8B-B14F-4D97-AF65-F5344CB8AC3E}">
        <p14:creationId xmlns:p14="http://schemas.microsoft.com/office/powerpoint/2010/main" val="2988769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sz="half" idx="1"/>
          </p:nvPr>
        </p:nvSpPr>
        <p:spPr>
          <a:xfrm>
            <a:off x="1370013" y="1827213"/>
            <a:ext cx="357981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contenido"/>
          <p:cNvSpPr>
            <a:spLocks noGrp="1"/>
          </p:cNvSpPr>
          <p:nvPr>
            <p:ph sz="half" idx="2"/>
          </p:nvPr>
        </p:nvSpPr>
        <p:spPr>
          <a:xfrm>
            <a:off x="5102225" y="1827213"/>
            <a:ext cx="35814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Rectangle 8">
            <a:extLst>
              <a:ext uri="{FF2B5EF4-FFF2-40B4-BE49-F238E27FC236}">
                <a16:creationId xmlns:a16="http://schemas.microsoft.com/office/drawing/2014/main" id="{9A74964C-C81A-465D-A62A-298934A1C1BC}"/>
              </a:ext>
            </a:extLst>
          </p:cNvPr>
          <p:cNvSpPr>
            <a:spLocks noGrp="1" noChangeArrowheads="1"/>
          </p:cNvSpPr>
          <p:nvPr>
            <p:ph type="dt" sz="half" idx="10"/>
          </p:nvPr>
        </p:nvSpPr>
        <p:spPr>
          <a:ln/>
        </p:spPr>
        <p:txBody>
          <a:bodyPr/>
          <a:lstStyle>
            <a:lvl1pPr>
              <a:defRPr/>
            </a:lvl1pPr>
          </a:lstStyle>
          <a:p>
            <a:pPr>
              <a:defRPr/>
            </a:pPr>
            <a:fld id="{E93BC609-D79A-4A04-BF27-96B4A6B105BB}" type="datetime1">
              <a:rPr lang="en-US"/>
              <a:pPr>
                <a:defRPr/>
              </a:pPr>
              <a:t>4/21/2026</a:t>
            </a:fld>
            <a:endParaRPr lang="en-US"/>
          </a:p>
        </p:txBody>
      </p:sp>
      <p:sp>
        <p:nvSpPr>
          <p:cNvPr id="6" name="Rectangle 9">
            <a:extLst>
              <a:ext uri="{FF2B5EF4-FFF2-40B4-BE49-F238E27FC236}">
                <a16:creationId xmlns:a16="http://schemas.microsoft.com/office/drawing/2014/main" id="{68B3A1FF-CADF-49FB-A5E3-0F20BE02D165}"/>
              </a:ext>
            </a:extLst>
          </p:cNvPr>
          <p:cNvSpPr>
            <a:spLocks noGrp="1" noChangeArrowheads="1"/>
          </p:cNvSpPr>
          <p:nvPr>
            <p:ph type="ftr" sz="quarter" idx="11"/>
          </p:nvPr>
        </p:nvSpPr>
        <p:spPr>
          <a:ln/>
        </p:spPr>
        <p:txBody>
          <a:bodyPr/>
          <a:lstStyle>
            <a:lvl1pPr>
              <a:defRPr/>
            </a:lvl1pPr>
          </a:lstStyle>
          <a:p>
            <a:endParaRPr lang="en-US" altLang="zh-CN"/>
          </a:p>
        </p:txBody>
      </p:sp>
      <p:sp>
        <p:nvSpPr>
          <p:cNvPr id="7" name="Rectangle 10">
            <a:extLst>
              <a:ext uri="{FF2B5EF4-FFF2-40B4-BE49-F238E27FC236}">
                <a16:creationId xmlns:a16="http://schemas.microsoft.com/office/drawing/2014/main" id="{CFDF866B-48BA-4EF1-96FC-500C6FC9EF7E}"/>
              </a:ext>
            </a:extLst>
          </p:cNvPr>
          <p:cNvSpPr>
            <a:spLocks noGrp="1" noChangeArrowheads="1"/>
          </p:cNvSpPr>
          <p:nvPr>
            <p:ph type="sldNum" sz="quarter" idx="12"/>
          </p:nvPr>
        </p:nvSpPr>
        <p:spPr>
          <a:ln/>
        </p:spPr>
        <p:txBody>
          <a:bodyPr/>
          <a:lstStyle>
            <a:lvl1pPr>
              <a:defRPr/>
            </a:lvl1pPr>
          </a:lstStyle>
          <a:p>
            <a:fld id="{5E1D4571-5597-464D-BBD1-06EF56AB25A9}" type="slidenum">
              <a:rPr lang="en-US" altLang="zh-CN"/>
              <a:pPr/>
              <a:t>‹#›</a:t>
            </a:fld>
            <a:endParaRPr lang="en-US" altLang="zh-CN"/>
          </a:p>
        </p:txBody>
      </p:sp>
    </p:spTree>
    <p:extLst>
      <p:ext uri="{BB962C8B-B14F-4D97-AF65-F5344CB8AC3E}">
        <p14:creationId xmlns:p14="http://schemas.microsoft.com/office/powerpoint/2010/main" val="214340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PE"/>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Rectangle 8">
            <a:extLst>
              <a:ext uri="{FF2B5EF4-FFF2-40B4-BE49-F238E27FC236}">
                <a16:creationId xmlns:a16="http://schemas.microsoft.com/office/drawing/2014/main" id="{EBF6B056-A4F8-44A9-9288-0C7F7B025DCC}"/>
              </a:ext>
            </a:extLst>
          </p:cNvPr>
          <p:cNvSpPr>
            <a:spLocks noGrp="1" noChangeArrowheads="1"/>
          </p:cNvSpPr>
          <p:nvPr>
            <p:ph type="dt" sz="half" idx="10"/>
          </p:nvPr>
        </p:nvSpPr>
        <p:spPr>
          <a:ln/>
        </p:spPr>
        <p:txBody>
          <a:bodyPr/>
          <a:lstStyle>
            <a:lvl1pPr>
              <a:defRPr/>
            </a:lvl1pPr>
          </a:lstStyle>
          <a:p>
            <a:pPr>
              <a:defRPr/>
            </a:pPr>
            <a:fld id="{B4575CDA-FCE9-4260-9B57-35617CD2F35D}" type="datetime1">
              <a:rPr lang="en-US"/>
              <a:pPr>
                <a:defRPr/>
              </a:pPr>
              <a:t>4/21/2026</a:t>
            </a:fld>
            <a:endParaRPr lang="en-US"/>
          </a:p>
        </p:txBody>
      </p:sp>
      <p:sp>
        <p:nvSpPr>
          <p:cNvPr id="8" name="Rectangle 9">
            <a:extLst>
              <a:ext uri="{FF2B5EF4-FFF2-40B4-BE49-F238E27FC236}">
                <a16:creationId xmlns:a16="http://schemas.microsoft.com/office/drawing/2014/main" id="{0C20F122-90A3-4ABE-808B-FBF97B68920F}"/>
              </a:ext>
            </a:extLst>
          </p:cNvPr>
          <p:cNvSpPr>
            <a:spLocks noGrp="1" noChangeArrowheads="1"/>
          </p:cNvSpPr>
          <p:nvPr>
            <p:ph type="ftr" sz="quarter" idx="11"/>
          </p:nvPr>
        </p:nvSpPr>
        <p:spPr>
          <a:ln/>
        </p:spPr>
        <p:txBody>
          <a:bodyPr/>
          <a:lstStyle>
            <a:lvl1pPr>
              <a:defRPr/>
            </a:lvl1pPr>
          </a:lstStyle>
          <a:p>
            <a:endParaRPr lang="en-US" altLang="zh-CN"/>
          </a:p>
        </p:txBody>
      </p:sp>
      <p:sp>
        <p:nvSpPr>
          <p:cNvPr id="9" name="Rectangle 10">
            <a:extLst>
              <a:ext uri="{FF2B5EF4-FFF2-40B4-BE49-F238E27FC236}">
                <a16:creationId xmlns:a16="http://schemas.microsoft.com/office/drawing/2014/main" id="{550C56AB-B654-4C4B-B4A7-147DC19D0A0F}"/>
              </a:ext>
            </a:extLst>
          </p:cNvPr>
          <p:cNvSpPr>
            <a:spLocks noGrp="1" noChangeArrowheads="1"/>
          </p:cNvSpPr>
          <p:nvPr>
            <p:ph type="sldNum" sz="quarter" idx="12"/>
          </p:nvPr>
        </p:nvSpPr>
        <p:spPr>
          <a:ln/>
        </p:spPr>
        <p:txBody>
          <a:bodyPr/>
          <a:lstStyle>
            <a:lvl1pPr>
              <a:defRPr/>
            </a:lvl1pPr>
          </a:lstStyle>
          <a:p>
            <a:fld id="{7677B5D3-BF68-45E9-9793-C2DDD4FF2275}" type="slidenum">
              <a:rPr lang="en-US" altLang="zh-CN"/>
              <a:pPr/>
              <a:t>‹#›</a:t>
            </a:fld>
            <a:endParaRPr lang="en-US" altLang="zh-CN"/>
          </a:p>
        </p:txBody>
      </p:sp>
    </p:spTree>
    <p:extLst>
      <p:ext uri="{BB962C8B-B14F-4D97-AF65-F5344CB8AC3E}">
        <p14:creationId xmlns:p14="http://schemas.microsoft.com/office/powerpoint/2010/main" val="3777474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Rectangle 8">
            <a:extLst>
              <a:ext uri="{FF2B5EF4-FFF2-40B4-BE49-F238E27FC236}">
                <a16:creationId xmlns:a16="http://schemas.microsoft.com/office/drawing/2014/main" id="{7B1200F6-21E7-4E70-B924-D40F76027111}"/>
              </a:ext>
            </a:extLst>
          </p:cNvPr>
          <p:cNvSpPr>
            <a:spLocks noGrp="1" noChangeArrowheads="1"/>
          </p:cNvSpPr>
          <p:nvPr>
            <p:ph type="dt" sz="half" idx="10"/>
          </p:nvPr>
        </p:nvSpPr>
        <p:spPr>
          <a:ln/>
        </p:spPr>
        <p:txBody>
          <a:bodyPr/>
          <a:lstStyle>
            <a:lvl1pPr>
              <a:defRPr/>
            </a:lvl1pPr>
          </a:lstStyle>
          <a:p>
            <a:pPr>
              <a:defRPr/>
            </a:pPr>
            <a:fld id="{EE4C2811-0BAA-4D8B-BF90-63658455A6BA}" type="datetime1">
              <a:rPr lang="en-US"/>
              <a:pPr>
                <a:defRPr/>
              </a:pPr>
              <a:t>4/21/2026</a:t>
            </a:fld>
            <a:endParaRPr lang="en-US"/>
          </a:p>
        </p:txBody>
      </p:sp>
      <p:sp>
        <p:nvSpPr>
          <p:cNvPr id="4" name="Rectangle 9">
            <a:extLst>
              <a:ext uri="{FF2B5EF4-FFF2-40B4-BE49-F238E27FC236}">
                <a16:creationId xmlns:a16="http://schemas.microsoft.com/office/drawing/2014/main" id="{C0DEC673-D716-47B3-A851-1EC371034D49}"/>
              </a:ext>
            </a:extLst>
          </p:cNvPr>
          <p:cNvSpPr>
            <a:spLocks noGrp="1" noChangeArrowheads="1"/>
          </p:cNvSpPr>
          <p:nvPr>
            <p:ph type="ftr" sz="quarter" idx="11"/>
          </p:nvPr>
        </p:nvSpPr>
        <p:spPr>
          <a:ln/>
        </p:spPr>
        <p:txBody>
          <a:bodyPr/>
          <a:lstStyle>
            <a:lvl1pPr>
              <a:defRPr/>
            </a:lvl1pPr>
          </a:lstStyle>
          <a:p>
            <a:endParaRPr lang="en-US" altLang="zh-CN"/>
          </a:p>
        </p:txBody>
      </p:sp>
      <p:sp>
        <p:nvSpPr>
          <p:cNvPr id="5" name="Rectangle 10">
            <a:extLst>
              <a:ext uri="{FF2B5EF4-FFF2-40B4-BE49-F238E27FC236}">
                <a16:creationId xmlns:a16="http://schemas.microsoft.com/office/drawing/2014/main" id="{8BDB7012-9039-44A7-B6EA-7764211E1D08}"/>
              </a:ext>
            </a:extLst>
          </p:cNvPr>
          <p:cNvSpPr>
            <a:spLocks noGrp="1" noChangeArrowheads="1"/>
          </p:cNvSpPr>
          <p:nvPr>
            <p:ph type="sldNum" sz="quarter" idx="12"/>
          </p:nvPr>
        </p:nvSpPr>
        <p:spPr>
          <a:ln/>
        </p:spPr>
        <p:txBody>
          <a:bodyPr/>
          <a:lstStyle>
            <a:lvl1pPr>
              <a:defRPr/>
            </a:lvl1pPr>
          </a:lstStyle>
          <a:p>
            <a:fld id="{18A78A57-76C7-44CE-BCDD-D0B17BD497F3}" type="slidenum">
              <a:rPr lang="en-US" altLang="zh-CN"/>
              <a:pPr/>
              <a:t>‹#›</a:t>
            </a:fld>
            <a:endParaRPr lang="en-US" altLang="zh-CN"/>
          </a:p>
        </p:txBody>
      </p:sp>
    </p:spTree>
    <p:extLst>
      <p:ext uri="{BB962C8B-B14F-4D97-AF65-F5344CB8AC3E}">
        <p14:creationId xmlns:p14="http://schemas.microsoft.com/office/powerpoint/2010/main" val="2309243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FCF40E6A-D022-4F06-B4D7-7E7009E940C7}"/>
              </a:ext>
            </a:extLst>
          </p:cNvPr>
          <p:cNvSpPr>
            <a:spLocks noGrp="1" noChangeArrowheads="1"/>
          </p:cNvSpPr>
          <p:nvPr>
            <p:ph type="dt" sz="half" idx="10"/>
          </p:nvPr>
        </p:nvSpPr>
        <p:spPr>
          <a:ln/>
        </p:spPr>
        <p:txBody>
          <a:bodyPr/>
          <a:lstStyle>
            <a:lvl1pPr>
              <a:defRPr/>
            </a:lvl1pPr>
          </a:lstStyle>
          <a:p>
            <a:pPr>
              <a:defRPr/>
            </a:pPr>
            <a:fld id="{4A4E1A49-39F0-4318-A145-50C6170EC3BF}" type="datetime1">
              <a:rPr lang="en-US"/>
              <a:pPr>
                <a:defRPr/>
              </a:pPr>
              <a:t>4/21/2026</a:t>
            </a:fld>
            <a:endParaRPr lang="en-US"/>
          </a:p>
        </p:txBody>
      </p:sp>
      <p:sp>
        <p:nvSpPr>
          <p:cNvPr id="3" name="Rectangle 9">
            <a:extLst>
              <a:ext uri="{FF2B5EF4-FFF2-40B4-BE49-F238E27FC236}">
                <a16:creationId xmlns:a16="http://schemas.microsoft.com/office/drawing/2014/main" id="{49B82665-EBE5-4F88-88A6-7D2F743A788C}"/>
              </a:ext>
            </a:extLst>
          </p:cNvPr>
          <p:cNvSpPr>
            <a:spLocks noGrp="1" noChangeArrowheads="1"/>
          </p:cNvSpPr>
          <p:nvPr>
            <p:ph type="ftr" sz="quarter" idx="11"/>
          </p:nvPr>
        </p:nvSpPr>
        <p:spPr>
          <a:ln/>
        </p:spPr>
        <p:txBody>
          <a:bodyPr/>
          <a:lstStyle>
            <a:lvl1pPr>
              <a:defRPr/>
            </a:lvl1pPr>
          </a:lstStyle>
          <a:p>
            <a:endParaRPr lang="en-US" altLang="zh-CN"/>
          </a:p>
        </p:txBody>
      </p:sp>
      <p:sp>
        <p:nvSpPr>
          <p:cNvPr id="4" name="Rectangle 10">
            <a:extLst>
              <a:ext uri="{FF2B5EF4-FFF2-40B4-BE49-F238E27FC236}">
                <a16:creationId xmlns:a16="http://schemas.microsoft.com/office/drawing/2014/main" id="{48809A20-58C6-443A-AB08-401705361F72}"/>
              </a:ext>
            </a:extLst>
          </p:cNvPr>
          <p:cNvSpPr>
            <a:spLocks noGrp="1" noChangeArrowheads="1"/>
          </p:cNvSpPr>
          <p:nvPr>
            <p:ph type="sldNum" sz="quarter" idx="12"/>
          </p:nvPr>
        </p:nvSpPr>
        <p:spPr>
          <a:ln/>
        </p:spPr>
        <p:txBody>
          <a:bodyPr/>
          <a:lstStyle>
            <a:lvl1pPr>
              <a:defRPr/>
            </a:lvl1pPr>
          </a:lstStyle>
          <a:p>
            <a:fld id="{FE50C0C9-026D-4FAE-82BB-22BF36A54781}" type="slidenum">
              <a:rPr lang="en-US" altLang="zh-CN"/>
              <a:pPr/>
              <a:t>‹#›</a:t>
            </a:fld>
            <a:endParaRPr lang="en-US" altLang="zh-CN"/>
          </a:p>
        </p:txBody>
      </p:sp>
    </p:spTree>
    <p:extLst>
      <p:ext uri="{BB962C8B-B14F-4D97-AF65-F5344CB8AC3E}">
        <p14:creationId xmlns:p14="http://schemas.microsoft.com/office/powerpoint/2010/main" val="2658631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lstStyle>
            <a:lvl1pPr algn="l">
              <a:defRPr sz="2000" b="1"/>
            </a:lvl1pPr>
          </a:lstStyle>
          <a:p>
            <a:r>
              <a:rPr lang="es-ES"/>
              <a:t>Haga clic para modificar el estilo de título del patrón</a:t>
            </a:r>
            <a:endParaRPr lang="es-PE"/>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8">
            <a:extLst>
              <a:ext uri="{FF2B5EF4-FFF2-40B4-BE49-F238E27FC236}">
                <a16:creationId xmlns:a16="http://schemas.microsoft.com/office/drawing/2014/main" id="{8C254455-9150-4725-8BCE-393A22108879}"/>
              </a:ext>
            </a:extLst>
          </p:cNvPr>
          <p:cNvSpPr>
            <a:spLocks noGrp="1" noChangeArrowheads="1"/>
          </p:cNvSpPr>
          <p:nvPr>
            <p:ph type="dt" sz="half" idx="10"/>
          </p:nvPr>
        </p:nvSpPr>
        <p:spPr>
          <a:ln/>
        </p:spPr>
        <p:txBody>
          <a:bodyPr/>
          <a:lstStyle>
            <a:lvl1pPr>
              <a:defRPr/>
            </a:lvl1pPr>
          </a:lstStyle>
          <a:p>
            <a:pPr>
              <a:defRPr/>
            </a:pPr>
            <a:fld id="{BEEF7D9A-73DE-4851-B42A-01E383A7A157}" type="datetime1">
              <a:rPr lang="en-US"/>
              <a:pPr>
                <a:defRPr/>
              </a:pPr>
              <a:t>4/21/2026</a:t>
            </a:fld>
            <a:endParaRPr lang="en-US"/>
          </a:p>
        </p:txBody>
      </p:sp>
      <p:sp>
        <p:nvSpPr>
          <p:cNvPr id="6" name="Rectangle 9">
            <a:extLst>
              <a:ext uri="{FF2B5EF4-FFF2-40B4-BE49-F238E27FC236}">
                <a16:creationId xmlns:a16="http://schemas.microsoft.com/office/drawing/2014/main" id="{93CC5069-9C17-40C1-9FC3-544990FCD652}"/>
              </a:ext>
            </a:extLst>
          </p:cNvPr>
          <p:cNvSpPr>
            <a:spLocks noGrp="1" noChangeArrowheads="1"/>
          </p:cNvSpPr>
          <p:nvPr>
            <p:ph type="ftr" sz="quarter" idx="11"/>
          </p:nvPr>
        </p:nvSpPr>
        <p:spPr>
          <a:ln/>
        </p:spPr>
        <p:txBody>
          <a:bodyPr/>
          <a:lstStyle>
            <a:lvl1pPr>
              <a:defRPr/>
            </a:lvl1pPr>
          </a:lstStyle>
          <a:p>
            <a:endParaRPr lang="en-US" altLang="zh-CN"/>
          </a:p>
        </p:txBody>
      </p:sp>
      <p:sp>
        <p:nvSpPr>
          <p:cNvPr id="7" name="Rectangle 10">
            <a:extLst>
              <a:ext uri="{FF2B5EF4-FFF2-40B4-BE49-F238E27FC236}">
                <a16:creationId xmlns:a16="http://schemas.microsoft.com/office/drawing/2014/main" id="{019FA37D-5E51-45BF-B3C4-AC96BA40D1CF}"/>
              </a:ext>
            </a:extLst>
          </p:cNvPr>
          <p:cNvSpPr>
            <a:spLocks noGrp="1" noChangeArrowheads="1"/>
          </p:cNvSpPr>
          <p:nvPr>
            <p:ph type="sldNum" sz="quarter" idx="12"/>
          </p:nvPr>
        </p:nvSpPr>
        <p:spPr>
          <a:ln/>
        </p:spPr>
        <p:txBody>
          <a:bodyPr/>
          <a:lstStyle>
            <a:lvl1pPr>
              <a:defRPr/>
            </a:lvl1pPr>
          </a:lstStyle>
          <a:p>
            <a:fld id="{9CD41551-F729-44EC-B1C3-D351A3026EBC}" type="slidenum">
              <a:rPr lang="en-US" altLang="zh-CN"/>
              <a:pPr/>
              <a:t>‹#›</a:t>
            </a:fld>
            <a:endParaRPr lang="en-US" altLang="zh-CN"/>
          </a:p>
        </p:txBody>
      </p:sp>
    </p:spTree>
    <p:extLst>
      <p:ext uri="{BB962C8B-B14F-4D97-AF65-F5344CB8AC3E}">
        <p14:creationId xmlns:p14="http://schemas.microsoft.com/office/powerpoint/2010/main" val="4080275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lstStyle>
            <a:lvl1pPr algn="l">
              <a:defRPr sz="2000" b="1"/>
            </a:lvl1pPr>
          </a:lstStyle>
          <a:p>
            <a:r>
              <a:rPr lang="es-ES"/>
              <a:t>Haga clic para modificar el estilo de título del patrón</a:t>
            </a:r>
            <a:endParaRPr lang="es-PE"/>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PE"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8">
            <a:extLst>
              <a:ext uri="{FF2B5EF4-FFF2-40B4-BE49-F238E27FC236}">
                <a16:creationId xmlns:a16="http://schemas.microsoft.com/office/drawing/2014/main" id="{5262C2F7-E1C6-4E79-9CEB-CE3EB61A9DAE}"/>
              </a:ext>
            </a:extLst>
          </p:cNvPr>
          <p:cNvSpPr>
            <a:spLocks noGrp="1" noChangeArrowheads="1"/>
          </p:cNvSpPr>
          <p:nvPr>
            <p:ph type="dt" sz="half" idx="10"/>
          </p:nvPr>
        </p:nvSpPr>
        <p:spPr>
          <a:ln/>
        </p:spPr>
        <p:txBody>
          <a:bodyPr/>
          <a:lstStyle>
            <a:lvl1pPr>
              <a:defRPr/>
            </a:lvl1pPr>
          </a:lstStyle>
          <a:p>
            <a:pPr>
              <a:defRPr/>
            </a:pPr>
            <a:fld id="{22F63F36-C1A8-4867-8838-E5F7CD487BDE}" type="datetime1">
              <a:rPr lang="en-US"/>
              <a:pPr>
                <a:defRPr/>
              </a:pPr>
              <a:t>4/21/2026</a:t>
            </a:fld>
            <a:endParaRPr lang="en-US"/>
          </a:p>
        </p:txBody>
      </p:sp>
      <p:sp>
        <p:nvSpPr>
          <p:cNvPr id="6" name="Rectangle 9">
            <a:extLst>
              <a:ext uri="{FF2B5EF4-FFF2-40B4-BE49-F238E27FC236}">
                <a16:creationId xmlns:a16="http://schemas.microsoft.com/office/drawing/2014/main" id="{BCD6894A-80B5-4785-BED5-E6E05BB021F3}"/>
              </a:ext>
            </a:extLst>
          </p:cNvPr>
          <p:cNvSpPr>
            <a:spLocks noGrp="1" noChangeArrowheads="1"/>
          </p:cNvSpPr>
          <p:nvPr>
            <p:ph type="ftr" sz="quarter" idx="11"/>
          </p:nvPr>
        </p:nvSpPr>
        <p:spPr>
          <a:ln/>
        </p:spPr>
        <p:txBody>
          <a:bodyPr/>
          <a:lstStyle>
            <a:lvl1pPr>
              <a:defRPr/>
            </a:lvl1pPr>
          </a:lstStyle>
          <a:p>
            <a:endParaRPr lang="en-US" altLang="zh-CN"/>
          </a:p>
        </p:txBody>
      </p:sp>
      <p:sp>
        <p:nvSpPr>
          <p:cNvPr id="7" name="Rectangle 10">
            <a:extLst>
              <a:ext uri="{FF2B5EF4-FFF2-40B4-BE49-F238E27FC236}">
                <a16:creationId xmlns:a16="http://schemas.microsoft.com/office/drawing/2014/main" id="{426C0BFF-A213-4178-9A0C-AAB8B9BB2F3E}"/>
              </a:ext>
            </a:extLst>
          </p:cNvPr>
          <p:cNvSpPr>
            <a:spLocks noGrp="1" noChangeArrowheads="1"/>
          </p:cNvSpPr>
          <p:nvPr>
            <p:ph type="sldNum" sz="quarter" idx="12"/>
          </p:nvPr>
        </p:nvSpPr>
        <p:spPr>
          <a:ln/>
        </p:spPr>
        <p:txBody>
          <a:bodyPr/>
          <a:lstStyle>
            <a:lvl1pPr>
              <a:defRPr/>
            </a:lvl1pPr>
          </a:lstStyle>
          <a:p>
            <a:fld id="{88F5B7F3-2049-4169-B2D4-F857F604AF08}" type="slidenum">
              <a:rPr lang="en-US" altLang="zh-CN"/>
              <a:pPr/>
              <a:t>‹#›</a:t>
            </a:fld>
            <a:endParaRPr lang="en-US" altLang="zh-CN"/>
          </a:p>
        </p:txBody>
      </p:sp>
    </p:spTree>
    <p:extLst>
      <p:ext uri="{BB962C8B-B14F-4D97-AF65-F5344CB8AC3E}">
        <p14:creationId xmlns:p14="http://schemas.microsoft.com/office/powerpoint/2010/main" val="3318246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Rectangle 8">
            <a:extLst>
              <a:ext uri="{FF2B5EF4-FFF2-40B4-BE49-F238E27FC236}">
                <a16:creationId xmlns:a16="http://schemas.microsoft.com/office/drawing/2014/main" id="{761E7281-1284-4855-8963-3E544FDB2595}"/>
              </a:ext>
            </a:extLst>
          </p:cNvPr>
          <p:cNvSpPr>
            <a:spLocks noGrp="1" noChangeArrowheads="1"/>
          </p:cNvSpPr>
          <p:nvPr>
            <p:ph type="dt" sz="half" idx="10"/>
          </p:nvPr>
        </p:nvSpPr>
        <p:spPr>
          <a:ln/>
        </p:spPr>
        <p:txBody>
          <a:bodyPr/>
          <a:lstStyle>
            <a:lvl1pPr>
              <a:defRPr/>
            </a:lvl1pPr>
          </a:lstStyle>
          <a:p>
            <a:pPr>
              <a:defRPr/>
            </a:pPr>
            <a:fld id="{9A0DBA84-1E95-4402-AD18-3D55D9ED26FC}" type="datetime1">
              <a:rPr lang="en-US"/>
              <a:pPr>
                <a:defRPr/>
              </a:pPr>
              <a:t>4/21/2026</a:t>
            </a:fld>
            <a:endParaRPr lang="en-US"/>
          </a:p>
        </p:txBody>
      </p:sp>
      <p:sp>
        <p:nvSpPr>
          <p:cNvPr id="5" name="Rectangle 9">
            <a:extLst>
              <a:ext uri="{FF2B5EF4-FFF2-40B4-BE49-F238E27FC236}">
                <a16:creationId xmlns:a16="http://schemas.microsoft.com/office/drawing/2014/main" id="{C8F729ED-9702-4D32-ACC0-93AED4B306FA}"/>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10">
            <a:extLst>
              <a:ext uri="{FF2B5EF4-FFF2-40B4-BE49-F238E27FC236}">
                <a16:creationId xmlns:a16="http://schemas.microsoft.com/office/drawing/2014/main" id="{121A7AC1-D5F4-4448-B52A-B503CE9C088D}"/>
              </a:ext>
            </a:extLst>
          </p:cNvPr>
          <p:cNvSpPr>
            <a:spLocks noGrp="1" noChangeArrowheads="1"/>
          </p:cNvSpPr>
          <p:nvPr>
            <p:ph type="sldNum" sz="quarter" idx="12"/>
          </p:nvPr>
        </p:nvSpPr>
        <p:spPr>
          <a:ln/>
        </p:spPr>
        <p:txBody>
          <a:bodyPr/>
          <a:lstStyle>
            <a:lvl1pPr>
              <a:defRPr/>
            </a:lvl1pPr>
          </a:lstStyle>
          <a:p>
            <a:fld id="{1174E719-8A93-4F8E-AE65-D264F0576BD1}" type="slidenum">
              <a:rPr lang="en-US" altLang="zh-CN"/>
              <a:pPr/>
              <a:t>‹#›</a:t>
            </a:fld>
            <a:endParaRPr lang="en-US" altLang="zh-CN"/>
          </a:p>
        </p:txBody>
      </p:sp>
    </p:spTree>
    <p:extLst>
      <p:ext uri="{BB962C8B-B14F-4D97-AF65-F5344CB8AC3E}">
        <p14:creationId xmlns:p14="http://schemas.microsoft.com/office/powerpoint/2010/main" val="1177817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56413" y="301625"/>
            <a:ext cx="1827212" cy="5640388"/>
          </a:xfrm>
        </p:spPr>
        <p:txBody>
          <a:bodyPr vert="eaVert"/>
          <a:lstStyle/>
          <a:p>
            <a:r>
              <a:rPr lang="es-ES"/>
              <a:t>Haga clic para modificar el estilo de título del patrón</a:t>
            </a:r>
            <a:endParaRPr lang="es-PE"/>
          </a:p>
        </p:txBody>
      </p:sp>
      <p:sp>
        <p:nvSpPr>
          <p:cNvPr id="3" name="2 Marcador de texto vertical"/>
          <p:cNvSpPr>
            <a:spLocks noGrp="1"/>
          </p:cNvSpPr>
          <p:nvPr>
            <p:ph type="body" orient="vert" idx="1"/>
          </p:nvPr>
        </p:nvSpPr>
        <p:spPr>
          <a:xfrm>
            <a:off x="1370013" y="301625"/>
            <a:ext cx="5334000" cy="564038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Rectangle 8">
            <a:extLst>
              <a:ext uri="{FF2B5EF4-FFF2-40B4-BE49-F238E27FC236}">
                <a16:creationId xmlns:a16="http://schemas.microsoft.com/office/drawing/2014/main" id="{E54C7CB2-CDCA-4392-B1CE-D9192416355F}"/>
              </a:ext>
            </a:extLst>
          </p:cNvPr>
          <p:cNvSpPr>
            <a:spLocks noGrp="1" noChangeArrowheads="1"/>
          </p:cNvSpPr>
          <p:nvPr>
            <p:ph type="dt" sz="half" idx="10"/>
          </p:nvPr>
        </p:nvSpPr>
        <p:spPr>
          <a:ln/>
        </p:spPr>
        <p:txBody>
          <a:bodyPr/>
          <a:lstStyle>
            <a:lvl1pPr>
              <a:defRPr/>
            </a:lvl1pPr>
          </a:lstStyle>
          <a:p>
            <a:pPr>
              <a:defRPr/>
            </a:pPr>
            <a:fld id="{905F7FA2-7BFE-4DB1-80E3-F32DDCDD2C68}" type="datetime1">
              <a:rPr lang="en-US"/>
              <a:pPr>
                <a:defRPr/>
              </a:pPr>
              <a:t>4/21/2026</a:t>
            </a:fld>
            <a:endParaRPr lang="en-US"/>
          </a:p>
        </p:txBody>
      </p:sp>
      <p:sp>
        <p:nvSpPr>
          <p:cNvPr id="5" name="Rectangle 9">
            <a:extLst>
              <a:ext uri="{FF2B5EF4-FFF2-40B4-BE49-F238E27FC236}">
                <a16:creationId xmlns:a16="http://schemas.microsoft.com/office/drawing/2014/main" id="{1EBC5081-15B6-4FC8-AAC8-3907AC44D734}"/>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10">
            <a:extLst>
              <a:ext uri="{FF2B5EF4-FFF2-40B4-BE49-F238E27FC236}">
                <a16:creationId xmlns:a16="http://schemas.microsoft.com/office/drawing/2014/main" id="{8F6CE536-C8C4-432A-9308-4CDD93F6003F}"/>
              </a:ext>
            </a:extLst>
          </p:cNvPr>
          <p:cNvSpPr>
            <a:spLocks noGrp="1" noChangeArrowheads="1"/>
          </p:cNvSpPr>
          <p:nvPr>
            <p:ph type="sldNum" sz="quarter" idx="12"/>
          </p:nvPr>
        </p:nvSpPr>
        <p:spPr>
          <a:ln/>
        </p:spPr>
        <p:txBody>
          <a:bodyPr/>
          <a:lstStyle>
            <a:lvl1pPr>
              <a:defRPr/>
            </a:lvl1pPr>
          </a:lstStyle>
          <a:p>
            <a:fld id="{7329A27C-69F8-4888-AAA6-E4987EE0AAE3}" type="slidenum">
              <a:rPr lang="en-US" altLang="zh-CN"/>
              <a:pPr/>
              <a:t>‹#›</a:t>
            </a:fld>
            <a:endParaRPr lang="en-US" altLang="zh-CN"/>
          </a:p>
        </p:txBody>
      </p:sp>
    </p:spTree>
    <p:extLst>
      <p:ext uri="{BB962C8B-B14F-4D97-AF65-F5344CB8AC3E}">
        <p14:creationId xmlns:p14="http://schemas.microsoft.com/office/powerpoint/2010/main" val="33731195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2">
            <a:extLst>
              <a:ext uri="{FF2B5EF4-FFF2-40B4-BE49-F238E27FC236}">
                <a16:creationId xmlns:a16="http://schemas.microsoft.com/office/drawing/2014/main" id="{4B3BBCB7-8F3F-48E8-B9CF-8478E078908C}"/>
              </a:ext>
            </a:extLst>
          </p:cNvPr>
          <p:cNvGrpSpPr>
            <a:grpSpLocks/>
          </p:cNvGrpSpPr>
          <p:nvPr/>
        </p:nvGrpSpPr>
        <p:grpSpPr bwMode="auto">
          <a:xfrm>
            <a:off x="-3238500" y="0"/>
            <a:ext cx="11925300" cy="3810000"/>
            <a:chOff x="-2040" y="0"/>
            <a:chExt cx="7512" cy="2400"/>
          </a:xfrm>
        </p:grpSpPr>
        <p:sp>
          <p:nvSpPr>
            <p:cNvPr id="2056" name="AutoShape 3">
              <a:extLst>
                <a:ext uri="{FF2B5EF4-FFF2-40B4-BE49-F238E27FC236}">
                  <a16:creationId xmlns:a16="http://schemas.microsoft.com/office/drawing/2014/main" id="{377B7770-6BA4-446D-B05C-AC48BDA0518A}"/>
                </a:ext>
              </a:extLst>
            </p:cNvPr>
            <p:cNvSpPr>
              <a:spLocks noChangeArrowheads="1"/>
            </p:cNvSpPr>
            <p:nvPr/>
          </p:nvSpPr>
          <p:spPr bwMode="auto">
            <a:xfrm>
              <a:off x="-2040" y="432"/>
              <a:ext cx="2592" cy="1968"/>
            </a:xfrm>
            <a:custGeom>
              <a:avLst/>
              <a:gdLst>
                <a:gd name="T0" fmla="*/ 82 w 64000"/>
                <a:gd name="T1" fmla="*/ -25 h 64000"/>
                <a:gd name="T2" fmla="*/ 105 w 64000"/>
                <a:gd name="T3" fmla="*/ 0 h 64000"/>
                <a:gd name="T4" fmla="*/ 82 w 64000"/>
                <a:gd name="T5" fmla="*/ 25 h 64000"/>
                <a:gd name="T6" fmla="*/ 82 w 64000"/>
                <a:gd name="T7" fmla="*/ 25 h 64000"/>
                <a:gd name="T8" fmla="*/ 82 w 64000"/>
                <a:gd name="T9" fmla="*/ 25 h 64000"/>
                <a:gd name="T10" fmla="*/ 82 w 64000"/>
                <a:gd name="T11" fmla="*/ 25 h 64000"/>
                <a:gd name="T12" fmla="*/ 82 w 64000"/>
                <a:gd name="T13" fmla="*/ -25 h 64000"/>
                <a:gd name="T14" fmla="*/ 82 w 64000"/>
                <a:gd name="T15" fmla="*/ -25 h 64000"/>
                <a:gd name="T16" fmla="*/ 82 w 64000"/>
                <a:gd name="T17" fmla="*/ -25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57" name="AutoShape 4">
              <a:extLst>
                <a:ext uri="{FF2B5EF4-FFF2-40B4-BE49-F238E27FC236}">
                  <a16:creationId xmlns:a16="http://schemas.microsoft.com/office/drawing/2014/main" id="{6CFD4DAF-21C8-4E5D-B2AD-D444AC63127B}"/>
                </a:ext>
              </a:extLst>
            </p:cNvPr>
            <p:cNvSpPr>
              <a:spLocks noChangeArrowheads="1"/>
            </p:cNvSpPr>
            <p:nvPr/>
          </p:nvSpPr>
          <p:spPr bwMode="auto">
            <a:xfrm>
              <a:off x="-1528" y="0"/>
              <a:ext cx="1949" cy="1987"/>
            </a:xfrm>
            <a:custGeom>
              <a:avLst/>
              <a:gdLst>
                <a:gd name="T0" fmla="*/ 46 w 64000"/>
                <a:gd name="T1" fmla="*/ -25 h 64000"/>
                <a:gd name="T2" fmla="*/ 59 w 64000"/>
                <a:gd name="T3" fmla="*/ 0 h 64000"/>
                <a:gd name="T4" fmla="*/ 46 w 64000"/>
                <a:gd name="T5" fmla="*/ 25 h 64000"/>
                <a:gd name="T6" fmla="*/ 46 w 64000"/>
                <a:gd name="T7" fmla="*/ 25 h 64000"/>
                <a:gd name="T8" fmla="*/ 46 w 64000"/>
                <a:gd name="T9" fmla="*/ 25 h 64000"/>
                <a:gd name="T10" fmla="*/ 46 w 64000"/>
                <a:gd name="T11" fmla="*/ 25 h 64000"/>
                <a:gd name="T12" fmla="*/ 46 w 64000"/>
                <a:gd name="T13" fmla="*/ -25 h 64000"/>
                <a:gd name="T14" fmla="*/ 46 w 64000"/>
                <a:gd name="T15" fmla="*/ -25 h 64000"/>
                <a:gd name="T16" fmla="*/ 46 w 64000"/>
                <a:gd name="T17" fmla="*/ -25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58" name="Line 5">
              <a:extLst>
                <a:ext uri="{FF2B5EF4-FFF2-40B4-BE49-F238E27FC236}">
                  <a16:creationId xmlns:a16="http://schemas.microsoft.com/office/drawing/2014/main" id="{82E48B7A-4DA8-4C1F-9CEC-66A9F9541631}"/>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1" name="Rectangle 6">
            <a:extLst>
              <a:ext uri="{FF2B5EF4-FFF2-40B4-BE49-F238E27FC236}">
                <a16:creationId xmlns:a16="http://schemas.microsoft.com/office/drawing/2014/main" id="{797AADB3-E472-4AB4-B706-2B0AEDA4D2ED}"/>
              </a:ext>
            </a:extLst>
          </p:cNvPr>
          <p:cNvSpPr>
            <a:spLocks noGrp="1" noChangeArrowheads="1"/>
          </p:cNvSpPr>
          <p:nvPr>
            <p:ph type="title"/>
          </p:nvPr>
        </p:nvSpPr>
        <p:spPr bwMode="auto">
          <a:xfrm>
            <a:off x="1370013" y="301625"/>
            <a:ext cx="731361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2052" name="Rectangle 7">
            <a:extLst>
              <a:ext uri="{FF2B5EF4-FFF2-40B4-BE49-F238E27FC236}">
                <a16:creationId xmlns:a16="http://schemas.microsoft.com/office/drawing/2014/main" id="{3FCF37A5-7C89-4B90-B37A-AB757F0E736B}"/>
              </a:ext>
            </a:extLst>
          </p:cNvPr>
          <p:cNvSpPr>
            <a:spLocks noGrp="1" noChangeArrowheads="1"/>
          </p:cNvSpPr>
          <p:nvPr>
            <p:ph type="body" idx="1"/>
          </p:nvPr>
        </p:nvSpPr>
        <p:spPr bwMode="auto">
          <a:xfrm>
            <a:off x="1370013" y="1827213"/>
            <a:ext cx="731361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10952" name="Rectangle 8">
            <a:extLst>
              <a:ext uri="{FF2B5EF4-FFF2-40B4-BE49-F238E27FC236}">
                <a16:creationId xmlns:a16="http://schemas.microsoft.com/office/drawing/2014/main" id="{D8C7ED81-19DF-453D-BDDD-BED45EF59807}"/>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i="0">
                <a:latin typeface="+mn-lt"/>
              </a:defRPr>
            </a:lvl1pPr>
          </a:lstStyle>
          <a:p>
            <a:pPr>
              <a:defRPr/>
            </a:pPr>
            <a:fld id="{68B55575-A1D3-41A2-92F5-A8AB5BFC656B}" type="datetime1">
              <a:rPr lang="en-US"/>
              <a:pPr>
                <a:defRPr/>
              </a:pPr>
              <a:t>4/21/2026</a:t>
            </a:fld>
            <a:endParaRPr lang="en-US"/>
          </a:p>
        </p:txBody>
      </p:sp>
      <p:sp>
        <p:nvSpPr>
          <p:cNvPr id="210953" name="Rectangle 9">
            <a:extLst>
              <a:ext uri="{FF2B5EF4-FFF2-40B4-BE49-F238E27FC236}">
                <a16:creationId xmlns:a16="http://schemas.microsoft.com/office/drawing/2014/main" id="{57CE2261-34D1-4184-933A-112280AB15D6}"/>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i="0">
                <a:latin typeface="Verdana" panose="020B0604030504040204" pitchFamily="34" charset="0"/>
              </a:defRPr>
            </a:lvl1pPr>
          </a:lstStyle>
          <a:p>
            <a:endParaRPr lang="en-US" altLang="zh-CN"/>
          </a:p>
        </p:txBody>
      </p:sp>
      <p:sp>
        <p:nvSpPr>
          <p:cNvPr id="210954" name="Rectangle 10">
            <a:extLst>
              <a:ext uri="{FF2B5EF4-FFF2-40B4-BE49-F238E27FC236}">
                <a16:creationId xmlns:a16="http://schemas.microsoft.com/office/drawing/2014/main" id="{24EEC56F-7C6E-4DBB-91C5-B13C6E69D0D4}"/>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i="0">
                <a:latin typeface="Verdana" panose="020B0604030504040204" pitchFamily="34" charset="0"/>
              </a:defRPr>
            </a:lvl1pPr>
          </a:lstStyle>
          <a:p>
            <a:fld id="{596FBA63-40D1-4A7E-9FE4-1E9711476127}"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73"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cs typeface="Arial" charset="0"/>
        </a:defRPr>
      </a:lvl2pPr>
      <a:lvl3pPr algn="l" rtl="0" eaLnBrk="0" fontAlgn="base" hangingPunct="0">
        <a:spcBef>
          <a:spcPct val="0"/>
        </a:spcBef>
        <a:spcAft>
          <a:spcPct val="0"/>
        </a:spcAft>
        <a:defRPr sz="3600">
          <a:solidFill>
            <a:schemeClr val="tx2"/>
          </a:solidFill>
          <a:latin typeface="Arial" charset="0"/>
          <a:cs typeface="Arial" charset="0"/>
        </a:defRPr>
      </a:lvl3pPr>
      <a:lvl4pPr algn="l" rtl="0" eaLnBrk="0" fontAlgn="base" hangingPunct="0">
        <a:spcBef>
          <a:spcPct val="0"/>
        </a:spcBef>
        <a:spcAft>
          <a:spcPct val="0"/>
        </a:spcAft>
        <a:defRPr sz="3600">
          <a:solidFill>
            <a:schemeClr val="tx2"/>
          </a:solidFill>
          <a:latin typeface="Arial" charset="0"/>
          <a:cs typeface="Arial" charset="0"/>
        </a:defRPr>
      </a:lvl4pPr>
      <a:lvl5pPr algn="l" rtl="0" eaLnBrk="0" fontAlgn="base" hangingPunct="0">
        <a:spcBef>
          <a:spcPct val="0"/>
        </a:spcBef>
        <a:spcAft>
          <a:spcPct val="0"/>
        </a:spcAft>
        <a:defRPr sz="3600">
          <a:solidFill>
            <a:schemeClr val="tx2"/>
          </a:solidFill>
          <a:latin typeface="Arial" charset="0"/>
          <a:cs typeface="Arial" charset="0"/>
        </a:defRPr>
      </a:lvl5pPr>
      <a:lvl6pPr marL="457200" algn="l" rtl="0" fontAlgn="base">
        <a:spcBef>
          <a:spcPct val="0"/>
        </a:spcBef>
        <a:spcAft>
          <a:spcPct val="0"/>
        </a:spcAft>
        <a:defRPr sz="3600">
          <a:solidFill>
            <a:schemeClr val="tx2"/>
          </a:solidFill>
          <a:latin typeface="Arial" charset="0"/>
          <a:cs typeface="Arial" charset="0"/>
        </a:defRPr>
      </a:lvl6pPr>
      <a:lvl7pPr marL="914400" algn="l" rtl="0" fontAlgn="base">
        <a:spcBef>
          <a:spcPct val="0"/>
        </a:spcBef>
        <a:spcAft>
          <a:spcPct val="0"/>
        </a:spcAft>
        <a:defRPr sz="3600">
          <a:solidFill>
            <a:schemeClr val="tx2"/>
          </a:solidFill>
          <a:latin typeface="Arial" charset="0"/>
          <a:cs typeface="Arial" charset="0"/>
        </a:defRPr>
      </a:lvl7pPr>
      <a:lvl8pPr marL="1371600" algn="l" rtl="0" fontAlgn="base">
        <a:spcBef>
          <a:spcPct val="0"/>
        </a:spcBef>
        <a:spcAft>
          <a:spcPct val="0"/>
        </a:spcAft>
        <a:defRPr sz="3600">
          <a:solidFill>
            <a:schemeClr val="tx2"/>
          </a:solidFill>
          <a:latin typeface="Arial" charset="0"/>
          <a:cs typeface="Arial" charset="0"/>
        </a:defRPr>
      </a:lvl8pPr>
      <a:lvl9pPr marL="1828800" algn="l" rtl="0" fontAlgn="base">
        <a:spcBef>
          <a:spcPct val="0"/>
        </a:spcBef>
        <a:spcAft>
          <a:spcPct val="0"/>
        </a:spcAft>
        <a:defRPr sz="36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LChelpforRDA@loc.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0CA6A798-B839-4CCC-A477-9C9D357DDE27}"/>
              </a:ext>
            </a:extLst>
          </p:cNvPr>
          <p:cNvSpPr>
            <a:spLocks noGrp="1" noChangeArrowheads="1"/>
          </p:cNvSpPr>
          <p:nvPr>
            <p:ph type="sldNum" sz="quarter" idx="12"/>
          </p:nvPr>
        </p:nvSpPr>
        <p:spPr>
          <a:ln/>
        </p:spPr>
        <p:txBody>
          <a:bodyPr/>
          <a:lstStyle/>
          <a:p>
            <a:fld id="{28C5FEFB-DA71-419D-96B0-104001B6ACB7}" type="slidenum">
              <a:rPr lang="en-US" altLang="zh-CN"/>
              <a:pPr/>
              <a:t>1</a:t>
            </a:fld>
            <a:endParaRPr lang="en-US" altLang="zh-CN"/>
          </a:p>
        </p:txBody>
      </p:sp>
      <p:sp>
        <p:nvSpPr>
          <p:cNvPr id="4098" name="Rectangle 3">
            <a:extLst>
              <a:ext uri="{FF2B5EF4-FFF2-40B4-BE49-F238E27FC236}">
                <a16:creationId xmlns:a16="http://schemas.microsoft.com/office/drawing/2014/main" id="{B3AE2999-D4A2-4CF0-A0F1-F6ED9147BF3E}"/>
              </a:ext>
            </a:extLst>
          </p:cNvPr>
          <p:cNvSpPr>
            <a:spLocks noGrp="1" noChangeArrowheads="1"/>
          </p:cNvSpPr>
          <p:nvPr>
            <p:ph type="subTitle" idx="4294967295"/>
          </p:nvPr>
        </p:nvSpPr>
        <p:spPr>
          <a:xfrm>
            <a:off x="2484438" y="4581525"/>
            <a:ext cx="5140325" cy="2074863"/>
          </a:xfrm>
        </p:spPr>
        <p:txBody>
          <a:bodyPr anchor="ct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Ana Lupe Cristán</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政策与标准部</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美国国会图书馆</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2012年3月</a:t>
            </a:r>
          </a:p>
        </p:txBody>
      </p:sp>
      <p:sp>
        <p:nvSpPr>
          <p:cNvPr id="4099" name="Rectangle 2">
            <a:extLst>
              <a:ext uri="{FF2B5EF4-FFF2-40B4-BE49-F238E27FC236}">
                <a16:creationId xmlns:a16="http://schemas.microsoft.com/office/drawing/2014/main" id="{75073B70-320D-4AED-8E55-5237F026F0A0}"/>
              </a:ext>
            </a:extLst>
          </p:cNvPr>
          <p:cNvSpPr>
            <a:spLocks noGrp="1" noChangeArrowheads="1"/>
          </p:cNvSpPr>
          <p:nvPr>
            <p:ph type="ctrTitle" idx="4294967295"/>
          </p:nvPr>
        </p:nvSpPr>
        <p:spPr>
          <a:xfrm>
            <a:off x="827088" y="908050"/>
            <a:ext cx="8064500" cy="3168650"/>
          </a:xfrm>
          <a:solidFill>
            <a:schemeClr val="bg1"/>
          </a:solidFill>
        </p:spPr>
        <p:txBody>
          <a:bodyPr anchor="ctr" anchorCtr="1" wrap="square">
            <a:noAutofit/>
          </a:bodyPr>
          <a:lstStyle/>
          <a:p>
            <a:pPr>
              <a:lnSpc>
                <a:spcPct val="118000"/>
              </a:lnSpc>
              <a:spcBef>
                <a:spcPts val="0"/>
              </a:spcBef>
              <a:spcAft>
                <a:spcPts val="0"/>
              </a:spcAft>
              <a:defRPr sz="4400">
                <a:solidFill>
                  <a:srgbClr val="000000"/>
                </a:solidFill>
                <a:latin typeface="Calibri"/>
              </a:defRPr>
            </a:pPr>
            <a:r>
              <a:rPr sz="4400">
                <a:solidFill>
                  <a:srgbClr val="000000"/>
                </a:solidFill>
                <a:latin typeface="Calibri"/>
              </a:rPr>
              <a:t>RDA专题：RDA名称权威记录（NAR）中的关系标识符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a:extLst>
              <a:ext uri="{FF2B5EF4-FFF2-40B4-BE49-F238E27FC236}">
                <a16:creationId xmlns:a16="http://schemas.microsoft.com/office/drawing/2014/main" id="{A501CB7E-08C9-44D3-9655-408C17CD8900}"/>
              </a:ext>
            </a:extLst>
          </p:cNvPr>
          <p:cNvSpPr>
            <a:spLocks noGrp="1" noChangeArrowheads="1"/>
          </p:cNvSpPr>
          <p:nvPr>
            <p:ph type="ctrTitle" idx="4294967295"/>
          </p:nvPr>
        </p:nvSpPr>
        <p:spPr>
          <a:xfrm>
            <a:off x="1042988" y="2492375"/>
            <a:ext cx="7777162" cy="3744913"/>
          </a:xfrm>
        </p:spPr>
        <p:txBody>
          <a:bodyPr anchor="ctr" anchorCtr="1"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RDA – 附录K</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第29章 关系记录指南……</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相关人物 – 第30章</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相关家族 – 第31章</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相关机构 – 第32章</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RDA – 附录J</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第25章 – 相关作品</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第26章 – 相关表达</a:t>
            </a:r>
          </a:p>
        </p:txBody>
      </p:sp>
      <p:sp>
        <p:nvSpPr>
          <p:cNvPr id="557059" name="Rectangle 2">
            <a:extLst>
              <a:ext uri="{FF2B5EF4-FFF2-40B4-BE49-F238E27FC236}">
                <a16:creationId xmlns:a16="http://schemas.microsoft.com/office/drawing/2014/main" id="{52907715-6A4D-41C9-8813-FA4CDF390CD1}"/>
              </a:ext>
            </a:extLst>
          </p:cNvPr>
          <p:cNvSpPr>
            <a:spLocks noChangeArrowheads="1"/>
          </p:cNvSpPr>
          <p:nvPr/>
        </p:nvSpPr>
        <p:spPr bwMode="auto">
          <a:xfrm>
            <a:off x="1042988" y="333375"/>
            <a:ext cx="7772400" cy="298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wrap="square">
            <a:noAutofit/>
          </a:bodyPr>
          <a:lstStyle>
            <a:lvl1pPr algn="l">
              <a:defRPr sz="3600">
                <a:solidFill>
                  <a:schemeClr val="tx2"/>
                </a:solidFill>
                <a:latin typeface="Arial" panose="020B0604020202020204" pitchFamily="34" charset="0"/>
                <a:cs typeface="Arial" panose="020B0604020202020204" pitchFamily="34" charset="0"/>
              </a:defRPr>
            </a:lvl1pPr>
            <a:lvl2pPr algn="l">
              <a:defRPr sz="3600">
                <a:solidFill>
                  <a:schemeClr val="tx2"/>
                </a:solidFill>
                <a:latin typeface="Arial" panose="020B0604020202020204" pitchFamily="34" charset="0"/>
                <a:cs typeface="Arial" panose="020B0604020202020204" pitchFamily="34" charset="0"/>
              </a:defRPr>
            </a:lvl2pPr>
            <a:lvl3pPr algn="l">
              <a:defRPr sz="3600">
                <a:solidFill>
                  <a:schemeClr val="tx2"/>
                </a:solidFill>
                <a:latin typeface="Arial" panose="020B0604020202020204" pitchFamily="34" charset="0"/>
                <a:cs typeface="Arial" panose="020B0604020202020204" pitchFamily="34" charset="0"/>
              </a:defRPr>
            </a:lvl3pPr>
            <a:lvl4pPr algn="l">
              <a:defRPr sz="3600">
                <a:solidFill>
                  <a:schemeClr val="tx2"/>
                </a:solidFill>
                <a:latin typeface="Arial" panose="020B0604020202020204" pitchFamily="34" charset="0"/>
                <a:cs typeface="Arial" panose="020B0604020202020204" pitchFamily="34" charset="0"/>
              </a:defRPr>
            </a:lvl4pPr>
            <a:lvl5pPr algn="l">
              <a:defRPr sz="3600">
                <a:solidFill>
                  <a:schemeClr val="tx2"/>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3600">
                <a:solidFill>
                  <a:schemeClr val="tx2"/>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3600">
                <a:solidFill>
                  <a:schemeClr val="tx2"/>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3600">
                <a:solidFill>
                  <a:schemeClr val="tx2"/>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3600">
                <a:solidFill>
                  <a:schemeClr val="tx2"/>
                </a:solidFill>
                <a:latin typeface="Arial" panose="020B0604020202020204" pitchFamily="34" charset="0"/>
                <a:cs typeface="Arial" panose="020B0604020202020204" pitchFamily="34" charset="0"/>
              </a:defRPr>
            </a:lvl9pPr>
          </a:lstStyle>
          <a:p>
            <a:pPr>
              <a:lnSpc>
                <a:spcPct val="118000"/>
              </a:lnSpc>
              <a:spcBef>
                <a:spcPts val="0"/>
              </a:spcBef>
              <a:spcAft>
                <a:spcPts val="0"/>
              </a:spcAft>
              <a:defRPr sz="3400">
                <a:solidFill>
                  <a:srgbClr val="000000"/>
                </a:solidFill>
                <a:latin typeface="Calibri"/>
              </a:defRPr>
            </a:pPr>
            <a:r>
              <a:rPr sz="3400">
                <a:solidFill>
                  <a:srgbClr val="000000"/>
                </a:solidFill>
                <a:latin typeface="Calibri"/>
              </a:rPr>
              <a:t>关系标识符</a:t>
            </a:r>
          </a:p>
          <a:p>
            <a:pPr>
              <a:lnSpc>
                <a:spcPct val="118000"/>
              </a:lnSpc>
              <a:spcBef>
                <a:spcPts val="0"/>
              </a:spcBef>
              <a:spcAft>
                <a:spcPts val="0"/>
              </a:spcAft>
              <a:defRPr sz="3400">
                <a:solidFill>
                  <a:srgbClr val="000000"/>
                </a:solidFill>
                <a:latin typeface="Calibri"/>
              </a:defRPr>
            </a:pPr>
            <a:r>
              <a:rPr sz="3400">
                <a:solidFill>
                  <a:srgbClr val="000000"/>
                </a:solidFill>
                <a:latin typeface="Calibri"/>
              </a:rPr>
              <a:t>– MARC 21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a:extLst>
              <a:ext uri="{FF2B5EF4-FFF2-40B4-BE49-F238E27FC236}">
                <a16:creationId xmlns:a16="http://schemas.microsoft.com/office/drawing/2014/main" id="{DCABDCCE-B426-42EA-AD39-3946B2D4EE26}"/>
              </a:ext>
            </a:extLst>
          </p:cNvPr>
          <p:cNvSpPr>
            <a:spLocks noGrp="1" noChangeArrowheads="1"/>
          </p:cNvSpPr>
          <p:nvPr>
            <p:ph type="title" idx="4294967295"/>
          </p:nvPr>
        </p:nvSpPr>
        <p:spPr>
          <a:xfrm>
            <a:off x="1042988" y="260350"/>
            <a:ext cx="7640637" cy="576263"/>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关系标识符 – 概述</a:t>
            </a:r>
          </a:p>
        </p:txBody>
      </p:sp>
      <p:sp>
        <p:nvSpPr>
          <p:cNvPr id="670723" name="Rectangle 3">
            <a:extLst>
              <a:ext uri="{FF2B5EF4-FFF2-40B4-BE49-F238E27FC236}">
                <a16:creationId xmlns:a16="http://schemas.microsoft.com/office/drawing/2014/main" id="{820A6029-0FCD-4F32-8254-48956DECB656}"/>
              </a:ext>
            </a:extLst>
          </p:cNvPr>
          <p:cNvSpPr>
            <a:spLocks noGrp="1" noChangeArrowheads="1"/>
          </p:cNvSpPr>
          <p:nvPr>
            <p:ph type="body" idx="4294967295"/>
          </p:nvPr>
        </p:nvSpPr>
        <p:spPr>
          <a:xfrm>
            <a:off x="539750" y="836613"/>
            <a:ext cx="8424863" cy="5472112"/>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附录 I</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将个人、家族和团体与作品、表达和载体表现相关联</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仅用于书目记录</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附录 J</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将作品、表达和载体表现与作品、表达和载体表现相关联</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同时用于书目记录和规范记录（原称“参见”）</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附录 K</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将个人、家族和团体与个人、家族和团体相关联</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仅用于规范记录（原称“参见”）</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1 Título">
            <a:extLst>
              <a:ext uri="{FF2B5EF4-FFF2-40B4-BE49-F238E27FC236}">
                <a16:creationId xmlns:a16="http://schemas.microsoft.com/office/drawing/2014/main" id="{B203E9E4-B2ED-46B8-B8DA-719F8BD80698}"/>
              </a:ext>
            </a:extLst>
          </p:cNvPr>
          <p:cNvSpPr>
            <a:spLocks noGrp="1"/>
          </p:cNvSpPr>
          <p:nvPr>
            <p:ph type="title" idx="4294967295"/>
          </p:nvPr>
        </p:nvSpPr>
        <p:spPr>
          <a:xfrm>
            <a:off x="611188" y="333375"/>
            <a:ext cx="8353425" cy="719138"/>
          </a:xfrm>
        </p:spPr>
        <p:txBody>
          <a:bodyPr anchor="ctr" wrap="square">
            <a:noAutofit/>
          </a:bodyPr>
          <a:lstStyle/>
          <a:p>
            <a:pPr>
              <a:lnSpc>
                <a:spcPct val="118000"/>
              </a:lnSpc>
              <a:spcBef>
                <a:spcPts val="0"/>
              </a:spcBef>
              <a:spcAft>
                <a:spcPts val="0"/>
              </a:spcAft>
              <a:defRPr sz="2800">
                <a:solidFill>
                  <a:srgbClr val="000000"/>
                </a:solidFill>
                <a:latin typeface="Calibri"/>
              </a:defRPr>
            </a:pPr>
            <a:r>
              <a:rPr sz="2800">
                <a:solidFill>
                  <a:srgbClr val="000000"/>
                </a:solidFill>
                <a:latin typeface="Calibri"/>
              </a:rPr>
              <a:t>附录一 – 提示：书目记录的关系标识符 – 测验</a:t>
            </a:r>
          </a:p>
        </p:txBody>
      </p:sp>
      <p:sp>
        <p:nvSpPr>
          <p:cNvPr id="666627" name="2 Marcador de contenido">
            <a:extLst>
              <a:ext uri="{FF2B5EF4-FFF2-40B4-BE49-F238E27FC236}">
                <a16:creationId xmlns:a16="http://schemas.microsoft.com/office/drawing/2014/main" id="{90343E43-028F-4EB5-8A61-0DDA6182581E}"/>
              </a:ext>
            </a:extLst>
          </p:cNvPr>
          <p:cNvSpPr>
            <a:spLocks noGrp="1"/>
          </p:cNvSpPr>
          <p:nvPr>
            <p:ph sz="quarter" idx="4294967295"/>
          </p:nvPr>
        </p:nvSpPr>
        <p:spPr>
          <a:xfrm>
            <a:off x="468313" y="1268413"/>
            <a:ext cx="8496300" cy="3024187"/>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RDA书目记录：</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100 1# $a 三岛由纪夫，$d 1925-1970，$e 作者。</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240 10  $a 潮骚。$l 英语</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245 14 $a 潮声 / $c 三岛由纪夫；译者：Meredith Weatherby。</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700 1# $a Weatherby, Meredith，$e 译者。</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权威记录：</a:t>
            </a:r>
          </a:p>
        </p:txBody>
      </p:sp>
      <p:sp>
        <p:nvSpPr>
          <p:cNvPr id="666629" name="Text Box 5">
            <a:extLst>
              <a:ext uri="{FF2B5EF4-FFF2-40B4-BE49-F238E27FC236}">
                <a16:creationId xmlns:a16="http://schemas.microsoft.com/office/drawing/2014/main" id="{EB7670F6-5DE4-4A1A-9C28-805619E97601}"/>
              </a:ext>
            </a:extLst>
          </p:cNvPr>
          <p:cNvSpPr txBox="1">
            <a:spLocks noChangeArrowheads="1"/>
          </p:cNvSpPr>
          <p:nvPr/>
        </p:nvSpPr>
        <p:spPr bwMode="auto">
          <a:xfrm>
            <a:off x="611188" y="4652963"/>
            <a:ext cx="8064500" cy="466725"/>
          </a:xfrm>
          <a:prstGeom prst="rect">
            <a:avLst/>
          </a:prstGeom>
          <a:noFill/>
          <a:ln w="9525"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___ __ $a 三岛由纪夫，$_ 1925-1970。$_ 潮骚。$_ 英语</a:t>
            </a:r>
          </a:p>
        </p:txBody>
      </p:sp>
      <p:sp>
        <p:nvSpPr>
          <p:cNvPr id="666630" name="Text Box 6">
            <a:extLst>
              <a:ext uri="{FF2B5EF4-FFF2-40B4-BE49-F238E27FC236}">
                <a16:creationId xmlns:a16="http://schemas.microsoft.com/office/drawing/2014/main" id="{822AD77D-0C13-43BA-AC41-9946124FBFA7}"/>
              </a:ext>
            </a:extLst>
          </p:cNvPr>
          <p:cNvSpPr txBox="1">
            <a:spLocks noChangeArrowheads="1"/>
          </p:cNvSpPr>
          <p:nvPr/>
        </p:nvSpPr>
        <p:spPr bwMode="auto">
          <a:xfrm>
            <a:off x="684213" y="5373688"/>
            <a:ext cx="8064500" cy="466725"/>
          </a:xfrm>
          <a:prstGeom prst="rect">
            <a:avLst/>
          </a:prstGeom>
          <a:noFill/>
          <a:ln w="9525"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___ __ $a Weatherby, Meredith</a:t>
            </a:r>
          </a:p>
        </p:txBody>
      </p:sp>
      <p:sp>
        <p:nvSpPr>
          <p:cNvPr id="666631" name="Text Box 7">
            <a:extLst>
              <a:ext uri="{FF2B5EF4-FFF2-40B4-BE49-F238E27FC236}">
                <a16:creationId xmlns:a16="http://schemas.microsoft.com/office/drawing/2014/main" id="{3B0079E5-B543-418F-B9F6-CD9A3850FF95}"/>
              </a:ext>
            </a:extLst>
          </p:cNvPr>
          <p:cNvSpPr txBox="1">
            <a:spLocks noChangeArrowheads="1"/>
          </p:cNvSpPr>
          <p:nvPr/>
        </p:nvSpPr>
        <p:spPr bwMode="auto">
          <a:xfrm>
            <a:off x="539750" y="4652963"/>
            <a:ext cx="12239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100 1#</a:t>
            </a:r>
          </a:p>
        </p:txBody>
      </p:sp>
      <p:sp>
        <p:nvSpPr>
          <p:cNvPr id="666632" name="Text Box 8">
            <a:extLst>
              <a:ext uri="{FF2B5EF4-FFF2-40B4-BE49-F238E27FC236}">
                <a16:creationId xmlns:a16="http://schemas.microsoft.com/office/drawing/2014/main" id="{4C757A85-1D94-4DAB-B989-78D4C59D3E28}"/>
              </a:ext>
            </a:extLst>
          </p:cNvPr>
          <p:cNvSpPr txBox="1">
            <a:spLocks noChangeArrowheads="1"/>
          </p:cNvSpPr>
          <p:nvPr/>
        </p:nvSpPr>
        <p:spPr bwMode="auto">
          <a:xfrm>
            <a:off x="539750" y="5373688"/>
            <a:ext cx="12239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100 1#</a:t>
            </a:r>
          </a:p>
        </p:txBody>
      </p:sp>
      <p:sp>
        <p:nvSpPr>
          <p:cNvPr id="666633" name="Text Box 9">
            <a:extLst>
              <a:ext uri="{FF2B5EF4-FFF2-40B4-BE49-F238E27FC236}">
                <a16:creationId xmlns:a16="http://schemas.microsoft.com/office/drawing/2014/main" id="{8F884650-FC70-433A-9BEF-D70FE0FDC72A}"/>
              </a:ext>
            </a:extLst>
          </p:cNvPr>
          <p:cNvSpPr txBox="1">
            <a:spLocks noChangeArrowheads="1"/>
          </p:cNvSpPr>
          <p:nvPr/>
        </p:nvSpPr>
        <p:spPr bwMode="auto">
          <a:xfrm>
            <a:off x="5867400" y="4652963"/>
            <a:ext cx="4333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t</a:t>
            </a:r>
          </a:p>
        </p:txBody>
      </p:sp>
      <p:sp>
        <p:nvSpPr>
          <p:cNvPr id="666634" name="Text Box 10">
            <a:extLst>
              <a:ext uri="{FF2B5EF4-FFF2-40B4-BE49-F238E27FC236}">
                <a16:creationId xmlns:a16="http://schemas.microsoft.com/office/drawing/2014/main" id="{11A0FC3F-5AFA-4B8E-AC32-5190074EE4B2}"/>
              </a:ext>
            </a:extLst>
          </p:cNvPr>
          <p:cNvSpPr txBox="1">
            <a:spLocks noChangeArrowheads="1"/>
          </p:cNvSpPr>
          <p:nvPr/>
        </p:nvSpPr>
        <p:spPr bwMode="auto">
          <a:xfrm>
            <a:off x="4067175" y="4652963"/>
            <a:ext cx="43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d</a:t>
            </a:r>
          </a:p>
        </p:txBody>
      </p:sp>
      <p:sp>
        <p:nvSpPr>
          <p:cNvPr id="666635" name="Text Box 11">
            <a:extLst>
              <a:ext uri="{FF2B5EF4-FFF2-40B4-BE49-F238E27FC236}">
                <a16:creationId xmlns:a16="http://schemas.microsoft.com/office/drawing/2014/main" id="{FCAD3A33-8192-4E0D-A32B-ABB7E8E2DE59}"/>
              </a:ext>
            </a:extLst>
          </p:cNvPr>
          <p:cNvSpPr txBox="1">
            <a:spLocks noChangeArrowheads="1"/>
          </p:cNvSpPr>
          <p:nvPr/>
        </p:nvSpPr>
        <p:spPr bwMode="auto">
          <a:xfrm>
            <a:off x="7308850" y="4652963"/>
            <a:ext cx="3603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l</a:t>
            </a:r>
          </a:p>
        </p:txBody>
      </p:sp>
      <p:sp>
        <p:nvSpPr>
          <p:cNvPr id="666637" name="Oval 13">
            <a:extLst>
              <a:ext uri="{FF2B5EF4-FFF2-40B4-BE49-F238E27FC236}">
                <a16:creationId xmlns:a16="http://schemas.microsoft.com/office/drawing/2014/main" id="{383521E3-919B-44F6-B0A2-83E7BEE59192}"/>
              </a:ext>
            </a:extLst>
          </p:cNvPr>
          <p:cNvSpPr>
            <a:spLocks noChangeArrowheads="1"/>
          </p:cNvSpPr>
          <p:nvPr/>
        </p:nvSpPr>
        <p:spPr bwMode="auto">
          <a:xfrm>
            <a:off x="5651500" y="1700213"/>
            <a:ext cx="576263" cy="503237"/>
          </a:xfrm>
          <a:prstGeom prst="ellipse">
            <a:avLst/>
          </a:prstGeom>
          <a:noFill/>
          <a:ln w="57150" algn="ctr">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66638" name="Oval 14">
            <a:extLst>
              <a:ext uri="{FF2B5EF4-FFF2-40B4-BE49-F238E27FC236}">
                <a16:creationId xmlns:a16="http://schemas.microsoft.com/office/drawing/2014/main" id="{D53C47F8-17F3-4E8F-8BE6-D44BAC753DD4}"/>
              </a:ext>
            </a:extLst>
          </p:cNvPr>
          <p:cNvSpPr>
            <a:spLocks noChangeArrowheads="1"/>
          </p:cNvSpPr>
          <p:nvPr/>
        </p:nvSpPr>
        <p:spPr bwMode="auto">
          <a:xfrm>
            <a:off x="4572000" y="3357563"/>
            <a:ext cx="576263" cy="503237"/>
          </a:xfrm>
          <a:prstGeom prst="ellipse">
            <a:avLst/>
          </a:prstGeom>
          <a:noFill/>
          <a:ln w="57150" algn="ctr">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66639" name="Oval 15">
            <a:extLst>
              <a:ext uri="{FF2B5EF4-FFF2-40B4-BE49-F238E27FC236}">
                <a16:creationId xmlns:a16="http://schemas.microsoft.com/office/drawing/2014/main" id="{1968A31E-7E2D-4741-9752-25F4F5F649D8}"/>
              </a:ext>
            </a:extLst>
          </p:cNvPr>
          <p:cNvSpPr>
            <a:spLocks noChangeArrowheads="1"/>
          </p:cNvSpPr>
          <p:nvPr/>
        </p:nvSpPr>
        <p:spPr bwMode="auto">
          <a:xfrm>
            <a:off x="5580063" y="4581525"/>
            <a:ext cx="647700" cy="503238"/>
          </a:xfrm>
          <a:prstGeom prst="ellipse">
            <a:avLst/>
          </a:prstGeom>
          <a:noFill/>
          <a:ln w="57150" algn="ctr">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66640" name="Oval 16">
            <a:extLst>
              <a:ext uri="{FF2B5EF4-FFF2-40B4-BE49-F238E27FC236}">
                <a16:creationId xmlns:a16="http://schemas.microsoft.com/office/drawing/2014/main" id="{03D0B4E8-BBFA-4642-9805-AA12EB84F13B}"/>
              </a:ext>
            </a:extLst>
          </p:cNvPr>
          <p:cNvSpPr>
            <a:spLocks noChangeArrowheads="1"/>
          </p:cNvSpPr>
          <p:nvPr/>
        </p:nvSpPr>
        <p:spPr bwMode="auto">
          <a:xfrm>
            <a:off x="4787900" y="5373688"/>
            <a:ext cx="647700" cy="503237"/>
          </a:xfrm>
          <a:prstGeom prst="ellipse">
            <a:avLst/>
          </a:prstGeom>
          <a:noFill/>
          <a:ln w="57150" algn="ctr">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66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663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663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663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663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6663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6663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66663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66639"/>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66663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666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9" grpId="0" animBg="1"/>
      <p:bldP spid="666630" grpId="0" animBg="1"/>
      <p:bldP spid="666631" grpId="0"/>
      <p:bldP spid="666632" grpId="0"/>
      <p:bldP spid="666633" grpId="0"/>
      <p:bldP spid="666634" grpId="0"/>
      <p:bldP spid="6666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a:extLst>
              <a:ext uri="{FF2B5EF4-FFF2-40B4-BE49-F238E27FC236}">
                <a16:creationId xmlns:a16="http://schemas.microsoft.com/office/drawing/2014/main" id="{5CD8CDA2-B990-4AE4-B997-DCB46F0C5AF8}"/>
              </a:ext>
            </a:extLst>
          </p:cNvPr>
          <p:cNvSpPr>
            <a:spLocks noGrp="1" noChangeArrowheads="1"/>
          </p:cNvSpPr>
          <p:nvPr>
            <p:ph type="title" idx="4294967295"/>
          </p:nvPr>
        </p:nvSpPr>
        <p:spPr>
          <a:xfrm>
            <a:off x="1258888" y="0"/>
            <a:ext cx="7885112" cy="549275"/>
          </a:xfrm>
        </p:spPr>
        <p:txBody>
          <a:bodyPr wrap="square">
            <a:noAutofit/>
          </a:bodyPr>
          <a:lstStyle/>
          <a:p>
            <a:pPr>
              <a:lnSpc>
                <a:spcPct val="118000"/>
              </a:lnSpc>
              <a:spcBef>
                <a:spcPts val="0"/>
              </a:spcBef>
              <a:spcAft>
                <a:spcPts val="0"/>
              </a:spcAft>
              <a:defRPr sz="2800">
                <a:solidFill>
                  <a:srgbClr val="000000"/>
                </a:solidFill>
                <a:latin typeface="Calibri"/>
              </a:defRPr>
            </a:pPr>
            <a:r>
              <a:rPr sz="2800">
                <a:solidFill>
                  <a:srgbClr val="000000"/>
                </a:solidFill>
                <a:latin typeface="Calibri"/>
              </a:rPr>
              <a:t>关系标识符（29.5）- 附录K</a:t>
            </a:r>
          </a:p>
        </p:txBody>
      </p:sp>
      <p:sp>
        <p:nvSpPr>
          <p:cNvPr id="560131" name="Rectangle 3">
            <a:extLst>
              <a:ext uri="{FF2B5EF4-FFF2-40B4-BE49-F238E27FC236}">
                <a16:creationId xmlns:a16="http://schemas.microsoft.com/office/drawing/2014/main" id="{EFAA57CD-08F2-4C0F-87D1-73680B77C9B4}"/>
              </a:ext>
            </a:extLst>
          </p:cNvPr>
          <p:cNvSpPr>
            <a:spLocks noGrp="1" noChangeArrowheads="1"/>
          </p:cNvSpPr>
          <p:nvPr>
            <p:ph type="body" idx="4294967295"/>
          </p:nvPr>
        </p:nvSpPr>
        <p:spPr>
          <a:xfrm>
            <a:off x="179388" y="620713"/>
            <a:ext cx="4046537" cy="5903912"/>
          </a:xfrm>
          <a:solidFill>
            <a:schemeClr val="bg1"/>
          </a:solidFill>
          <a:ln w="38100">
            <a:solidFill>
              <a:schemeClr val="tx2"/>
            </a:solidFill>
            <a:miter lim="800000"/>
            <a:headEnd/>
            <a:tailEnd/>
          </a:ln>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K.2.1 人物对其他人物</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替代身份</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真实身份</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K.2.2 人物对家族</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家族成员</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始祖</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K.2.3 人物对机构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雇员</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创始人</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团体成员</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现任者</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赞助人</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K.3.1 家族对人物</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后代</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K.3.2 家族对家族</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后裔家族</a:t>
            </a:r>
          </a:p>
        </p:txBody>
      </p:sp>
      <p:sp>
        <p:nvSpPr>
          <p:cNvPr id="560132" name="Rectangle 3">
            <a:extLst>
              <a:ext uri="{FF2B5EF4-FFF2-40B4-BE49-F238E27FC236}">
                <a16:creationId xmlns:a16="http://schemas.microsoft.com/office/drawing/2014/main" id="{71E3D5AF-02B8-4CB9-B62D-B5634D63CB9B}"/>
              </a:ext>
            </a:extLst>
          </p:cNvPr>
          <p:cNvSpPr>
            <a:spLocks noChangeArrowheads="1"/>
          </p:cNvSpPr>
          <p:nvPr/>
        </p:nvSpPr>
        <p:spPr bwMode="auto">
          <a:xfrm>
            <a:off x="4284663" y="620713"/>
            <a:ext cx="4643437" cy="5832475"/>
          </a:xfrm>
          <a:prstGeom prst="rect">
            <a:avLst/>
          </a:prstGeom>
          <a:solidFill>
            <a:schemeClr val="bg1"/>
          </a:solidFill>
          <a:ln w="28575">
            <a:solidFill>
              <a:schemeClr val="tx2"/>
            </a:solidFill>
            <a:miter lim="800000"/>
            <a:headEnd/>
            <a:tailEnd/>
          </a:ln>
        </p:spPr>
        <p:txBody>
          <a:bodyPr wrap="square">
            <a:noAutofit/>
          </a:bodyPr>
          <a:lstStyle>
            <a:lvl1pPr marL="342900" indent="-342900" algn="l">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l">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K.3.3 家族对机构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创始家族</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赞助家族</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K.4.1 机构对人物</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雇主</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K.4.2 机构对家族</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创办机构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赞助机构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K.4.3 机构对机构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下级机构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上级机构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被合并机构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前身机构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合并产生的机构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拆分产生的机构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后继机构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1092" name="Picture 4">
            <a:extLst>
              <a:ext uri="{FF2B5EF4-FFF2-40B4-BE49-F238E27FC236}">
                <a16:creationId xmlns:a16="http://schemas.microsoft.com/office/drawing/2014/main" id="{4A56412E-971D-4846-9E26-3CC37712F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588" t="21658" r="4053" b="37105"/>
          <a:stretch>
            <a:fillRect/>
          </a:stretch>
        </p:blipFill>
        <p:spPr bwMode="auto">
          <a:xfrm>
            <a:off x="0" y="1125538"/>
            <a:ext cx="9144000" cy="302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01093" name="Picture 5">
            <a:extLst>
              <a:ext uri="{FF2B5EF4-FFF2-40B4-BE49-F238E27FC236}">
                <a16:creationId xmlns:a16="http://schemas.microsoft.com/office/drawing/2014/main" id="{BB293C1E-73F9-457F-A301-3DDA1735BD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930" t="53165" r="36914" b="31664"/>
          <a:stretch>
            <a:fillRect/>
          </a:stretch>
        </p:blipFill>
        <p:spPr bwMode="auto">
          <a:xfrm>
            <a:off x="0" y="4437063"/>
            <a:ext cx="9144000" cy="172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01094" name="Picture 6">
            <a:extLst>
              <a:ext uri="{FF2B5EF4-FFF2-40B4-BE49-F238E27FC236}">
                <a16:creationId xmlns:a16="http://schemas.microsoft.com/office/drawing/2014/main" id="{383C9CA5-B73D-4B6F-A9A8-DBA840F718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930" t="17731" r="3320" b="77344"/>
          <a:stretch>
            <a:fillRect/>
          </a:stretch>
        </p:blipFill>
        <p:spPr bwMode="auto">
          <a:xfrm>
            <a:off x="0" y="4149725"/>
            <a:ext cx="9144000"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01095" name="Text Box 7">
            <a:extLst>
              <a:ext uri="{FF2B5EF4-FFF2-40B4-BE49-F238E27FC236}">
                <a16:creationId xmlns:a16="http://schemas.microsoft.com/office/drawing/2014/main" id="{1C033D79-B148-4032-B4E0-BEA7BB799E01}"/>
              </a:ext>
            </a:extLst>
          </p:cNvPr>
          <p:cNvSpPr txBox="1">
            <a:spLocks noChangeArrowheads="1"/>
          </p:cNvSpPr>
          <p:nvPr/>
        </p:nvSpPr>
        <p:spPr bwMode="auto">
          <a:xfrm>
            <a:off x="838200" y="228600"/>
            <a:ext cx="739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Verdana"/>
              </a:defRPr>
            </a:pPr>
            <a:r>
              <a:rPr sz="2400">
                <a:solidFill>
                  <a:srgbClr val="000000"/>
                </a:solidFill>
                <a:latin typeface="Verdana"/>
              </a:rPr>
              <a:t>MARC 21 规范数据格式</a:t>
            </a:r>
          </a:p>
        </p:txBody>
      </p:sp>
      <p:sp>
        <p:nvSpPr>
          <p:cNvPr id="601097" name="Oval 9">
            <a:extLst>
              <a:ext uri="{FF2B5EF4-FFF2-40B4-BE49-F238E27FC236}">
                <a16:creationId xmlns:a16="http://schemas.microsoft.com/office/drawing/2014/main" id="{691354E1-9DBB-4E36-98BB-D19887681B61}"/>
              </a:ext>
            </a:extLst>
          </p:cNvPr>
          <p:cNvSpPr>
            <a:spLocks noChangeArrowheads="1"/>
          </p:cNvSpPr>
          <p:nvPr/>
        </p:nvSpPr>
        <p:spPr bwMode="auto">
          <a:xfrm>
            <a:off x="179388" y="4437063"/>
            <a:ext cx="5545137" cy="647700"/>
          </a:xfrm>
          <a:prstGeom prst="ellipse">
            <a:avLst/>
          </a:prstGeom>
          <a:noFill/>
          <a:ln w="57150" algn="ctr">
            <a:solidFill>
              <a:srgbClr val="D2402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01098" name="TextBox 601097"/>
          <p:cNvSpPr txBox="1"/>
          <p:nvPr/>
        </p:nvSpPr>
        <p:spPr>
          <a:xfrm>
            <a:off x="0" y="1125538"/>
            <a:ext cx="9144000" cy="3028950"/>
          </a:xfrm>
          <a:prstGeom prst="rect">
            <a:avLst/>
          </a:prstGeom>
          <a:noFill/>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追溯与参考-一般信息</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MARC 21 规范档 2009年10月</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“完整”文档指的是《MARC 21 规范数据格式》，其中包含对每个数据元素的详细描述，以及示例、输入规范和历史部分。</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“简明”文档指的是《MARC 21 规范数据简明格式》，其中包含对每个数据元素的简略描述，以及示例。</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2XX-3XX：复杂主题参考</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260 - 复杂参见参考 - 主题 (R) 完整 | 简明</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360 - 复杂亦参参考 - 主题 (R) 完整 | 简明</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4XX：从追溯查看</a:t>
            </a:r>
          </a:p>
        </p:txBody>
      </p:sp>
      <p:sp>
        <p:nvSpPr>
          <p:cNvPr id="601099" name="TextBox 601098"/>
          <p:cNvSpPr txBox="1"/>
          <p:nvPr/>
        </p:nvSpPr>
        <p:spPr>
          <a:xfrm>
            <a:off x="0" y="4149725"/>
            <a:ext cx="9144000" cy="360363"/>
          </a:xfrm>
          <a:prstGeom prst="rect">
            <a:avLst/>
          </a:prstGeom>
          <a:noFill/>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5XX：另见从描记图</a:t>
            </a:r>
          </a:p>
        </p:txBody>
      </p:sp>
      <p:sp>
        <p:nvSpPr>
          <p:cNvPr id="601100" name="TextBox 601099"/>
          <p:cNvSpPr txBox="1"/>
          <p:nvPr/>
        </p:nvSpPr>
        <p:spPr>
          <a:xfrm>
            <a:off x="0" y="4437063"/>
            <a:ext cx="9144000" cy="1728787"/>
          </a:xfrm>
          <a:prstGeom prst="rect">
            <a:avLst/>
          </a:prstGeom>
          <a:noFill/>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与4XX和5XX字段配合使用的特殊子字段</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Si - 关系信息 (R)</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Sw - 控制子字段 (NR)</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S4 - 关系代码 (R)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2178" name="Picture 2">
            <a:extLst>
              <a:ext uri="{FF2B5EF4-FFF2-40B4-BE49-F238E27FC236}">
                <a16:creationId xmlns:a16="http://schemas.microsoft.com/office/drawing/2014/main" id="{29DD56DA-E5EE-423A-9F65-3A12B5E58E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8524" r="2238" b="30389"/>
          <a:stretch>
            <a:fillRect/>
          </a:stretch>
        </p:blipFill>
        <p:spPr bwMode="auto">
          <a:xfrm>
            <a:off x="0" y="765175"/>
            <a:ext cx="9144000" cy="547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2181" name="Text Box 5">
            <a:extLst>
              <a:ext uri="{FF2B5EF4-FFF2-40B4-BE49-F238E27FC236}">
                <a16:creationId xmlns:a16="http://schemas.microsoft.com/office/drawing/2014/main" id="{42FD54B1-3393-432B-B7FC-AA8F0F251997}"/>
              </a:ext>
            </a:extLst>
          </p:cNvPr>
          <p:cNvSpPr txBox="1">
            <a:spLocks noChangeArrowheads="1"/>
          </p:cNvSpPr>
          <p:nvPr/>
        </p:nvSpPr>
        <p:spPr bwMode="auto">
          <a:xfrm>
            <a:off x="838200" y="228600"/>
            <a:ext cx="739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Verdana"/>
              </a:defRPr>
            </a:pPr>
            <a:r>
              <a:rPr sz="2400">
                <a:solidFill>
                  <a:srgbClr val="000000"/>
                </a:solidFill>
                <a:latin typeface="Verdana"/>
              </a:rPr>
              <a:t>MARC 21 规范数据格式</a:t>
            </a:r>
          </a:p>
        </p:txBody>
      </p:sp>
      <p:sp>
        <p:nvSpPr>
          <p:cNvPr id="562182" name="Oval 6">
            <a:extLst>
              <a:ext uri="{FF2B5EF4-FFF2-40B4-BE49-F238E27FC236}">
                <a16:creationId xmlns:a16="http://schemas.microsoft.com/office/drawing/2014/main" id="{399FCE9F-9BE6-4FDB-BEA8-FAA3DAE48DCB}"/>
              </a:ext>
            </a:extLst>
          </p:cNvPr>
          <p:cNvSpPr>
            <a:spLocks noChangeArrowheads="1"/>
          </p:cNvSpPr>
          <p:nvPr/>
        </p:nvSpPr>
        <p:spPr bwMode="auto">
          <a:xfrm>
            <a:off x="2771775" y="5300663"/>
            <a:ext cx="2879725" cy="433387"/>
          </a:xfrm>
          <a:prstGeom prst="ellipse">
            <a:avLst/>
          </a:prstGeom>
          <a:noFill/>
          <a:ln w="28575" algn="ctr">
            <a:solidFill>
              <a:srgbClr val="D2402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62183" name="Oval 7">
            <a:extLst>
              <a:ext uri="{FF2B5EF4-FFF2-40B4-BE49-F238E27FC236}">
                <a16:creationId xmlns:a16="http://schemas.microsoft.com/office/drawing/2014/main" id="{79106D59-18C7-4C38-92F8-25EA0C186043}"/>
              </a:ext>
            </a:extLst>
          </p:cNvPr>
          <p:cNvSpPr>
            <a:spLocks noChangeArrowheads="1"/>
          </p:cNvSpPr>
          <p:nvPr/>
        </p:nvSpPr>
        <p:spPr bwMode="auto">
          <a:xfrm>
            <a:off x="755650" y="4365625"/>
            <a:ext cx="2016125" cy="719138"/>
          </a:xfrm>
          <a:prstGeom prst="ellipse">
            <a:avLst/>
          </a:prstGeom>
          <a:noFill/>
          <a:ln w="28575" algn="ctr">
            <a:solidFill>
              <a:srgbClr val="D24028"/>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62184" name="TextBox 562183"/>
          <p:cNvSpPr txBox="1"/>
          <p:nvPr/>
        </p:nvSpPr>
        <p:spPr>
          <a:xfrm>
            <a:off x="0" y="765175"/>
            <a:ext cx="9144000" cy="5472113"/>
          </a:xfrm>
          <a:prstGeom prst="rect">
            <a:avLst/>
          </a:prstGeom>
          <a:noFill/>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$w - 控制子字段</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最多四个字符位置（指定为 $w/0 等），用于指示特殊指令是否适用于 4XX 或 5XX 字段中标题的显示，以及追踪是否仅限于特定类型权威记录的参考结构。如果没有任何特征适用，则不需要使用子字段 $w。由于子字段 $w 中代码的定义取决于它们出现的位置，因此对任何字符位置的编码都要求每个前面的字符位置包含一个代码或填充字符 ()；后续字符位置可以不用。例如，如果 $w/0 和 $w/1 不适用但 $w/2 适用，那么 $w/0 和 $w/1 各包含代码 n（不适用）或填充字符 ()。</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/0 - 特殊关系</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描述实体在 4XX 或 5XX 字段中与 1XX 字段中的实体的关系的单字母代码，这种关系比标签中隐含的关系更具体。这些代码可用于在交叉引用显示中生成特殊的参考指令短语。</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a - 早期标题</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b - 后期标题</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d - 首字母缩写词</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f - 音乐作品</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g - 上位词</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h - 下位词</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i - 子字段 $i 中的参考指令短语</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n - 不适用</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r - $i 或 $4 中的关系指定</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t - 直接上级机构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a:extLst>
              <a:ext uri="{FF2B5EF4-FFF2-40B4-BE49-F238E27FC236}">
                <a16:creationId xmlns:a16="http://schemas.microsoft.com/office/drawing/2014/main" id="{F5F3DF07-1DF2-4F8B-B596-78945DFB069E}"/>
              </a:ext>
            </a:extLst>
          </p:cNvPr>
          <p:cNvSpPr>
            <a:spLocks noGrp="1" noChangeArrowheads="1"/>
          </p:cNvSpPr>
          <p:nvPr>
            <p:ph type="title" idx="4294967295"/>
          </p:nvPr>
        </p:nvSpPr>
        <p:spPr>
          <a:xfrm>
            <a:off x="755650" y="188913"/>
            <a:ext cx="7889875" cy="576262"/>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LC政策：代码“r”与子字段$i</a:t>
            </a:r>
          </a:p>
        </p:txBody>
      </p:sp>
      <p:sp>
        <p:nvSpPr>
          <p:cNvPr id="616451" name="Rectangle 3">
            <a:extLst>
              <a:ext uri="{FF2B5EF4-FFF2-40B4-BE49-F238E27FC236}">
                <a16:creationId xmlns:a16="http://schemas.microsoft.com/office/drawing/2014/main" id="{A88441E7-2918-4FFC-B005-8009DF4B6DE0}"/>
              </a:ext>
            </a:extLst>
          </p:cNvPr>
          <p:cNvSpPr>
            <a:spLocks noGrp="1" noChangeArrowheads="1"/>
          </p:cNvSpPr>
          <p:nvPr>
            <p:ph type="body" idx="4294967295"/>
          </p:nvPr>
        </p:nvSpPr>
        <p:spPr>
          <a:xfrm>
            <a:off x="684213" y="1196975"/>
            <a:ext cx="8137525" cy="5111750"/>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子字段$w/0“r”与子字段$i的使用为可选项</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编码为“r”的子字段$w/0必须与子字段$i配合使用（代码“r”用于表明存在子字段$i）</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使用子字段$i时，请将术语首字母大写，并在子字段$a前添加冒号</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请勿在4XX字段中使用$w/0“r”和子字段$i</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仅在5XX字段中使用$w/0“r”和子字段$i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a:extLst>
              <a:ext uri="{FF2B5EF4-FFF2-40B4-BE49-F238E27FC236}">
                <a16:creationId xmlns:a16="http://schemas.microsoft.com/office/drawing/2014/main" id="{C5DE6C19-5134-4098-8088-7F106EE14260}"/>
              </a:ext>
            </a:extLst>
          </p:cNvPr>
          <p:cNvSpPr>
            <a:spLocks noGrp="1" noChangeArrowheads="1"/>
          </p:cNvSpPr>
          <p:nvPr>
            <p:ph type="title" idx="4294967295"/>
          </p:nvPr>
        </p:nvSpPr>
        <p:spPr>
          <a:xfrm>
            <a:off x="395288" y="188913"/>
            <a:ext cx="8353425" cy="647700"/>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LC政策：代码“r”和子字段$i——家族名称</a:t>
            </a:r>
          </a:p>
        </p:txBody>
      </p:sp>
      <p:sp>
        <p:nvSpPr>
          <p:cNvPr id="676867" name="Rectangle 3">
            <a:extLst>
              <a:ext uri="{FF2B5EF4-FFF2-40B4-BE49-F238E27FC236}">
                <a16:creationId xmlns:a16="http://schemas.microsoft.com/office/drawing/2014/main" id="{70D9D448-30A2-40AB-9150-48AF2E493B67}"/>
              </a:ext>
            </a:extLst>
          </p:cNvPr>
          <p:cNvSpPr>
            <a:spLocks noGrp="1" noChangeArrowheads="1"/>
          </p:cNvSpPr>
          <p:nvPr>
            <p:ph type="body" idx="4294967295"/>
          </p:nvPr>
        </p:nvSpPr>
        <p:spPr>
          <a:xfrm>
            <a:off x="468313" y="1268413"/>
            <a:ext cx="8137525" cy="4895850"/>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家族名称</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在子字段$w/0中使用代码“r”，并添加子字段$i，使用附录K中的相应术语以表示家族关系</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RDA NAR示例：</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- 100 3# $a Weir（家族：$g Weir, Robert Walter, 1803-1889）</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- 500 1# $w r $i 始祖：‡a Weir, Robert Walter, $d 1803-1889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7" name="Rectangle 3">
            <a:extLst>
              <a:ext uri="{FF2B5EF4-FFF2-40B4-BE49-F238E27FC236}">
                <a16:creationId xmlns:a16="http://schemas.microsoft.com/office/drawing/2014/main" id="{66F65F28-72A7-4276-A3A1-DDFACF1AD348}"/>
              </a:ext>
            </a:extLst>
          </p:cNvPr>
          <p:cNvSpPr>
            <a:spLocks noGrp="1" noChangeArrowheads="1"/>
          </p:cNvSpPr>
          <p:nvPr>
            <p:ph type="body" idx="4294967295"/>
          </p:nvPr>
        </p:nvSpPr>
        <p:spPr>
          <a:xfrm>
            <a:off x="323850" y="836613"/>
            <a:ext cx="8640763" cy="5472112"/>
          </a:xfrm>
          <a:solidFill>
            <a:schemeClr val="bg1"/>
          </a:solidFill>
        </p:spPr>
        <p:txBody>
          <a:bodyPr wrap="square">
            <a:noAutofit/>
          </a:bodyPr>
          <a:lstStyle/>
          <a:p>
            <a:pPr>
              <a:lnSpc>
                <a:spcPct val="118000"/>
              </a:lnSpc>
              <a:spcBef>
                <a:spcPts val="0"/>
              </a:spcBef>
              <a:spcAft>
                <a:spcPts val="0"/>
              </a:spcAft>
              <a:defRPr sz="2000">
                <a:solidFill>
                  <a:srgbClr val="000000"/>
                </a:solidFill>
                <a:latin typeface="Calibri"/>
              </a:defRPr>
            </a:pPr>
            <a:r>
              <a:rPr sz="2000">
                <a:solidFill>
                  <a:srgbClr val="000000"/>
                </a:solidFill>
                <a:latin typeface="Calibri"/>
              </a:rPr>
              <a:t>子字段$w/0编码为“r”及子字段$i原本并非专为AACR2 NAR设计，但为了对互惠NAR进行编码，必须允许其使用。</a:t>
            </a:r>
          </a:p>
          <a:p>
            <a:pPr>
              <a:lnSpc>
                <a:spcPct val="118000"/>
              </a:lnSpc>
              <a:spcBef>
                <a:spcPts val="0"/>
              </a:spcBef>
              <a:spcAft>
                <a:spcPts val="0"/>
              </a:spcAft>
              <a:defRPr sz="2000">
                <a:solidFill>
                  <a:srgbClr val="000000"/>
                </a:solidFill>
                <a:latin typeface="Calibri"/>
              </a:defRPr>
            </a:pPr>
            <a:r>
              <a:rPr sz="2000">
                <a:solidFill>
                  <a:srgbClr val="000000"/>
                </a:solidFill>
                <a:latin typeface="Calibri"/>
              </a:rPr>
              <a:t>- AACR2 NAR：</a:t>
            </a:r>
          </a:p>
          <a:p>
            <a:pPr>
              <a:lnSpc>
                <a:spcPct val="118000"/>
              </a:lnSpc>
              <a:spcBef>
                <a:spcPts val="0"/>
              </a:spcBef>
              <a:spcAft>
                <a:spcPts val="0"/>
              </a:spcAft>
              <a:defRPr sz="2000">
                <a:solidFill>
                  <a:srgbClr val="000000"/>
                </a:solidFill>
                <a:latin typeface="Calibri"/>
              </a:defRPr>
            </a:pPr>
            <a:r>
              <a:rPr sz="2000">
                <a:solidFill>
                  <a:srgbClr val="000000"/>
                </a:solidFill>
                <a:latin typeface="Calibri"/>
              </a:rPr>
              <a:t>- 100 1# $a Weir, Robert Walter, $d 1803-1889</a:t>
            </a:r>
          </a:p>
          <a:p>
            <a:pPr>
              <a:lnSpc>
                <a:spcPct val="118000"/>
              </a:lnSpc>
              <a:spcBef>
                <a:spcPts val="0"/>
              </a:spcBef>
              <a:spcAft>
                <a:spcPts val="0"/>
              </a:spcAft>
              <a:defRPr sz="2000">
                <a:solidFill>
                  <a:srgbClr val="000000"/>
                </a:solidFill>
                <a:latin typeface="Calibri"/>
              </a:defRPr>
            </a:pPr>
            <a:r>
              <a:rPr sz="2000">
                <a:solidFill>
                  <a:srgbClr val="000000"/>
                </a:solidFill>
                <a:latin typeface="Calibri"/>
              </a:rPr>
              <a:t>- RDA NAR：</a:t>
            </a:r>
          </a:p>
          <a:p>
            <a:pPr>
              <a:lnSpc>
                <a:spcPct val="118000"/>
              </a:lnSpc>
              <a:spcBef>
                <a:spcPts val="0"/>
              </a:spcBef>
              <a:spcAft>
                <a:spcPts val="0"/>
              </a:spcAft>
              <a:defRPr sz="2000">
                <a:solidFill>
                  <a:srgbClr val="000000"/>
                </a:solidFill>
                <a:latin typeface="Calibri"/>
              </a:defRPr>
            </a:pPr>
            <a:r>
              <a:rPr sz="2000">
                <a:solidFill>
                  <a:srgbClr val="000000"/>
                </a:solidFill>
                <a:latin typeface="Calibri"/>
              </a:rPr>
              <a:t>- 100 3# $a Weir (Family : $g Weir, Robert Walter, 1803-1889)</a:t>
            </a:r>
          </a:p>
          <a:p>
            <a:pPr>
              <a:lnSpc>
                <a:spcPct val="118000"/>
              </a:lnSpc>
              <a:spcBef>
                <a:spcPts val="0"/>
              </a:spcBef>
              <a:spcAft>
                <a:spcPts val="0"/>
              </a:spcAft>
              <a:defRPr sz="2000">
                <a:solidFill>
                  <a:srgbClr val="000000"/>
                </a:solidFill>
                <a:latin typeface="Calibri"/>
              </a:defRPr>
            </a:pPr>
            <a:r>
              <a:rPr sz="2000">
                <a:solidFill>
                  <a:srgbClr val="000000"/>
                </a:solidFill>
                <a:latin typeface="Calibri"/>
              </a:rPr>
              <a:t>- 500 1# $w r $i 始祖：‡a Weir, Robert Walter, ‡d 1803-1889</a:t>
            </a:r>
          </a:p>
          <a:p>
            <a:pPr>
              <a:lnSpc>
                <a:spcPct val="118000"/>
              </a:lnSpc>
              <a:spcBef>
                <a:spcPts val="0"/>
              </a:spcBef>
              <a:spcAft>
                <a:spcPts val="0"/>
              </a:spcAft>
              <a:defRPr sz="2000">
                <a:solidFill>
                  <a:srgbClr val="000000"/>
                </a:solidFill>
                <a:latin typeface="Calibri"/>
              </a:defRPr>
            </a:pPr>
            <a:r>
              <a:rPr sz="2000">
                <a:solidFill>
                  <a:srgbClr val="000000"/>
                </a:solidFill>
                <a:latin typeface="Calibri"/>
              </a:rPr>
              <a:t>- 不强制要求互惠——但若希望添加此类互惠信息则完全可以，且可添加至AACR2 NAR中！</a:t>
            </a:r>
          </a:p>
          <a:p>
            <a:pPr>
              <a:lnSpc>
                <a:spcPct val="118000"/>
              </a:lnSpc>
              <a:spcBef>
                <a:spcPts val="0"/>
              </a:spcBef>
              <a:spcAft>
                <a:spcPts val="0"/>
              </a:spcAft>
              <a:defRPr sz="2000">
                <a:solidFill>
                  <a:srgbClr val="000000"/>
                </a:solidFill>
                <a:latin typeface="Calibri"/>
              </a:defRPr>
            </a:pPr>
            <a:r>
              <a:rPr sz="2000">
                <a:solidFill>
                  <a:srgbClr val="000000"/>
                </a:solidFill>
                <a:latin typeface="Calibri"/>
              </a:rPr>
              <a:t>- 处理家族姓氏时，请务必使用始祖的规范名称形式。</a:t>
            </a:r>
          </a:p>
        </p:txBody>
      </p:sp>
      <p:sp>
        <p:nvSpPr>
          <p:cNvPr id="605186" name="Rectangle 2">
            <a:extLst>
              <a:ext uri="{FF2B5EF4-FFF2-40B4-BE49-F238E27FC236}">
                <a16:creationId xmlns:a16="http://schemas.microsoft.com/office/drawing/2014/main" id="{629EE6C7-4939-4F0D-88DF-7B26014AC528}"/>
              </a:ext>
            </a:extLst>
          </p:cNvPr>
          <p:cNvSpPr>
            <a:spLocks noGrp="1" noChangeArrowheads="1"/>
          </p:cNvSpPr>
          <p:nvPr>
            <p:ph type="title" idx="4294967295"/>
          </p:nvPr>
        </p:nvSpPr>
        <p:spPr>
          <a:xfrm>
            <a:off x="323850" y="188913"/>
            <a:ext cx="8569325" cy="503237"/>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示例 - 代码“r”和子字段$i——家族姓氏</a:t>
            </a:r>
          </a:p>
        </p:txBody>
      </p:sp>
      <p:sp>
        <p:nvSpPr>
          <p:cNvPr id="605188" name="Text Box 4">
            <a:extLst>
              <a:ext uri="{FF2B5EF4-FFF2-40B4-BE49-F238E27FC236}">
                <a16:creationId xmlns:a16="http://schemas.microsoft.com/office/drawing/2014/main" id="{0FBA0A01-4DFA-4E64-84B5-02F6288707CA}"/>
              </a:ext>
            </a:extLst>
          </p:cNvPr>
          <p:cNvSpPr txBox="1">
            <a:spLocks noChangeArrowheads="1"/>
          </p:cNvSpPr>
          <p:nvPr/>
        </p:nvSpPr>
        <p:spPr bwMode="auto">
          <a:xfrm>
            <a:off x="468313" y="2492375"/>
            <a:ext cx="8137525"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- 500 3# $w r $i 后代：‡a Weir (Family : $g Weir, Robert Walter, 1803-1889)</a:t>
            </a:r>
          </a:p>
        </p:txBody>
      </p:sp>
      <p:sp>
        <p:nvSpPr>
          <p:cNvPr id="605189" name="Line 5">
            <a:extLst>
              <a:ext uri="{FF2B5EF4-FFF2-40B4-BE49-F238E27FC236}">
                <a16:creationId xmlns:a16="http://schemas.microsoft.com/office/drawing/2014/main" id="{E24397B5-8A51-40D6-BEB3-BD8EB1EF64C5}"/>
              </a:ext>
            </a:extLst>
          </p:cNvPr>
          <p:cNvSpPr>
            <a:spLocks noChangeShapeType="1"/>
          </p:cNvSpPr>
          <p:nvPr/>
        </p:nvSpPr>
        <p:spPr bwMode="auto">
          <a:xfrm flipV="1">
            <a:off x="468313" y="2708275"/>
            <a:ext cx="1008062" cy="73025"/>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05190" name="Rectangle 6">
            <a:extLst>
              <a:ext uri="{FF2B5EF4-FFF2-40B4-BE49-F238E27FC236}">
                <a16:creationId xmlns:a16="http://schemas.microsoft.com/office/drawing/2014/main" id="{C18B65D4-5D56-425F-B12C-0C78939C4DE0}"/>
              </a:ext>
            </a:extLst>
          </p:cNvPr>
          <p:cNvSpPr>
            <a:spLocks noChangeArrowheads="1"/>
          </p:cNvSpPr>
          <p:nvPr/>
        </p:nvSpPr>
        <p:spPr bwMode="auto">
          <a:xfrm>
            <a:off x="1258888" y="3284538"/>
            <a:ext cx="7200900" cy="1008062"/>
          </a:xfrm>
          <a:prstGeom prst="rect">
            <a:avLst/>
          </a:prstGeom>
          <a:noFill/>
          <a:ln w="28575"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05191" name="Rectangle 7">
            <a:extLst>
              <a:ext uri="{FF2B5EF4-FFF2-40B4-BE49-F238E27FC236}">
                <a16:creationId xmlns:a16="http://schemas.microsoft.com/office/drawing/2014/main" id="{11F1B1BE-774E-4255-9047-2EA201CA3601}"/>
              </a:ext>
            </a:extLst>
          </p:cNvPr>
          <p:cNvSpPr>
            <a:spLocks noChangeArrowheads="1"/>
          </p:cNvSpPr>
          <p:nvPr/>
        </p:nvSpPr>
        <p:spPr bwMode="auto">
          <a:xfrm>
            <a:off x="1258888" y="1989138"/>
            <a:ext cx="7200900" cy="1152525"/>
          </a:xfrm>
          <a:prstGeom prst="rect">
            <a:avLst/>
          </a:prstGeom>
          <a:noFill/>
          <a:ln w="9525"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5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8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7" name="Rectangle 5">
            <a:extLst>
              <a:ext uri="{FF2B5EF4-FFF2-40B4-BE49-F238E27FC236}">
                <a16:creationId xmlns:a16="http://schemas.microsoft.com/office/drawing/2014/main" id="{CABA9EA4-FD92-46B0-B43C-B3BE73B75F6B}"/>
              </a:ext>
            </a:extLst>
          </p:cNvPr>
          <p:cNvSpPr>
            <a:spLocks noGrp="1" noChangeArrowheads="1"/>
          </p:cNvSpPr>
          <p:nvPr>
            <p:ph type="body" idx="4294967295"/>
          </p:nvPr>
        </p:nvSpPr>
        <p:spPr>
          <a:xfrm>
            <a:off x="250825" y="620713"/>
            <a:ext cx="8713788" cy="2016125"/>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个人名称——笔名</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请勿对多个笔名使用$w/0、“r”及子字段$i。</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请将$w nnnc与663字段注释结合使用（参见常见问题解答：http://www.loc.gov/catdir/cpso/pseud.pdf）</a:t>
            </a:r>
          </a:p>
        </p:txBody>
      </p:sp>
      <p:sp>
        <p:nvSpPr>
          <p:cNvPr id="602116" name="Rectangle 4">
            <a:extLst>
              <a:ext uri="{FF2B5EF4-FFF2-40B4-BE49-F238E27FC236}">
                <a16:creationId xmlns:a16="http://schemas.microsoft.com/office/drawing/2014/main" id="{9DB13927-D9D2-46D0-9230-470D484162E1}"/>
              </a:ext>
            </a:extLst>
          </p:cNvPr>
          <p:cNvSpPr>
            <a:spLocks noGrp="1" noChangeArrowheads="1"/>
          </p:cNvSpPr>
          <p:nvPr>
            <p:ph type="title" idx="4294967295"/>
          </p:nvPr>
        </p:nvSpPr>
        <p:spPr>
          <a:xfrm>
            <a:off x="755650" y="0"/>
            <a:ext cx="7889875" cy="576263"/>
          </a:xfrm>
        </p:spPr>
        <p:txBody>
          <a:bodyPr wrap="square">
            <a:noAutofit/>
          </a:bodyPr>
          <a:lstStyle/>
          <a:p>
            <a:pPr>
              <a:lnSpc>
                <a:spcPct val="118000"/>
              </a:lnSpc>
              <a:spcBef>
                <a:spcPts val="0"/>
              </a:spcBef>
              <a:spcAft>
                <a:spcPts val="0"/>
              </a:spcAft>
              <a:defRPr sz="2800">
                <a:solidFill>
                  <a:srgbClr val="000000"/>
                </a:solidFill>
                <a:latin typeface="Calibri"/>
              </a:defRPr>
            </a:pPr>
            <a:r>
              <a:rPr sz="2800">
                <a:solidFill>
                  <a:srgbClr val="000000"/>
                </a:solidFill>
                <a:latin typeface="Calibri"/>
              </a:rPr>
              <a:t>LC关于使用代码“r”和子字段$i的政策</a:t>
            </a:r>
          </a:p>
        </p:txBody>
      </p:sp>
      <p:pic>
        <p:nvPicPr>
          <p:cNvPr id="602121" name="Picture 9">
            <a:extLst>
              <a:ext uri="{FF2B5EF4-FFF2-40B4-BE49-F238E27FC236}">
                <a16:creationId xmlns:a16="http://schemas.microsoft.com/office/drawing/2014/main" id="{972ECCDD-1C30-41A1-9074-D4E947156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427" t="37413" r="3662" b="8464"/>
          <a:stretch>
            <a:fillRect/>
          </a:stretch>
        </p:blipFill>
        <p:spPr bwMode="auto">
          <a:xfrm>
            <a:off x="0" y="2486025"/>
            <a:ext cx="9144000" cy="437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02122" name="Text Box 10">
            <a:extLst>
              <a:ext uri="{FF2B5EF4-FFF2-40B4-BE49-F238E27FC236}">
                <a16:creationId xmlns:a16="http://schemas.microsoft.com/office/drawing/2014/main" id="{ADC40DBF-BCDF-4B8E-847B-69EFC5051F68}"/>
              </a:ext>
            </a:extLst>
          </p:cNvPr>
          <p:cNvSpPr txBox="1">
            <a:spLocks noChangeArrowheads="1"/>
          </p:cNvSpPr>
          <p:nvPr/>
        </p:nvSpPr>
        <p:spPr bwMode="auto">
          <a:xfrm>
            <a:off x="8675688" y="6597650"/>
            <a:ext cx="468312"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92</a:t>
            </a:r>
          </a:p>
        </p:txBody>
      </p:sp>
      <p:sp>
        <p:nvSpPr>
          <p:cNvPr id="602123" name="Text Box 11">
            <a:extLst>
              <a:ext uri="{FF2B5EF4-FFF2-40B4-BE49-F238E27FC236}">
                <a16:creationId xmlns:a16="http://schemas.microsoft.com/office/drawing/2014/main" id="{75C2A6BE-CA8C-4CC7-A6B2-FDEED7873AEE}"/>
              </a:ext>
            </a:extLst>
          </p:cNvPr>
          <p:cNvSpPr txBox="1">
            <a:spLocks noChangeArrowheads="1"/>
          </p:cNvSpPr>
          <p:nvPr/>
        </p:nvSpPr>
        <p:spPr bwMode="auto">
          <a:xfrm>
            <a:off x="0" y="2492375"/>
            <a:ext cx="3563938" cy="457200"/>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示例：n 79060552</a:t>
            </a:r>
          </a:p>
        </p:txBody>
      </p:sp>
      <p:sp>
        <p:nvSpPr>
          <p:cNvPr id="602124" name="TextBox 602123"/>
          <p:cNvSpPr txBox="1"/>
          <p:nvPr/>
        </p:nvSpPr>
        <p:spPr>
          <a:xfrm>
            <a:off x="0" y="2486025"/>
            <a:ext cx="9144000" cy="4371975"/>
          </a:xfrm>
          <a:prstGeom prst="rect">
            <a:avLst/>
          </a:prstGeom>
          <a:noFill/>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示例：n 79060552</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035 $a(Uk)000373903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040 $a DLC $b eng $c DLC $d DLC $d GU $d OCI $d OCoLC $d DLC $d WaU $d Uk $d DLC</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053 0 $a PR6015.I3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100 1 $a 普莱迪，简，$d 1906-1993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400 1 $a 普列伊迪，德金，$d 1906-1993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500 1 $w nnnc $a 希伯特，埃莉诺，$d 1906-1993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500 1 $w nnnc $a 福特，埃尔伯，$d 1906-1993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500 1 $w nnnc $a 凯洛，凯瑟琳，$d 1906-1993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500 1 $w nnnc $a 泰特，埃拉利斯，$d 1906-1993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500 1 $w nnnc $a 霍尔特，维多利亚，$d 1906-1993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500 1 $w nnnc $a 卡尔，菲利帕，$d 1906-1993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500 1 $w nnnc $a 伯福德，埃莉诺，$d 1906-1993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663 $a 对于以其他名称著录的该作者作品，另见 $b 卡尔，菲利帕，1906-1993，$b 福特，埃尔伯，1906-1993，$b 霍尔特，维多利亚，1906-1993，$b 凯洛，凯瑟琳，1906-1993，$b 泰特，埃拉利斯，1906-1993 $b 伯福德，埃莉诺 1906-1993 $b 希伯特，埃莉诺，1906-1993</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670 $a 《越过蓝山》，1947年。</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92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a:extLst>
              <a:ext uri="{FF2B5EF4-FFF2-40B4-BE49-F238E27FC236}">
                <a16:creationId xmlns:a16="http://schemas.microsoft.com/office/drawing/2014/main" id="{84323DBC-BB82-4213-9B7B-E91395E0997A}"/>
              </a:ext>
            </a:extLst>
          </p:cNvPr>
          <p:cNvSpPr>
            <a:spLocks noGrp="1" noChangeArrowheads="1"/>
          </p:cNvSpPr>
          <p:nvPr>
            <p:ph type="body" idx="4294967295"/>
          </p:nvPr>
        </p:nvSpPr>
        <p:spPr>
          <a:xfrm>
            <a:off x="468313" y="908050"/>
            <a:ext cx="8280400" cy="5473700"/>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可选地，对于单个笔名，可使用$w/0、“r”代码和子字段$i。</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示例：</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- 100 1 $a King, Stephen</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- 500 1 $w r $i 别名身份：$a Bachman, Richard</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- 100 1 $a Bachman, Richard</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- 500 1 $w r $i 真实身份：$a King, Stephen</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或者，继续使用不带子字段$w的简单500字段</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对于笔名，需遵循互惠原则</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无论是仅有一个笔名还是多个笔名</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这意味着每个名称都必须拥有独立的NAR</a:t>
            </a:r>
          </a:p>
        </p:txBody>
      </p:sp>
      <p:sp>
        <p:nvSpPr>
          <p:cNvPr id="662531" name="Rectangle 3">
            <a:extLst>
              <a:ext uri="{FF2B5EF4-FFF2-40B4-BE49-F238E27FC236}">
                <a16:creationId xmlns:a16="http://schemas.microsoft.com/office/drawing/2014/main" id="{415AB629-FF51-4098-8E65-CA9A9C91C264}"/>
              </a:ext>
            </a:extLst>
          </p:cNvPr>
          <p:cNvSpPr>
            <a:spLocks noGrp="1" noChangeArrowheads="1"/>
          </p:cNvSpPr>
          <p:nvPr>
            <p:ph type="title" idx="4294967295"/>
          </p:nvPr>
        </p:nvSpPr>
        <p:spPr>
          <a:xfrm>
            <a:off x="611188" y="260350"/>
            <a:ext cx="8353425" cy="576263"/>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LC政策：代码“r”和子字段$i——笔名</a:t>
            </a:r>
          </a:p>
        </p:txBody>
      </p:sp>
      <p:sp>
        <p:nvSpPr>
          <p:cNvPr id="662532" name="Rectangle 4">
            <a:extLst>
              <a:ext uri="{FF2B5EF4-FFF2-40B4-BE49-F238E27FC236}">
                <a16:creationId xmlns:a16="http://schemas.microsoft.com/office/drawing/2014/main" id="{B8AD56D2-5EEC-49DB-9A91-3166DE14D27D}"/>
              </a:ext>
            </a:extLst>
          </p:cNvPr>
          <p:cNvSpPr>
            <a:spLocks noChangeArrowheads="1"/>
          </p:cNvSpPr>
          <p:nvPr/>
        </p:nvSpPr>
        <p:spPr bwMode="auto">
          <a:xfrm>
            <a:off x="1258888" y="3141663"/>
            <a:ext cx="7200900" cy="863600"/>
          </a:xfrm>
          <a:prstGeom prst="rect">
            <a:avLst/>
          </a:prstGeom>
          <a:noFill/>
          <a:ln w="28575"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62533" name="Rectangle 5">
            <a:extLst>
              <a:ext uri="{FF2B5EF4-FFF2-40B4-BE49-F238E27FC236}">
                <a16:creationId xmlns:a16="http://schemas.microsoft.com/office/drawing/2014/main" id="{6C9E06B8-22DE-413D-A5C1-4FEA53538EF3}"/>
              </a:ext>
            </a:extLst>
          </p:cNvPr>
          <p:cNvSpPr>
            <a:spLocks noChangeArrowheads="1"/>
          </p:cNvSpPr>
          <p:nvPr/>
        </p:nvSpPr>
        <p:spPr bwMode="auto">
          <a:xfrm>
            <a:off x="1258888" y="2205038"/>
            <a:ext cx="7200900" cy="863600"/>
          </a:xfrm>
          <a:prstGeom prst="rect">
            <a:avLst/>
          </a:prstGeom>
          <a:noFill/>
          <a:ln w="28575"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a:extLst>
              <a:ext uri="{FF2B5EF4-FFF2-40B4-BE49-F238E27FC236}">
                <a16:creationId xmlns:a16="http://schemas.microsoft.com/office/drawing/2014/main" id="{8DFDDAF5-8E1D-4479-B222-71CB1F379443}"/>
              </a:ext>
            </a:extLst>
          </p:cNvPr>
          <p:cNvSpPr>
            <a:spLocks noGrp="1" noChangeArrowheads="1"/>
          </p:cNvSpPr>
          <p:nvPr>
            <p:ph type="title" idx="4294967295"/>
          </p:nvPr>
        </p:nvSpPr>
        <p:spPr>
          <a:xfrm>
            <a:off x="900113" y="476250"/>
            <a:ext cx="7889875" cy="936625"/>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LC政策代码“r”与子字段$i——机构名称</a:t>
            </a:r>
          </a:p>
        </p:txBody>
      </p:sp>
      <p:sp>
        <p:nvSpPr>
          <p:cNvPr id="617475" name="Rectangle 3">
            <a:extLst>
              <a:ext uri="{FF2B5EF4-FFF2-40B4-BE49-F238E27FC236}">
                <a16:creationId xmlns:a16="http://schemas.microsoft.com/office/drawing/2014/main" id="{6337F323-7D1A-4746-85D3-971D820629AF}"/>
              </a:ext>
            </a:extLst>
          </p:cNvPr>
          <p:cNvSpPr>
            <a:spLocks noGrp="1" noChangeArrowheads="1"/>
          </p:cNvSpPr>
          <p:nvPr>
            <p:ph type="body" idx="4294967295"/>
          </p:nvPr>
        </p:nvSpPr>
        <p:spPr>
          <a:xfrm>
            <a:off x="900113" y="1557338"/>
            <a:ext cx="7920037" cy="4679950"/>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机构名称（依据 LCPS 32.1.1.3）</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在RDA NAR中，请勿为早期/后期关系使用代码“r”和子字段$i</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 继续在5XX字段中使用编码为“a”（早期）和/或代码“b”（后期）的子字段$w/0以关联机构名称</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在此情况下，每条NAR均需建立对应的反向NAR</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请注意，PCC成员馆不受LC政策关于使用早期/后期关系的约束。自美国RDA测试项目启动以来，它们在关联机构名称时，已开始使用附录K术语创建带有关系指示符的NAR。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a:extLst>
              <a:ext uri="{FF2B5EF4-FFF2-40B4-BE49-F238E27FC236}">
                <a16:creationId xmlns:a16="http://schemas.microsoft.com/office/drawing/2014/main" id="{BB0CC051-6262-4F87-B76B-316A3D43D8EE}"/>
              </a:ext>
            </a:extLst>
          </p:cNvPr>
          <p:cNvSpPr>
            <a:spLocks noGrp="1" noChangeArrowheads="1"/>
          </p:cNvSpPr>
          <p:nvPr>
            <p:ph type="title" idx="4294967295"/>
          </p:nvPr>
        </p:nvSpPr>
        <p:spPr>
          <a:xfrm>
            <a:off x="755650" y="188913"/>
            <a:ext cx="8001000" cy="647700"/>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$w 子字段 – 早期/后期 – 机构</a:t>
            </a:r>
          </a:p>
        </p:txBody>
      </p:sp>
      <p:sp>
        <p:nvSpPr>
          <p:cNvPr id="574467" name="Rectangle 3">
            <a:extLst>
              <a:ext uri="{FF2B5EF4-FFF2-40B4-BE49-F238E27FC236}">
                <a16:creationId xmlns:a16="http://schemas.microsoft.com/office/drawing/2014/main" id="{F0A69521-C791-40BA-9C79-55716A0C1059}"/>
              </a:ext>
            </a:extLst>
          </p:cNvPr>
          <p:cNvSpPr>
            <a:spLocks noGrp="1" noChangeArrowheads="1"/>
          </p:cNvSpPr>
          <p:nvPr>
            <p:ph type="body" idx="4294967295"/>
          </p:nvPr>
        </p:nvSpPr>
        <p:spPr>
          <a:xfrm>
            <a:off x="2124075" y="908050"/>
            <a:ext cx="4878388" cy="1655763"/>
          </a:xfrm>
          <a:solidFill>
            <a:schemeClr val="bg1"/>
          </a:solidFill>
          <a:ln w="28575">
            <a:solidFill>
              <a:schemeClr val="tx2"/>
            </a:solidFill>
            <a:miter lim="800000"/>
            <a:headEnd/>
            <a:tailEnd/>
          </a:ln>
        </p:spPr>
        <p:txBody>
          <a:bodyPr wrap="square">
            <a:noAutofit/>
          </a:bodyPr>
          <a:lstStyle/>
          <a:p>
            <a:pPr>
              <a:lnSpc>
                <a:spcPct val="118000"/>
              </a:lnSpc>
              <a:spcBef>
                <a:spcPts val="0"/>
              </a:spcBef>
              <a:spcAft>
                <a:spcPts val="0"/>
              </a:spcAft>
              <a:defRPr sz="2400">
                <a:solidFill>
                  <a:srgbClr val="FF3300"/>
                </a:solidFill>
                <a:latin typeface="Calibri"/>
              </a:defRPr>
            </a:pPr>
            <a:r>
              <a:rPr sz="2400">
                <a:solidFill>
                  <a:srgbClr val="FF3300"/>
                </a:solidFill>
                <a:latin typeface="Calibri"/>
              </a:rPr>
              <a:t>NAR 1</a:t>
            </a:r>
          </a:p>
          <a:p>
            <a:pPr>
              <a:lnSpc>
                <a:spcPct val="118000"/>
              </a:lnSpc>
              <a:spcBef>
                <a:spcPts val="0"/>
              </a:spcBef>
              <a:spcAft>
                <a:spcPts val="0"/>
              </a:spcAft>
              <a:defRPr sz="2400">
                <a:solidFill>
                  <a:srgbClr val="FF3300"/>
                </a:solidFill>
                <a:latin typeface="Calibri"/>
              </a:defRPr>
            </a:pPr>
            <a:r>
              <a:rPr sz="2400">
                <a:solidFill>
                  <a:srgbClr val="FF3300"/>
                </a:solidFill>
                <a:latin typeface="Calibri"/>
              </a:rPr>
              <a:t>1XX _# $a 机构A</a:t>
            </a:r>
          </a:p>
          <a:p>
            <a:pPr>
              <a:lnSpc>
                <a:spcPct val="118000"/>
              </a:lnSpc>
              <a:spcBef>
                <a:spcPts val="0"/>
              </a:spcBef>
              <a:spcAft>
                <a:spcPts val="0"/>
              </a:spcAft>
              <a:defRPr sz="2400">
                <a:solidFill>
                  <a:srgbClr val="FF3300"/>
                </a:solidFill>
                <a:latin typeface="Calibri"/>
              </a:defRPr>
            </a:pPr>
            <a:r>
              <a:rPr sz="2400">
                <a:solidFill>
                  <a:srgbClr val="FF3300"/>
                </a:solidFill>
                <a:latin typeface="Calibri"/>
              </a:rPr>
              <a:t>5XX _# $w b $a 机构B</a:t>
            </a:r>
          </a:p>
        </p:txBody>
      </p:sp>
      <p:sp>
        <p:nvSpPr>
          <p:cNvPr id="574468" name="Rectangle 4">
            <a:extLst>
              <a:ext uri="{FF2B5EF4-FFF2-40B4-BE49-F238E27FC236}">
                <a16:creationId xmlns:a16="http://schemas.microsoft.com/office/drawing/2014/main" id="{D038B1BE-7034-4DE4-A9B1-34A8A50502AA}"/>
              </a:ext>
            </a:extLst>
          </p:cNvPr>
          <p:cNvSpPr>
            <a:spLocks noChangeArrowheads="1"/>
          </p:cNvSpPr>
          <p:nvPr/>
        </p:nvSpPr>
        <p:spPr bwMode="auto">
          <a:xfrm>
            <a:off x="2195513" y="2781300"/>
            <a:ext cx="4824412" cy="18716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marL="342900" indent="-342900" algn="l">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l">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NAR 2</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1XX _# $a 机构B</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5XX _#  $w a $a 机构A</a:t>
            </a:r>
          </a:p>
        </p:txBody>
      </p:sp>
      <p:sp>
        <p:nvSpPr>
          <p:cNvPr id="574469" name="Rectangle 5">
            <a:extLst>
              <a:ext uri="{FF2B5EF4-FFF2-40B4-BE49-F238E27FC236}">
                <a16:creationId xmlns:a16="http://schemas.microsoft.com/office/drawing/2014/main" id="{1AFE0818-7E83-4F37-B0CE-E9A2FE7F3D92}"/>
              </a:ext>
            </a:extLst>
          </p:cNvPr>
          <p:cNvSpPr>
            <a:spLocks noChangeArrowheads="1"/>
          </p:cNvSpPr>
          <p:nvPr/>
        </p:nvSpPr>
        <p:spPr bwMode="auto">
          <a:xfrm>
            <a:off x="2268538" y="5013325"/>
            <a:ext cx="4824412" cy="16557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marL="342900" indent="-342900" algn="l">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l">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nSpc>
                <a:spcPct val="118000"/>
              </a:lnSpc>
              <a:spcBef>
                <a:spcPts val="0"/>
              </a:spcBef>
              <a:spcAft>
                <a:spcPts val="0"/>
              </a:spcAft>
              <a:defRPr sz="2400">
                <a:solidFill>
                  <a:srgbClr val="FF3300"/>
                </a:solidFill>
                <a:latin typeface="Calibri"/>
              </a:defRPr>
            </a:pPr>
            <a:r>
              <a:rPr sz="2400">
                <a:solidFill>
                  <a:srgbClr val="FF3300"/>
                </a:solidFill>
                <a:latin typeface="Calibri"/>
              </a:rPr>
              <a:t>NAR 3</a:t>
            </a:r>
          </a:p>
          <a:p>
            <a:pPr>
              <a:lnSpc>
                <a:spcPct val="118000"/>
              </a:lnSpc>
              <a:spcBef>
                <a:spcPts val="0"/>
              </a:spcBef>
              <a:spcAft>
                <a:spcPts val="0"/>
              </a:spcAft>
              <a:defRPr sz="2400">
                <a:solidFill>
                  <a:srgbClr val="FF3300"/>
                </a:solidFill>
                <a:latin typeface="Calibri"/>
              </a:defRPr>
            </a:pPr>
            <a:r>
              <a:rPr sz="2400">
                <a:solidFill>
                  <a:srgbClr val="FF3300"/>
                </a:solidFill>
                <a:latin typeface="Calibri"/>
              </a:rPr>
              <a:t>1XX _# $a 机构C</a:t>
            </a:r>
          </a:p>
          <a:p>
            <a:pPr>
              <a:lnSpc>
                <a:spcPct val="118000"/>
              </a:lnSpc>
              <a:spcBef>
                <a:spcPts val="0"/>
              </a:spcBef>
              <a:spcAft>
                <a:spcPts val="0"/>
              </a:spcAft>
              <a:defRPr sz="2400">
                <a:solidFill>
                  <a:srgbClr val="FF3300"/>
                </a:solidFill>
                <a:latin typeface="Calibri"/>
              </a:defRPr>
            </a:pPr>
            <a:r>
              <a:rPr sz="2400">
                <a:solidFill>
                  <a:srgbClr val="FF3300"/>
                </a:solidFill>
                <a:latin typeface="Calibri"/>
              </a:rPr>
              <a:t>5XX _#  $w a $a 机构B</a:t>
            </a:r>
          </a:p>
        </p:txBody>
      </p:sp>
      <p:sp>
        <p:nvSpPr>
          <p:cNvPr id="574470" name="Text Box 6">
            <a:extLst>
              <a:ext uri="{FF2B5EF4-FFF2-40B4-BE49-F238E27FC236}">
                <a16:creationId xmlns:a16="http://schemas.microsoft.com/office/drawing/2014/main" id="{30028199-EF62-4644-BD6E-0DFF3EAC082C}"/>
              </a:ext>
            </a:extLst>
          </p:cNvPr>
          <p:cNvSpPr txBox="1">
            <a:spLocks noChangeArrowheads="1"/>
          </p:cNvSpPr>
          <p:nvPr/>
        </p:nvSpPr>
        <p:spPr bwMode="auto">
          <a:xfrm>
            <a:off x="2051050" y="4076700"/>
            <a:ext cx="33131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5XX _#  $w b $a 机构C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44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44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9" grpId="0" animBg="1"/>
      <p:bldP spid="57447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a:extLst>
              <a:ext uri="{FF2B5EF4-FFF2-40B4-BE49-F238E27FC236}">
                <a16:creationId xmlns:a16="http://schemas.microsoft.com/office/drawing/2014/main" id="{087B9F12-426B-4672-8837-D6B1485834B0}"/>
              </a:ext>
            </a:extLst>
          </p:cNvPr>
          <p:cNvSpPr>
            <a:spLocks noGrp="1" noChangeArrowheads="1"/>
          </p:cNvSpPr>
          <p:nvPr>
            <p:ph type="title" idx="4294967295"/>
          </p:nvPr>
        </p:nvSpPr>
        <p:spPr>
          <a:xfrm>
            <a:off x="539750" y="476250"/>
            <a:ext cx="8353425" cy="1008063"/>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LC政策代码“r”与子字段$i——机构名称</a:t>
            </a:r>
          </a:p>
        </p:txBody>
      </p:sp>
      <p:sp>
        <p:nvSpPr>
          <p:cNvPr id="660483" name="Rectangle 3">
            <a:extLst>
              <a:ext uri="{FF2B5EF4-FFF2-40B4-BE49-F238E27FC236}">
                <a16:creationId xmlns:a16="http://schemas.microsoft.com/office/drawing/2014/main" id="{8EA84D71-490A-480C-9257-1DDC1E8225DD}"/>
              </a:ext>
            </a:extLst>
          </p:cNvPr>
          <p:cNvSpPr>
            <a:spLocks noGrp="1" noChangeArrowheads="1"/>
          </p:cNvSpPr>
          <p:nvPr>
            <p:ph type="body" idx="4294967295"/>
          </p:nvPr>
        </p:nvSpPr>
        <p:spPr>
          <a:xfrm>
            <a:off x="684213" y="1628775"/>
            <a:ext cx="8208962" cy="4608513"/>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但是，如果需要某个机构名称的后期形式，而早期形式已存在于由PCC创建的、包含子字段$i和附录K关系标识符的RDA名称权威记录中，该怎么办？</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采用编目员的判断</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为该名称的最新形式创建一个新的RDA名称权威记录，其中子字段$w/0编码为“r”，并添加子字段$i</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或者直接添加$w/0，分别标注a（早期）和b（后期）</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此情况下允许使用混合NAR——这指的是允许混合使用MARC内容标识，而非指标题本身是混合的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a:extLst>
              <a:ext uri="{FF2B5EF4-FFF2-40B4-BE49-F238E27FC236}">
                <a16:creationId xmlns:a16="http://schemas.microsoft.com/office/drawing/2014/main" id="{41B3A22A-A80F-4CEA-A023-A8B06D537139}"/>
              </a:ext>
            </a:extLst>
          </p:cNvPr>
          <p:cNvSpPr>
            <a:spLocks noGrp="1" noChangeArrowheads="1"/>
          </p:cNvSpPr>
          <p:nvPr>
            <p:ph type="title" idx="4294967295"/>
          </p:nvPr>
        </p:nvSpPr>
        <p:spPr>
          <a:xfrm>
            <a:off x="250825" y="260350"/>
            <a:ext cx="8664575" cy="865188"/>
          </a:xfrm>
        </p:spPr>
        <p:txBody>
          <a:bodyPr wrap="square">
            <a:noAutofit/>
          </a:bodyPr>
          <a:lstStyle/>
          <a:p>
            <a:pPr>
              <a:lnSpc>
                <a:spcPct val="118000"/>
              </a:lnSpc>
              <a:spcBef>
                <a:spcPts val="0"/>
              </a:spcBef>
              <a:spcAft>
                <a:spcPts val="0"/>
              </a:spcAft>
              <a:defRPr sz="2800">
                <a:solidFill>
                  <a:srgbClr val="000000"/>
                </a:solidFill>
                <a:latin typeface="Calibri"/>
              </a:defRPr>
            </a:pPr>
            <a:r>
              <a:rPr sz="2800">
                <a:solidFill>
                  <a:srgbClr val="000000"/>
                </a:solidFill>
                <a:latin typeface="Calibri"/>
              </a:rPr>
              <a:t>LC政策子字段$w r与$i – 关系标识符 – 机构</a:t>
            </a:r>
          </a:p>
        </p:txBody>
      </p:sp>
      <p:sp>
        <p:nvSpPr>
          <p:cNvPr id="575491" name="Rectangle 3">
            <a:extLst>
              <a:ext uri="{FF2B5EF4-FFF2-40B4-BE49-F238E27FC236}">
                <a16:creationId xmlns:a16="http://schemas.microsoft.com/office/drawing/2014/main" id="{49B477F3-B173-4DFF-8B4E-55BE6BBD57AC}"/>
              </a:ext>
            </a:extLst>
          </p:cNvPr>
          <p:cNvSpPr>
            <a:spLocks noGrp="1" noChangeArrowheads="1"/>
          </p:cNvSpPr>
          <p:nvPr>
            <p:ph type="body" idx="4294967295"/>
          </p:nvPr>
        </p:nvSpPr>
        <p:spPr>
          <a:xfrm>
            <a:off x="2051050" y="1268413"/>
            <a:ext cx="5041900" cy="1439862"/>
          </a:xfrm>
          <a:solidFill>
            <a:schemeClr val="bg1"/>
          </a:solidFill>
          <a:ln w="28575">
            <a:solidFill>
              <a:schemeClr val="tx2"/>
            </a:solidFill>
            <a:miter lim="800000"/>
            <a:headEnd/>
            <a:tailEnd/>
          </a:ln>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PCC编目员创建的RDA NAR 1</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1XX _# $a 机构A</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5XX _# $w r $i 后继者：$a 机构B</a:t>
            </a:r>
          </a:p>
        </p:txBody>
      </p:sp>
      <p:sp>
        <p:nvSpPr>
          <p:cNvPr id="575492" name="Rectangle 4">
            <a:extLst>
              <a:ext uri="{FF2B5EF4-FFF2-40B4-BE49-F238E27FC236}">
                <a16:creationId xmlns:a16="http://schemas.microsoft.com/office/drawing/2014/main" id="{D4A4E34A-5F67-448D-AD47-E4A8A73ECDA4}"/>
              </a:ext>
            </a:extLst>
          </p:cNvPr>
          <p:cNvSpPr>
            <a:spLocks noChangeArrowheads="1"/>
          </p:cNvSpPr>
          <p:nvPr/>
        </p:nvSpPr>
        <p:spPr bwMode="auto">
          <a:xfrm>
            <a:off x="2051050" y="2924175"/>
            <a:ext cx="5030788" cy="201771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marL="342900" indent="-342900" algn="l">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l">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PCC编目员创建的RDA NAR 2</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1XX _# $a 机构B</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5XX _# $w r $i 前继者：$a 机构A</a:t>
            </a:r>
          </a:p>
        </p:txBody>
      </p:sp>
      <p:sp>
        <p:nvSpPr>
          <p:cNvPr id="575493" name="Rectangle 5">
            <a:extLst>
              <a:ext uri="{FF2B5EF4-FFF2-40B4-BE49-F238E27FC236}">
                <a16:creationId xmlns:a16="http://schemas.microsoft.com/office/drawing/2014/main" id="{B0DB4AE6-39B1-4C8B-B210-C0CED06C7942}"/>
              </a:ext>
            </a:extLst>
          </p:cNvPr>
          <p:cNvSpPr>
            <a:spLocks noChangeArrowheads="1"/>
          </p:cNvSpPr>
          <p:nvPr/>
        </p:nvSpPr>
        <p:spPr bwMode="auto">
          <a:xfrm>
            <a:off x="2124075" y="5084763"/>
            <a:ext cx="5030788" cy="148431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marL="342900" indent="-342900" algn="l">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l">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LC编目员创建的NAR 3</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1XX _# $a 机构C</a:t>
            </a:r>
          </a:p>
        </p:txBody>
      </p:sp>
      <p:sp>
        <p:nvSpPr>
          <p:cNvPr id="575494" name="Text Box 6">
            <a:extLst>
              <a:ext uri="{FF2B5EF4-FFF2-40B4-BE49-F238E27FC236}">
                <a16:creationId xmlns:a16="http://schemas.microsoft.com/office/drawing/2014/main" id="{03F1858A-DD49-4204-864B-756E456ABFEC}"/>
              </a:ext>
            </a:extLst>
          </p:cNvPr>
          <p:cNvSpPr txBox="1">
            <a:spLocks noChangeArrowheads="1"/>
          </p:cNvSpPr>
          <p:nvPr/>
        </p:nvSpPr>
        <p:spPr bwMode="auto">
          <a:xfrm>
            <a:off x="1979613" y="6021388"/>
            <a:ext cx="5111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5XX _# $w r $i 前继者：$a 机构B</a:t>
            </a:r>
          </a:p>
        </p:txBody>
      </p:sp>
      <p:sp>
        <p:nvSpPr>
          <p:cNvPr id="575495" name="Text Box 7">
            <a:extLst>
              <a:ext uri="{FF2B5EF4-FFF2-40B4-BE49-F238E27FC236}">
                <a16:creationId xmlns:a16="http://schemas.microsoft.com/office/drawing/2014/main" id="{BEB79B29-2D58-48D6-A008-82A1AEEB2E46}"/>
              </a:ext>
            </a:extLst>
          </p:cNvPr>
          <p:cNvSpPr txBox="1">
            <a:spLocks noChangeArrowheads="1"/>
          </p:cNvSpPr>
          <p:nvPr/>
        </p:nvSpPr>
        <p:spPr bwMode="auto">
          <a:xfrm>
            <a:off x="1835150" y="4292600"/>
            <a:ext cx="5111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5XX _# $w r $i 后继者：$a 机构C</a:t>
            </a:r>
          </a:p>
        </p:txBody>
      </p:sp>
      <p:sp>
        <p:nvSpPr>
          <p:cNvPr id="575496" name="Text Box 8">
            <a:extLst>
              <a:ext uri="{FF2B5EF4-FFF2-40B4-BE49-F238E27FC236}">
                <a16:creationId xmlns:a16="http://schemas.microsoft.com/office/drawing/2014/main" id="{224EFB1A-D1E6-4841-A303-6D71B69E36F7}"/>
              </a:ext>
            </a:extLst>
          </p:cNvPr>
          <p:cNvSpPr txBox="1">
            <a:spLocks noChangeArrowheads="1"/>
          </p:cNvSpPr>
          <p:nvPr/>
        </p:nvSpPr>
        <p:spPr bwMode="auto">
          <a:xfrm>
            <a:off x="2051050" y="4365625"/>
            <a:ext cx="4897438" cy="457200"/>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5XX _# $w b $a 机构C</a:t>
            </a:r>
          </a:p>
        </p:txBody>
      </p:sp>
      <p:sp>
        <p:nvSpPr>
          <p:cNvPr id="575497" name="Text Box 9">
            <a:extLst>
              <a:ext uri="{FF2B5EF4-FFF2-40B4-BE49-F238E27FC236}">
                <a16:creationId xmlns:a16="http://schemas.microsoft.com/office/drawing/2014/main" id="{991ADAAF-65DC-49F6-AFB9-CD6110687567}"/>
              </a:ext>
            </a:extLst>
          </p:cNvPr>
          <p:cNvSpPr txBox="1">
            <a:spLocks noChangeArrowheads="1"/>
          </p:cNvSpPr>
          <p:nvPr/>
        </p:nvSpPr>
        <p:spPr bwMode="auto">
          <a:xfrm>
            <a:off x="2195513" y="6021388"/>
            <a:ext cx="4752975" cy="457200"/>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5XX _# $w a $a 机构B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549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549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549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549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754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3" grpId="0" animBg="1"/>
      <p:bldP spid="575494" grpId="0"/>
      <p:bldP spid="575495" grpId="0"/>
      <p:bldP spid="575496" grpId="0" animBg="1"/>
      <p:bldP spid="57549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a:extLst>
              <a:ext uri="{FF2B5EF4-FFF2-40B4-BE49-F238E27FC236}">
                <a16:creationId xmlns:a16="http://schemas.microsoft.com/office/drawing/2014/main" id="{9A6D3F9F-9E50-4CC1-99B2-98720B4D3508}"/>
              </a:ext>
            </a:extLst>
          </p:cNvPr>
          <p:cNvSpPr>
            <a:spLocks noGrp="1" noChangeArrowheads="1"/>
          </p:cNvSpPr>
          <p:nvPr>
            <p:ph type="title" idx="4294967295"/>
          </p:nvPr>
        </p:nvSpPr>
        <p:spPr>
          <a:xfrm>
            <a:off x="827088" y="260350"/>
            <a:ext cx="7889875" cy="576263"/>
          </a:xfrm>
        </p:spPr>
        <p:txBody>
          <a:bodyPr wrap="square">
            <a:noAutofit/>
          </a:bodyPr>
          <a:lstStyle/>
          <a:p>
            <a:pPr>
              <a:lnSpc>
                <a:spcPct val="118000"/>
              </a:lnSpc>
              <a:spcBef>
                <a:spcPts val="0"/>
              </a:spcBef>
              <a:spcAft>
                <a:spcPts val="0"/>
              </a:spcAft>
              <a:defRPr sz="2800">
                <a:solidFill>
                  <a:srgbClr val="000000"/>
                </a:solidFill>
                <a:latin typeface="Calibri"/>
              </a:defRPr>
            </a:pPr>
            <a:r>
              <a:rPr sz="2800">
                <a:solidFill>
                  <a:srgbClr val="000000"/>
                </a:solidFill>
                <a:latin typeface="Calibri"/>
              </a:rPr>
              <a:t>LC政策代码“r”与子字段$i——机构名称</a:t>
            </a:r>
          </a:p>
        </p:txBody>
      </p:sp>
      <p:sp>
        <p:nvSpPr>
          <p:cNvPr id="659459" name="Rectangle 3">
            <a:extLst>
              <a:ext uri="{FF2B5EF4-FFF2-40B4-BE49-F238E27FC236}">
                <a16:creationId xmlns:a16="http://schemas.microsoft.com/office/drawing/2014/main" id="{D7B6B6FB-77EB-4433-80E9-28A1FB9D335F}"/>
              </a:ext>
            </a:extLst>
          </p:cNvPr>
          <p:cNvSpPr>
            <a:spLocks noGrp="1" noChangeArrowheads="1"/>
          </p:cNvSpPr>
          <p:nvPr>
            <p:ph type="body" idx="4294967295"/>
          </p:nvPr>
        </p:nvSpPr>
        <p:spPr>
          <a:xfrm>
            <a:off x="684213" y="1052513"/>
            <a:ext cx="7991475" cy="3384550"/>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团体名称</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可选地，可使用代码“r”和子字段$i将个人与团体名称关联起来</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不要求双向关联</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- 5XX系列中使用的名称必须经过规范控制</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注意：RDA中并未规定团体名称中必须包含个人姓名——此处无LCPS（本地处理说明）</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当前个人与团体名称关系的示例</a:t>
            </a:r>
          </a:p>
        </p:txBody>
      </p:sp>
      <p:sp>
        <p:nvSpPr>
          <p:cNvPr id="659460" name="Text Box 4">
            <a:extLst>
              <a:ext uri="{FF2B5EF4-FFF2-40B4-BE49-F238E27FC236}">
                <a16:creationId xmlns:a16="http://schemas.microsoft.com/office/drawing/2014/main" id="{C6B02A47-2E2A-44F5-9104-1096FEBA7DF0}"/>
              </a:ext>
            </a:extLst>
          </p:cNvPr>
          <p:cNvSpPr txBox="1">
            <a:spLocks noChangeArrowheads="1"/>
          </p:cNvSpPr>
          <p:nvPr/>
        </p:nvSpPr>
        <p:spPr bwMode="auto">
          <a:xfrm>
            <a:off x="1331913" y="4437063"/>
            <a:ext cx="7416800" cy="860425"/>
          </a:xfrm>
          <a:prstGeom prst="rect">
            <a:avLst/>
          </a:prstGeom>
          <a:noFill/>
          <a:ln w="38100"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110 2# Art Tatum Trio</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500 1# Tatum, Art, $d 1909-1956</a:t>
            </a:r>
          </a:p>
        </p:txBody>
      </p:sp>
      <p:sp>
        <p:nvSpPr>
          <p:cNvPr id="659461" name="Text Box 5">
            <a:extLst>
              <a:ext uri="{FF2B5EF4-FFF2-40B4-BE49-F238E27FC236}">
                <a16:creationId xmlns:a16="http://schemas.microsoft.com/office/drawing/2014/main" id="{9BF175A7-CEF0-4CE7-B3AD-56478915D6D5}"/>
              </a:ext>
            </a:extLst>
          </p:cNvPr>
          <p:cNvSpPr txBox="1">
            <a:spLocks noChangeArrowheads="1"/>
          </p:cNvSpPr>
          <p:nvPr/>
        </p:nvSpPr>
        <p:spPr bwMode="auto">
          <a:xfrm>
            <a:off x="1331913" y="5445125"/>
            <a:ext cx="7416800" cy="860425"/>
          </a:xfrm>
          <a:prstGeom prst="rect">
            <a:avLst/>
          </a:prstGeom>
          <a:noFill/>
          <a:ln w="38100"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100 1# Tatum, Art, $d 1909-1956</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510 2# Art Tatum Trio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a:extLst>
              <a:ext uri="{FF2B5EF4-FFF2-40B4-BE49-F238E27FC236}">
                <a16:creationId xmlns:a16="http://schemas.microsoft.com/office/drawing/2014/main" id="{F28BB658-F179-473C-B7A8-7200FCD17380}"/>
              </a:ext>
            </a:extLst>
          </p:cNvPr>
          <p:cNvSpPr>
            <a:spLocks noGrp="1" noChangeArrowheads="1"/>
          </p:cNvSpPr>
          <p:nvPr>
            <p:ph type="title" idx="4294967295"/>
          </p:nvPr>
        </p:nvSpPr>
        <p:spPr>
          <a:xfrm>
            <a:off x="971550" y="188913"/>
            <a:ext cx="7889875" cy="576262"/>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LC政策：代码“r”与子字段$i</a:t>
            </a:r>
          </a:p>
        </p:txBody>
      </p:sp>
      <p:sp>
        <p:nvSpPr>
          <p:cNvPr id="648195" name="Rectangle 3">
            <a:extLst>
              <a:ext uri="{FF2B5EF4-FFF2-40B4-BE49-F238E27FC236}">
                <a16:creationId xmlns:a16="http://schemas.microsoft.com/office/drawing/2014/main" id="{94C65F75-5A28-496F-B9AA-43CA52AC3C49}"/>
              </a:ext>
            </a:extLst>
          </p:cNvPr>
          <p:cNvSpPr>
            <a:spLocks noGrp="1" noChangeArrowheads="1"/>
          </p:cNvSpPr>
          <p:nvPr>
            <p:ph type="body" idx="4294967295"/>
          </p:nvPr>
        </p:nvSpPr>
        <p:spPr>
          <a:xfrm>
            <a:off x="468313" y="1125538"/>
            <a:ext cx="8280400" cy="503237"/>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示例：</a:t>
            </a:r>
          </a:p>
        </p:txBody>
      </p:sp>
      <p:sp>
        <p:nvSpPr>
          <p:cNvPr id="648196" name="Text Box 4">
            <a:extLst>
              <a:ext uri="{FF2B5EF4-FFF2-40B4-BE49-F238E27FC236}">
                <a16:creationId xmlns:a16="http://schemas.microsoft.com/office/drawing/2014/main" id="{ED11D94A-794E-45F3-A875-5CEBC930DDBE}"/>
              </a:ext>
            </a:extLst>
          </p:cNvPr>
          <p:cNvSpPr txBox="1">
            <a:spLocks noChangeArrowheads="1"/>
          </p:cNvSpPr>
          <p:nvPr/>
        </p:nvSpPr>
        <p:spPr bwMode="auto">
          <a:xfrm>
            <a:off x="395288" y="1628775"/>
            <a:ext cx="8389937" cy="4117975"/>
          </a:xfrm>
          <a:prstGeom prst="rect">
            <a:avLst/>
          </a:prstGeom>
          <a:solidFill>
            <a:schemeClr val="bg1"/>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- 110 2# $a R.E.M（音乐团体）</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- 500 1# $w r $i 成员：$a Stipe, Michael, $d 1960-</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- 500 1# $w r $i 成员：$a Buck, Peter, $d 1956-</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- 500 1# $w r $i 成员：$a Mills, Mike, $d 1958 	12月17日-</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- 500 1# $w r $i 成员：$a Berry, Bill, $d 1958-</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- 670 ## $a Rock on, c1985: ‡b v. 3（R.E.M.成立于1980年；	Michael Stipe，主唱；Pete Buck，吉他；Mike Mills，	贝斯与主唱；Bill Berry，鼓与主唱；所在地，	佐治亚州雅典市。）</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a:extLst>
              <a:ext uri="{FF2B5EF4-FFF2-40B4-BE49-F238E27FC236}">
                <a16:creationId xmlns:a16="http://schemas.microsoft.com/office/drawing/2014/main" id="{F880B585-68BF-4190-92A9-CF4B11CAEF5E}"/>
              </a:ext>
            </a:extLst>
          </p:cNvPr>
          <p:cNvSpPr>
            <a:spLocks noGrp="1" noChangeArrowheads="1"/>
          </p:cNvSpPr>
          <p:nvPr>
            <p:ph type="title" idx="4294967295"/>
          </p:nvPr>
        </p:nvSpPr>
        <p:spPr>
          <a:xfrm>
            <a:off x="1116013" y="476250"/>
            <a:ext cx="7488237" cy="792163"/>
          </a:xfrm>
        </p:spPr>
        <p:txBody>
          <a:bodyPr wrap="square">
            <a:noAutofit/>
          </a:bodyPr>
          <a:lstStyle/>
          <a:p>
            <a:pPr>
              <a:lnSpc>
                <a:spcPct val="118000"/>
              </a:lnSpc>
              <a:spcBef>
                <a:spcPts val="0"/>
              </a:spcBef>
              <a:spcAft>
                <a:spcPts val="0"/>
              </a:spcAft>
              <a:defRPr sz="2800">
                <a:solidFill>
                  <a:srgbClr val="000000"/>
                </a:solidFill>
                <a:latin typeface="Calibri"/>
              </a:defRPr>
            </a:pPr>
            <a:r>
              <a:rPr sz="2800">
                <a:solidFill>
                  <a:srgbClr val="000000"/>
                </a:solidFill>
                <a:latin typeface="Calibri"/>
              </a:rPr>
              <a:t>LC政策：代码“r”和子字段$i——附录K中缺少关系标识符</a:t>
            </a:r>
          </a:p>
        </p:txBody>
      </p:sp>
      <p:sp>
        <p:nvSpPr>
          <p:cNvPr id="618499" name="Rectangle 3">
            <a:extLst>
              <a:ext uri="{FF2B5EF4-FFF2-40B4-BE49-F238E27FC236}">
                <a16:creationId xmlns:a16="http://schemas.microsoft.com/office/drawing/2014/main" id="{9E6C1595-1F93-41D9-937D-7314EEEA9CF2}"/>
              </a:ext>
            </a:extLst>
          </p:cNvPr>
          <p:cNvSpPr>
            <a:spLocks noGrp="1" noChangeArrowheads="1"/>
          </p:cNvSpPr>
          <p:nvPr>
            <p:ph type="body" idx="4294967295"/>
          </p:nvPr>
        </p:nvSpPr>
        <p:spPr>
          <a:xfrm>
            <a:off x="684213" y="1412875"/>
            <a:ext cx="7991475" cy="2087563"/>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某些关系标识符是单向的——部分术语尚未在附录K中定义</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在下例中，对于“团体成员”没有合适的对等术语</a:t>
            </a:r>
          </a:p>
        </p:txBody>
      </p:sp>
      <p:sp>
        <p:nvSpPr>
          <p:cNvPr id="618500" name="Text Box 4">
            <a:extLst>
              <a:ext uri="{FF2B5EF4-FFF2-40B4-BE49-F238E27FC236}">
                <a16:creationId xmlns:a16="http://schemas.microsoft.com/office/drawing/2014/main" id="{8FD5739C-20F4-4ADA-8A56-57D9D620E206}"/>
              </a:ext>
            </a:extLst>
          </p:cNvPr>
          <p:cNvSpPr txBox="1">
            <a:spLocks noChangeArrowheads="1"/>
          </p:cNvSpPr>
          <p:nvPr/>
        </p:nvSpPr>
        <p:spPr bwMode="auto">
          <a:xfrm>
            <a:off x="1258888" y="3716338"/>
            <a:ext cx="6335712" cy="850900"/>
          </a:xfrm>
          <a:prstGeom prst="rect">
            <a:avLst/>
          </a:prstGeom>
          <a:noFill/>
          <a:ln w="28575"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- 100 1# $a Stipe, Michael, $d 1960-</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- 510 2# $a R.E.M. (音乐团体)</a:t>
            </a:r>
          </a:p>
        </p:txBody>
      </p:sp>
      <p:sp>
        <p:nvSpPr>
          <p:cNvPr id="618502" name="Text Box 6">
            <a:extLst>
              <a:ext uri="{FF2B5EF4-FFF2-40B4-BE49-F238E27FC236}">
                <a16:creationId xmlns:a16="http://schemas.microsoft.com/office/drawing/2014/main" id="{678B99EA-CCB2-4E5A-B830-9FF056B98D65}"/>
              </a:ext>
            </a:extLst>
          </p:cNvPr>
          <p:cNvSpPr txBox="1">
            <a:spLocks noChangeArrowheads="1"/>
          </p:cNvSpPr>
          <p:nvPr/>
        </p:nvSpPr>
        <p:spPr bwMode="auto">
          <a:xfrm>
            <a:off x="1187450" y="4868863"/>
            <a:ext cx="6335713" cy="850900"/>
          </a:xfrm>
          <a:prstGeom prst="rect">
            <a:avLst/>
          </a:prstGeom>
          <a:noFill/>
          <a:ln w="28575"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- 100 1# $a Buck, Peter, $d 1956-</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- 510 2# $a R.E.M. (音乐团体)</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a:extLst>
              <a:ext uri="{FF2B5EF4-FFF2-40B4-BE49-F238E27FC236}">
                <a16:creationId xmlns:a16="http://schemas.microsoft.com/office/drawing/2014/main" id="{1A88E98D-AD4C-4189-B201-E1925231B826}"/>
              </a:ext>
            </a:extLst>
          </p:cNvPr>
          <p:cNvSpPr>
            <a:spLocks noGrp="1" noChangeArrowheads="1"/>
          </p:cNvSpPr>
          <p:nvPr>
            <p:ph type="title" idx="4294967295"/>
          </p:nvPr>
        </p:nvSpPr>
        <p:spPr>
          <a:xfrm>
            <a:off x="684213" y="620713"/>
            <a:ext cx="7889875" cy="647700"/>
          </a:xfrm>
        </p:spPr>
        <p:txBody>
          <a:bodyPr wrap="square">
            <a:noAutofit/>
          </a:bodyPr>
          <a:lstStyle/>
          <a:p>
            <a:pPr>
              <a:lnSpc>
                <a:spcPct val="118000"/>
              </a:lnSpc>
              <a:spcBef>
                <a:spcPts val="0"/>
              </a:spcBef>
              <a:spcAft>
                <a:spcPts val="0"/>
              </a:spcAft>
              <a:defRPr sz="2000">
                <a:solidFill>
                  <a:srgbClr val="000000"/>
                </a:solidFill>
                <a:latin typeface="Calibri"/>
              </a:defRPr>
            </a:pPr>
            <a:r>
              <a:rPr sz="2000">
                <a:solidFill>
                  <a:srgbClr val="000000"/>
                </a:solidFill>
                <a:latin typeface="Calibri"/>
              </a:rPr>
              <a:t>LC政策：代码“r”与子字段$i</a:t>
            </a:r>
          </a:p>
        </p:txBody>
      </p:sp>
      <p:sp>
        <p:nvSpPr>
          <p:cNvPr id="606211" name="Rectangle 3">
            <a:extLst>
              <a:ext uri="{FF2B5EF4-FFF2-40B4-BE49-F238E27FC236}">
                <a16:creationId xmlns:a16="http://schemas.microsoft.com/office/drawing/2014/main" id="{EC9DF02F-CB04-48D6-A5D9-B853ED37D7EA}"/>
              </a:ext>
            </a:extLst>
          </p:cNvPr>
          <p:cNvSpPr>
            <a:spLocks noGrp="1" noChangeArrowheads="1"/>
          </p:cNvSpPr>
          <p:nvPr>
            <p:ph type="body" idx="4294967295"/>
          </p:nvPr>
        </p:nvSpPr>
        <p:spPr>
          <a:xfrm>
            <a:off x="539750" y="1557338"/>
            <a:ext cx="8353425" cy="2951162"/>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谨慎使用个人对机构实体的关系标识符</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使用关系标识符将机构实体与个人关联时，需警惕其反向关系。</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 在为美国国会图书馆（LC）或迪士尼等机构建立规范权威记录（NAR）时，若为每位在职人员都添加“雇员”关系标识符，将产生数千条名称记录。</a:t>
            </a:r>
          </a:p>
        </p:txBody>
      </p:sp>
      <p:sp>
        <p:nvSpPr>
          <p:cNvPr id="606212" name="Text Box 4">
            <a:extLst>
              <a:ext uri="{FF2B5EF4-FFF2-40B4-BE49-F238E27FC236}">
                <a16:creationId xmlns:a16="http://schemas.microsoft.com/office/drawing/2014/main" id="{4BD4C465-095D-4F13-8BD4-21B192E9892D}"/>
              </a:ext>
            </a:extLst>
          </p:cNvPr>
          <p:cNvSpPr txBox="1">
            <a:spLocks noChangeArrowheads="1"/>
          </p:cNvSpPr>
          <p:nvPr/>
        </p:nvSpPr>
        <p:spPr bwMode="auto">
          <a:xfrm>
            <a:off x="827088" y="4868863"/>
            <a:ext cx="7561262" cy="1244600"/>
          </a:xfrm>
          <a:prstGeom prst="rect">
            <a:avLst/>
          </a:prstGeom>
          <a:solidFill>
            <a:schemeClr val="bg1"/>
          </a:solidFill>
          <a:ln w="571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示例：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- 100 1# $a 林顿, 詹姆斯·H.</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- 510 2# $w r $i 雇主: $a 美国国会图书馆</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a:extLst>
              <a:ext uri="{FF2B5EF4-FFF2-40B4-BE49-F238E27FC236}">
                <a16:creationId xmlns:a16="http://schemas.microsoft.com/office/drawing/2014/main" id="{E1AA1415-5EC8-4092-90FA-8BB38D1FB3B5}"/>
              </a:ext>
            </a:extLst>
          </p:cNvPr>
          <p:cNvSpPr>
            <a:spLocks noGrp="1" noChangeArrowheads="1"/>
          </p:cNvSpPr>
          <p:nvPr>
            <p:ph type="title" idx="4294967295"/>
          </p:nvPr>
        </p:nvSpPr>
        <p:spPr>
          <a:xfrm>
            <a:off x="684213" y="188913"/>
            <a:ext cx="7889875" cy="647700"/>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LC关于使用代码“r”和子字段$i的政策</a:t>
            </a:r>
          </a:p>
        </p:txBody>
      </p:sp>
      <p:sp>
        <p:nvSpPr>
          <p:cNvPr id="673795" name="Rectangle 3">
            <a:extLst>
              <a:ext uri="{FF2B5EF4-FFF2-40B4-BE49-F238E27FC236}">
                <a16:creationId xmlns:a16="http://schemas.microsoft.com/office/drawing/2014/main" id="{D0226E4B-816B-4B0D-ACD3-CD2B5423C241}"/>
              </a:ext>
            </a:extLst>
          </p:cNvPr>
          <p:cNvSpPr>
            <a:spLocks noGrp="1" noChangeArrowheads="1"/>
          </p:cNvSpPr>
          <p:nvPr>
            <p:ph type="body" idx="4294967295"/>
          </p:nvPr>
        </p:nvSpPr>
        <p:spPr>
          <a:xfrm>
            <a:off x="539750" y="4868863"/>
            <a:ext cx="8353425" cy="792162"/>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最佳实践：建议改用MARC 373字段来显示这些关联团体关系</a:t>
            </a:r>
          </a:p>
        </p:txBody>
      </p:sp>
      <p:sp>
        <p:nvSpPr>
          <p:cNvPr id="673797" name="Text Box 5">
            <a:extLst>
              <a:ext uri="{FF2B5EF4-FFF2-40B4-BE49-F238E27FC236}">
                <a16:creationId xmlns:a16="http://schemas.microsoft.com/office/drawing/2014/main" id="{004086F3-89D1-4551-BB8C-6E64D9521325}"/>
              </a:ext>
            </a:extLst>
          </p:cNvPr>
          <p:cNvSpPr txBox="1">
            <a:spLocks noChangeArrowheads="1"/>
          </p:cNvSpPr>
          <p:nvPr/>
        </p:nvSpPr>
        <p:spPr bwMode="auto">
          <a:xfrm>
            <a:off x="1042988" y="5661025"/>
            <a:ext cx="7272337" cy="860425"/>
          </a:xfrm>
          <a:prstGeom prst="rect">
            <a:avLst/>
          </a:prstGeom>
          <a:solidFill>
            <a:schemeClr val="bg1"/>
          </a:solidFill>
          <a:ln w="3810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示例：100 1# $a Guiles, Kay D.</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- 373 ## $a 美国国会图书馆 $s 1958</a:t>
            </a:r>
          </a:p>
        </p:txBody>
      </p:sp>
      <p:sp>
        <p:nvSpPr>
          <p:cNvPr id="673799" name="Rectangle 7">
            <a:extLst>
              <a:ext uri="{FF2B5EF4-FFF2-40B4-BE49-F238E27FC236}">
                <a16:creationId xmlns:a16="http://schemas.microsoft.com/office/drawing/2014/main" id="{E01C97B8-8E7B-4860-9C01-281ABD244FD5}"/>
              </a:ext>
            </a:extLst>
          </p:cNvPr>
          <p:cNvSpPr>
            <a:spLocks noChangeArrowheads="1"/>
          </p:cNvSpPr>
          <p:nvPr/>
        </p:nvSpPr>
        <p:spPr bwMode="auto">
          <a:xfrm>
            <a:off x="501650" y="1268413"/>
            <a:ext cx="8642350" cy="12954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marL="342900" indent="-342900" algn="l">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l">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l">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l">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l">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5XX字段中使用的所有名称均应已确立</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在一个NAR中使用的5XX字段，在相关NAR中无需互为对应的5XX字段</a:t>
            </a:r>
          </a:p>
        </p:txBody>
      </p:sp>
      <p:sp>
        <p:nvSpPr>
          <p:cNvPr id="673800" name="Text Box 8">
            <a:extLst>
              <a:ext uri="{FF2B5EF4-FFF2-40B4-BE49-F238E27FC236}">
                <a16:creationId xmlns:a16="http://schemas.microsoft.com/office/drawing/2014/main" id="{F97E825B-7870-45EA-A5EA-0AB14F37B813}"/>
              </a:ext>
            </a:extLst>
          </p:cNvPr>
          <p:cNvSpPr txBox="1">
            <a:spLocks noChangeArrowheads="1"/>
          </p:cNvSpPr>
          <p:nvPr/>
        </p:nvSpPr>
        <p:spPr bwMode="auto">
          <a:xfrm>
            <a:off x="1042988" y="2565400"/>
            <a:ext cx="7561262" cy="2320925"/>
          </a:xfrm>
          <a:prstGeom prst="rect">
            <a:avLst/>
          </a:prstGeom>
          <a:solidFill>
            <a:schemeClr val="bg1"/>
          </a:solidFill>
          <a:ln w="3810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- 110 2# $a 美国国会图书馆</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- 500 1# $w r $i 雇员：$a Guiles, Kay D.</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- 500 1# $w r $i 雇员：$a Reser, David</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- 500 1# $w r $i 雇员：$a Phong, Tran</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- 500 1# $w r $i 雇员：$a Sinclair, Linda</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以及大量其他示例</a:t>
            </a:r>
          </a:p>
        </p:txBody>
      </p:sp>
      <p:sp>
        <p:nvSpPr>
          <p:cNvPr id="673804" name="Line 12">
            <a:extLst>
              <a:ext uri="{FF2B5EF4-FFF2-40B4-BE49-F238E27FC236}">
                <a16:creationId xmlns:a16="http://schemas.microsoft.com/office/drawing/2014/main" id="{73C45B96-0FAA-4E8D-A917-AA37FE720426}"/>
              </a:ext>
            </a:extLst>
          </p:cNvPr>
          <p:cNvSpPr>
            <a:spLocks noChangeShapeType="1"/>
          </p:cNvSpPr>
          <p:nvPr/>
        </p:nvSpPr>
        <p:spPr bwMode="auto">
          <a:xfrm>
            <a:off x="1692275" y="2924175"/>
            <a:ext cx="5832475" cy="1512888"/>
          </a:xfrm>
          <a:prstGeom prst="line">
            <a:avLst/>
          </a:prstGeom>
          <a:noFill/>
          <a:ln w="571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73805" name="Line 13">
            <a:extLst>
              <a:ext uri="{FF2B5EF4-FFF2-40B4-BE49-F238E27FC236}">
                <a16:creationId xmlns:a16="http://schemas.microsoft.com/office/drawing/2014/main" id="{610DB5B8-D9D0-4E08-9F1C-973C2F433B07}"/>
              </a:ext>
            </a:extLst>
          </p:cNvPr>
          <p:cNvSpPr>
            <a:spLocks noChangeShapeType="1"/>
          </p:cNvSpPr>
          <p:nvPr/>
        </p:nvSpPr>
        <p:spPr bwMode="auto">
          <a:xfrm flipH="1">
            <a:off x="1979613" y="2924175"/>
            <a:ext cx="5545137" cy="1655763"/>
          </a:xfrm>
          <a:prstGeom prst="line">
            <a:avLst/>
          </a:prstGeom>
          <a:noFill/>
          <a:ln w="571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0850" name="Picture 2">
            <a:extLst>
              <a:ext uri="{FF2B5EF4-FFF2-40B4-BE49-F238E27FC236}">
                <a16:creationId xmlns:a16="http://schemas.microsoft.com/office/drawing/2014/main" id="{2CC9F6B7-15D6-45C8-A3F4-F08961C1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184" t="39380" r="3226" b="3311"/>
          <a:stretch>
            <a:fillRect/>
          </a:stretch>
        </p:blipFill>
        <p:spPr bwMode="auto">
          <a:xfrm>
            <a:off x="0" y="0"/>
            <a:ext cx="9144000" cy="651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0851" name="Text Box 3">
            <a:extLst>
              <a:ext uri="{FF2B5EF4-FFF2-40B4-BE49-F238E27FC236}">
                <a16:creationId xmlns:a16="http://schemas.microsoft.com/office/drawing/2014/main" id="{56D3B24D-764F-42B8-B997-750273F0B2FB}"/>
              </a:ext>
            </a:extLst>
          </p:cNvPr>
          <p:cNvSpPr txBox="1">
            <a:spLocks noChangeArrowheads="1"/>
          </p:cNvSpPr>
          <p:nvPr/>
        </p:nvSpPr>
        <p:spPr bwMode="auto">
          <a:xfrm>
            <a:off x="827088" y="1773238"/>
            <a:ext cx="360362"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1200">
                <a:solidFill>
                  <a:srgbClr val="000000"/>
                </a:solidFill>
                <a:latin typeface="Microsoft YaHei"/>
              </a:defRPr>
            </a:pPr>
            <a:r>
              <a:rPr sz="1200">
                <a:solidFill>
                  <a:srgbClr val="000000"/>
                </a:solidFill>
                <a:latin typeface="Microsoft YaHei"/>
              </a:rPr>
              <a:t>M</a:t>
            </a:r>
          </a:p>
        </p:txBody>
      </p:sp>
      <p:sp>
        <p:nvSpPr>
          <p:cNvPr id="590852" name="Text Box 4">
            <a:extLst>
              <a:ext uri="{FF2B5EF4-FFF2-40B4-BE49-F238E27FC236}">
                <a16:creationId xmlns:a16="http://schemas.microsoft.com/office/drawing/2014/main" id="{55C88E23-4463-4BF3-820F-686435A42997}"/>
              </a:ext>
            </a:extLst>
          </p:cNvPr>
          <p:cNvSpPr txBox="1">
            <a:spLocks noChangeArrowheads="1"/>
          </p:cNvSpPr>
          <p:nvPr/>
        </p:nvSpPr>
        <p:spPr bwMode="auto">
          <a:xfrm>
            <a:off x="827088" y="2133600"/>
            <a:ext cx="360362"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1200">
                <a:solidFill>
                  <a:srgbClr val="000000"/>
                </a:solidFill>
                <a:latin typeface="Microsoft YaHei"/>
              </a:defRPr>
            </a:pPr>
            <a:r>
              <a:rPr sz="1200">
                <a:solidFill>
                  <a:srgbClr val="000000"/>
                </a:solidFill>
                <a:latin typeface="Microsoft YaHei"/>
              </a:rPr>
              <a:t>M</a:t>
            </a:r>
          </a:p>
        </p:txBody>
      </p:sp>
      <p:sp>
        <p:nvSpPr>
          <p:cNvPr id="590853" name="Text Box 5">
            <a:extLst>
              <a:ext uri="{FF2B5EF4-FFF2-40B4-BE49-F238E27FC236}">
                <a16:creationId xmlns:a16="http://schemas.microsoft.com/office/drawing/2014/main" id="{04F9A762-D91D-4063-B17B-F1429EB8FEEB}"/>
              </a:ext>
            </a:extLst>
          </p:cNvPr>
          <p:cNvSpPr txBox="1">
            <a:spLocks noChangeArrowheads="1"/>
          </p:cNvSpPr>
          <p:nvPr/>
        </p:nvSpPr>
        <p:spPr bwMode="auto">
          <a:xfrm>
            <a:off x="6227763" y="115888"/>
            <a:ext cx="26654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示例</a:t>
            </a:r>
          </a:p>
        </p:txBody>
      </p:sp>
      <p:sp>
        <p:nvSpPr>
          <p:cNvPr id="590854" name="Rectangle 6">
            <a:extLst>
              <a:ext uri="{FF2B5EF4-FFF2-40B4-BE49-F238E27FC236}">
                <a16:creationId xmlns:a16="http://schemas.microsoft.com/office/drawing/2014/main" id="{07B025EF-3209-4954-835C-70443AEFA73A}"/>
              </a:ext>
            </a:extLst>
          </p:cNvPr>
          <p:cNvSpPr>
            <a:spLocks noChangeArrowheads="1"/>
          </p:cNvSpPr>
          <p:nvPr/>
        </p:nvSpPr>
        <p:spPr bwMode="auto">
          <a:xfrm>
            <a:off x="0" y="2420938"/>
            <a:ext cx="5364163" cy="1439862"/>
          </a:xfrm>
          <a:prstGeom prst="rect">
            <a:avLst/>
          </a:prstGeom>
          <a:noFill/>
          <a:ln w="38100" algn="ctr">
            <a:solidFill>
              <a:srgbClr val="D24028"/>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90855" name="TextBox 590854"/>
          <p:cNvSpPr txBox="1"/>
          <p:nvPr/>
        </p:nvSpPr>
        <p:spPr>
          <a:xfrm>
            <a:off x="0" y="0"/>
            <a:ext cx="9144000" cy="6519863"/>
          </a:xfrm>
          <a:prstGeom prst="rect">
            <a:avLst/>
          </a:prstGeom>
          <a:noFill/>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010 $a n 79055407</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035 $a (OCoLC)pca00288518</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示例</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040 $a DLC $b eng $c DLC $d DLC $d OCI $d OCoLC $d DLC $d UPB $d DLC</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046 $s 1935 $t 1949</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110 2 $a 派拉蒙影业公司</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372 $a 电影制作</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372 $a 电影发行</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510 2 $w r $i 前身：$a 派拉蒙公共公司</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510 2 $w r $i 分拆产物：$a 派拉蒙影业公司</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510 2 $w r $i 分拆产物：$a 联合派拉蒙剧院</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510 2 $w r $i 层级从属：$a 派拉蒙制作</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670 $a 其派拉蒙20周年庆典，约1931年。</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670 $a 国际电影年鉴 1982 $b (派拉蒙影业公司于1935年成立；前身为派拉蒙公共公司[1930-1935]；1949年改回名为派拉蒙影业公司[也用于1914-1918])</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670 $a 版权目录，电影 1912-1939, 1951 $b (派拉蒙影业公司作为派拉蒙电影的版权所有者出现，时间约为1936年至1939年；与1936年的派拉蒙制作重叠可能是由于派拉蒙在此期间进行了公司重组)</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670 $a Slide, T. 美国电影业，1986: $b 第257页 (派拉蒙在20世纪30年代初遭受财务挫折，并于1933年被迫宣布破产；在1935年的重组中，它重新以派拉蒙影业公司的身份出现。)</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Rectangle 2">
            <a:extLst>
              <a:ext uri="{FF2B5EF4-FFF2-40B4-BE49-F238E27FC236}">
                <a16:creationId xmlns:a16="http://schemas.microsoft.com/office/drawing/2014/main" id="{6ECC0220-D65B-4441-9B2B-761CA5F7744D}"/>
              </a:ext>
            </a:extLst>
          </p:cNvPr>
          <p:cNvSpPr>
            <a:spLocks noGrp="1" noChangeArrowheads="1"/>
          </p:cNvSpPr>
          <p:nvPr>
            <p:ph type="title" idx="4294967295"/>
          </p:nvPr>
        </p:nvSpPr>
        <p:spPr>
          <a:xfrm>
            <a:off x="827088" y="301625"/>
            <a:ext cx="7856537" cy="823913"/>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附录J：规范记录（NAR）中的关系标识符</a:t>
            </a:r>
          </a:p>
        </p:txBody>
      </p:sp>
      <p:sp>
        <p:nvSpPr>
          <p:cNvPr id="649219" name="Rectangle 3">
            <a:extLst>
              <a:ext uri="{FF2B5EF4-FFF2-40B4-BE49-F238E27FC236}">
                <a16:creationId xmlns:a16="http://schemas.microsoft.com/office/drawing/2014/main" id="{56DAA62F-D06B-49D3-8358-04ED9F22589F}"/>
              </a:ext>
            </a:extLst>
          </p:cNvPr>
          <p:cNvSpPr>
            <a:spLocks noGrp="1" noChangeArrowheads="1"/>
          </p:cNvSpPr>
          <p:nvPr>
            <p:ph type="body" idx="4294967295"/>
          </p:nvPr>
        </p:nvSpPr>
        <p:spPr>
          <a:xfrm>
            <a:off x="684213" y="1196975"/>
            <a:ext cx="7999412" cy="4745038"/>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示例：</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046 ## $k 1933</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130 ## $a 《魔鬼兄弟》（电影）</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380 ## $a 电影</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500 1# $w r $i 影视改编作品：‡a 	Auber, D. F. E. $q (Daniel François Esprit), $d 	1782-1871. $t Fra Diavolo</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670 ## $a 《魔鬼兄弟》，1933年。</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670 ## $a  IMDB.com，2010年12月27日 ‡b （《魔鬼兄弟》；改编自奥贝尔《Fra Diavolo》的电影，由米高梅公司制作并于1933年发行）</a:t>
            </a:r>
          </a:p>
        </p:txBody>
      </p:sp>
      <p:sp>
        <p:nvSpPr>
          <p:cNvPr id="649220" name="Rectangle 4">
            <a:extLst>
              <a:ext uri="{FF2B5EF4-FFF2-40B4-BE49-F238E27FC236}">
                <a16:creationId xmlns:a16="http://schemas.microsoft.com/office/drawing/2014/main" id="{E6DFB637-09A5-41F4-91D8-743A5C1B943C}"/>
              </a:ext>
            </a:extLst>
          </p:cNvPr>
          <p:cNvSpPr>
            <a:spLocks noChangeArrowheads="1"/>
          </p:cNvSpPr>
          <p:nvPr/>
        </p:nvSpPr>
        <p:spPr bwMode="auto">
          <a:xfrm>
            <a:off x="755650" y="1628775"/>
            <a:ext cx="7993063" cy="4537075"/>
          </a:xfrm>
          <a:prstGeom prst="rect">
            <a:avLst/>
          </a:prstGeom>
          <a:noFill/>
          <a:ln w="38100"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a:extLst>
              <a:ext uri="{FF2B5EF4-FFF2-40B4-BE49-F238E27FC236}">
                <a16:creationId xmlns:a16="http://schemas.microsoft.com/office/drawing/2014/main" id="{72D43A29-C19C-4B00-86F3-03895470E613}"/>
              </a:ext>
            </a:extLst>
          </p:cNvPr>
          <p:cNvSpPr>
            <a:spLocks noGrp="1" noChangeArrowheads="1"/>
          </p:cNvSpPr>
          <p:nvPr>
            <p:ph type="title" idx="4294967295"/>
          </p:nvPr>
        </p:nvSpPr>
        <p:spPr>
          <a:xfrm>
            <a:off x="827088" y="301625"/>
            <a:ext cx="7856537" cy="823913"/>
          </a:xfrm>
        </p:spPr>
        <p:txBody>
          <a:bodyP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附录J：NAR中的关系标识符</a:t>
            </a:r>
          </a:p>
        </p:txBody>
      </p:sp>
      <p:sp>
        <p:nvSpPr>
          <p:cNvPr id="650243" name="Rectangle 3">
            <a:extLst>
              <a:ext uri="{FF2B5EF4-FFF2-40B4-BE49-F238E27FC236}">
                <a16:creationId xmlns:a16="http://schemas.microsoft.com/office/drawing/2014/main" id="{F560E833-312C-4C34-942C-6295BB863A12}"/>
              </a:ext>
            </a:extLst>
          </p:cNvPr>
          <p:cNvSpPr>
            <a:spLocks noGrp="1" noChangeArrowheads="1"/>
          </p:cNvSpPr>
          <p:nvPr>
            <p:ph type="body" idx="4294967295"/>
          </p:nvPr>
        </p:nvSpPr>
        <p:spPr>
          <a:xfrm>
            <a:off x="684213" y="1341438"/>
            <a:ext cx="7999412" cy="4967287"/>
          </a:xfrm>
          <a:solidFill>
            <a:schemeClr val="bg1"/>
          </a:solidFill>
        </p:spPr>
        <p:txBody>
          <a:bodyPr wrap="square">
            <a:noAutofit/>
          </a:bodyPr>
          <a:lstStyle/>
          <a:p>
            <a:pPr>
              <a:lnSpc>
                <a:spcPct val="118000"/>
              </a:lnSpc>
              <a:spcBef>
                <a:spcPts val="0"/>
              </a:spcBef>
              <a:spcAft>
                <a:spcPts val="0"/>
              </a:spcAft>
              <a:defRPr sz="2400">
                <a:solidFill>
                  <a:srgbClr val="000000"/>
                </a:solidFill>
                <a:latin typeface="Calibri"/>
              </a:defRPr>
            </a:pPr>
            <a:r>
              <a:rPr sz="2400">
                <a:solidFill>
                  <a:srgbClr val="000000"/>
                </a:solidFill>
                <a:latin typeface="Calibri"/>
              </a:rPr>
              <a:t>示例：</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046 ## $k 1830</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100 1# $a 奥贝尔，D. F. E. $q (丹尼尔·弗朗索瓦·埃斯普里), $d 	1782-1871. $t 《弗拉·迪亚沃洛》</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380 ## $a 歌剧</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530 ## $w r $i 改编为电影（作品）：‡a 	《魔鬼兄弟》（电影）</a:t>
            </a:r>
          </a:p>
          <a:p>
            <a:pPr>
              <a:lnSpc>
                <a:spcPct val="118000"/>
              </a:lnSpc>
              <a:spcBef>
                <a:spcPts val="0"/>
              </a:spcBef>
              <a:spcAft>
                <a:spcPts val="0"/>
              </a:spcAft>
              <a:defRPr sz="2400">
                <a:solidFill>
                  <a:srgbClr val="000000"/>
                </a:solidFill>
                <a:latin typeface="Calibri"/>
              </a:defRPr>
            </a:pPr>
            <a:r>
              <a:rPr sz="2400">
                <a:solidFill>
                  <a:srgbClr val="000000"/>
                </a:solidFill>
                <a:latin typeface="Calibri"/>
              </a:rPr>
              <a:t>670 ## $a  维基百科，2010年12月27日 ‡b （《弗拉·迪亚沃洛》；	特拉奇纳客栈；特拉奇纳旅馆；丹尼尔·奥贝尔创作的喜歌剧；大致基于米凯莱·佩扎的生平；1830年1月28日在巴黎首演）</a:t>
            </a:r>
          </a:p>
        </p:txBody>
      </p:sp>
      <p:sp>
        <p:nvSpPr>
          <p:cNvPr id="650244" name="Rectangle 4">
            <a:extLst>
              <a:ext uri="{FF2B5EF4-FFF2-40B4-BE49-F238E27FC236}">
                <a16:creationId xmlns:a16="http://schemas.microsoft.com/office/drawing/2014/main" id="{5C8EB379-F094-497A-9F8B-71FFCCF29DC4}"/>
              </a:ext>
            </a:extLst>
          </p:cNvPr>
          <p:cNvSpPr>
            <a:spLocks noChangeArrowheads="1"/>
          </p:cNvSpPr>
          <p:nvPr/>
        </p:nvSpPr>
        <p:spPr bwMode="auto">
          <a:xfrm>
            <a:off x="755650" y="1844675"/>
            <a:ext cx="7993063" cy="4321175"/>
          </a:xfrm>
          <a:prstGeom prst="rect">
            <a:avLst/>
          </a:prstGeom>
          <a:noFill/>
          <a:ln w="38100"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6" name="Text Box 4">
            <a:extLst>
              <a:ext uri="{FF2B5EF4-FFF2-40B4-BE49-F238E27FC236}">
                <a16:creationId xmlns:a16="http://schemas.microsoft.com/office/drawing/2014/main" id="{046D822D-4718-4D5B-995D-20B837BB98A2}"/>
              </a:ext>
            </a:extLst>
          </p:cNvPr>
          <p:cNvSpPr txBox="1">
            <a:spLocks noChangeArrowheads="1"/>
          </p:cNvSpPr>
          <p:nvPr/>
        </p:nvSpPr>
        <p:spPr bwMode="auto">
          <a:xfrm>
            <a:off x="684213" y="1557338"/>
            <a:ext cx="8207375" cy="3022600"/>
          </a:xfrm>
          <a:prstGeom prst="rect">
            <a:avLst/>
          </a:prstGeom>
          <a:solidFill>
            <a:schemeClr val="bg1"/>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100 1# $a 三岛由纪夫, $d 1925-1970. $t 潮骚. $l 英语</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400 1# $a 三岛由纪夫, $d 1925-1970. $t 潮骚</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670 ## $a 潮骚, 1994.</a:t>
            </a:r>
          </a:p>
        </p:txBody>
      </p:sp>
      <p:sp>
        <p:nvSpPr>
          <p:cNvPr id="668688" name="Rectangle 16">
            <a:extLst>
              <a:ext uri="{FF2B5EF4-FFF2-40B4-BE49-F238E27FC236}">
                <a16:creationId xmlns:a16="http://schemas.microsoft.com/office/drawing/2014/main" id="{C0D29128-C740-439C-A0CB-9C365FE740ED}"/>
              </a:ext>
            </a:extLst>
          </p:cNvPr>
          <p:cNvSpPr>
            <a:spLocks noGrp="1" noChangeArrowheads="1"/>
          </p:cNvSpPr>
          <p:nvPr>
            <p:ph type="title" idx="4294967295"/>
          </p:nvPr>
        </p:nvSpPr>
        <p:spPr>
          <a:xfrm>
            <a:off x="611188" y="333375"/>
            <a:ext cx="8353425" cy="863600"/>
          </a:xfrm>
          <a:noFill/>
        </p:spPr>
        <p:txBody>
          <a:bodyPr anchor="ctr" wrap="square">
            <a:noAutofit/>
          </a:bodyPr>
          <a:lstStyle/>
          <a:p>
            <a:pPr>
              <a:lnSpc>
                <a:spcPct val="118000"/>
              </a:lnSpc>
              <a:spcBef>
                <a:spcPts val="0"/>
              </a:spcBef>
              <a:spcAft>
                <a:spcPts val="0"/>
              </a:spcAft>
              <a:defRPr sz="3200">
                <a:solidFill>
                  <a:srgbClr val="000000"/>
                </a:solidFill>
                <a:latin typeface="Calibri"/>
              </a:defRPr>
            </a:pPr>
            <a:r>
              <a:rPr sz="3200">
                <a:solidFill>
                  <a:srgbClr val="000000"/>
                </a:solidFill>
                <a:latin typeface="Calibri"/>
              </a:rPr>
              <a:t>附录J：NAR中的关系标识符</a:t>
            </a:r>
          </a:p>
          <a:p>
            <a:pPr>
              <a:lnSpc>
                <a:spcPct val="118000"/>
              </a:lnSpc>
              <a:spcBef>
                <a:spcPts val="0"/>
              </a:spcBef>
              <a:spcAft>
                <a:spcPts val="0"/>
              </a:spcAft>
              <a:defRPr sz="3200">
                <a:solidFill>
                  <a:srgbClr val="000000"/>
                </a:solidFill>
                <a:latin typeface="Calibri"/>
              </a:defRPr>
            </a:pPr>
            <a:r>
              <a:rPr sz="3200">
                <a:solidFill>
                  <a:srgbClr val="000000"/>
                </a:solidFill>
                <a:latin typeface="Calibri"/>
              </a:rPr>
              <a:t>附加测验：</a:t>
            </a:r>
          </a:p>
        </p:txBody>
      </p:sp>
      <p:sp>
        <p:nvSpPr>
          <p:cNvPr id="668689" name="Text Box 17">
            <a:extLst>
              <a:ext uri="{FF2B5EF4-FFF2-40B4-BE49-F238E27FC236}">
                <a16:creationId xmlns:a16="http://schemas.microsoft.com/office/drawing/2014/main" id="{6C26F432-2C62-4CE5-8729-0202700075A1}"/>
              </a:ext>
            </a:extLst>
          </p:cNvPr>
          <p:cNvSpPr txBox="1">
            <a:spLocks noChangeArrowheads="1"/>
          </p:cNvSpPr>
          <p:nvPr/>
        </p:nvSpPr>
        <p:spPr bwMode="auto">
          <a:xfrm>
            <a:off x="179388" y="2133600"/>
            <a:ext cx="51847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336 ## $a 文本 $2 rdacontent</a:t>
            </a:r>
          </a:p>
        </p:txBody>
      </p:sp>
      <p:sp>
        <p:nvSpPr>
          <p:cNvPr id="668690" name="Text Box 18">
            <a:extLst>
              <a:ext uri="{FF2B5EF4-FFF2-40B4-BE49-F238E27FC236}">
                <a16:creationId xmlns:a16="http://schemas.microsoft.com/office/drawing/2014/main" id="{FF100EB3-A87D-4548-8E98-EB02E3ECE575}"/>
              </a:ext>
            </a:extLst>
          </p:cNvPr>
          <p:cNvSpPr txBox="1">
            <a:spLocks noChangeArrowheads="1"/>
          </p:cNvSpPr>
          <p:nvPr/>
        </p:nvSpPr>
        <p:spPr bwMode="auto">
          <a:xfrm>
            <a:off x="684213" y="3213100"/>
            <a:ext cx="8243887"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500 1# $w r $i 译自：$a 三岛由纪夫, $d 1925-1970. 	$t 潮骚</a:t>
            </a:r>
          </a:p>
        </p:txBody>
      </p:sp>
      <p:sp>
        <p:nvSpPr>
          <p:cNvPr id="668692" name="Text Box 20">
            <a:extLst>
              <a:ext uri="{FF2B5EF4-FFF2-40B4-BE49-F238E27FC236}">
                <a16:creationId xmlns:a16="http://schemas.microsoft.com/office/drawing/2014/main" id="{E96E85B3-A1A4-4974-B39D-27A090BF8532}"/>
              </a:ext>
            </a:extLst>
          </p:cNvPr>
          <p:cNvSpPr txBox="1">
            <a:spLocks noChangeArrowheads="1"/>
          </p:cNvSpPr>
          <p:nvPr/>
        </p:nvSpPr>
        <p:spPr bwMode="auto">
          <a:xfrm>
            <a:off x="539750" y="5084763"/>
            <a:ext cx="8424863" cy="1196975"/>
          </a:xfrm>
          <a:prstGeom prst="rect">
            <a:avLst/>
          </a:prstGeom>
          <a:solidFill>
            <a:schemeClr val="bg1"/>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100 1# $a 三岛由纪夫, $d 1925-1970. $t 潮骚</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500 1# $w r $i 译为：$a 三岛由纪夫, $d 1925-1970. $t 潮骚. $l 英语</a:t>
            </a:r>
          </a:p>
        </p:txBody>
      </p:sp>
      <p:sp>
        <p:nvSpPr>
          <p:cNvPr id="668693" name="Text Box 21">
            <a:extLst>
              <a:ext uri="{FF2B5EF4-FFF2-40B4-BE49-F238E27FC236}">
                <a16:creationId xmlns:a16="http://schemas.microsoft.com/office/drawing/2014/main" id="{7724698F-4688-4706-8317-F6D8D0CF0802}"/>
              </a:ext>
            </a:extLst>
          </p:cNvPr>
          <p:cNvSpPr txBox="1">
            <a:spLocks noChangeArrowheads="1"/>
          </p:cNvSpPr>
          <p:nvPr/>
        </p:nvSpPr>
        <p:spPr bwMode="auto">
          <a:xfrm>
            <a:off x="323850" y="4652963"/>
            <a:ext cx="5111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互惠式NAR参考价值有限：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868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869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869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686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89" grpId="0"/>
      <p:bldP spid="668690" grpId="0"/>
      <p:bldP spid="668692" grpId="0" animBg="1"/>
      <p:bldP spid="66869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a:extLst>
              <a:ext uri="{FF2B5EF4-FFF2-40B4-BE49-F238E27FC236}">
                <a16:creationId xmlns:a16="http://schemas.microsoft.com/office/drawing/2014/main" id="{59F4D99B-2A7A-4AE6-9396-D06E8360D806}"/>
              </a:ext>
            </a:extLst>
          </p:cNvPr>
          <p:cNvSpPr>
            <a:spLocks noGrp="1" noChangeArrowheads="1"/>
          </p:cNvSpPr>
          <p:nvPr>
            <p:ph type="title" idx="4294967295"/>
          </p:nvPr>
        </p:nvSpPr>
        <p:spPr>
          <a:xfrm>
            <a:off x="1042988" y="1700213"/>
            <a:ext cx="7889875" cy="719137"/>
          </a:xfrm>
        </p:spPr>
        <p:txBody>
          <a:bodyPr wrap="square">
            <a:noAutofit/>
          </a:bodyPr>
          <a:lstStyle/>
          <a:p>
            <a:pPr>
              <a:lnSpc>
                <a:spcPct val="118000"/>
              </a:lnSpc>
              <a:spcBef>
                <a:spcPts val="0"/>
              </a:spcBef>
              <a:spcAft>
                <a:spcPts val="0"/>
              </a:spcAft>
              <a:defRPr sz="2000">
                <a:solidFill>
                  <a:srgbClr val="000000"/>
                </a:solidFill>
                <a:latin typeface="Calibri"/>
              </a:defRPr>
            </a:pPr>
            <a:r>
              <a:rPr sz="2000">
                <a:solidFill>
                  <a:srgbClr val="000000"/>
                </a:solidFill>
                <a:latin typeface="Calibri"/>
              </a:rPr>
              <a:t>有问题？  LChelpforRDA@loc.gov</a:t>
            </a:r>
          </a:p>
        </p:txBody>
      </p:sp>
    </p:spTree>
  </p:cSld>
  <p:clrMapOvr>
    <a:masterClrMapping/>
  </p:clrMapOvr>
</p:sld>
</file>

<file path=ppt/theme/theme1.xml><?xml version="1.0" encoding="utf-8"?>
<a:theme xmlns:a="http://schemas.openxmlformats.org/drawingml/2006/main" name="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9095</TotalTime>
  <Words>4865</Words>
  <Application>Microsoft Office PowerPoint</Application>
  <PresentationFormat>全屏显示(4:3)</PresentationFormat>
  <Paragraphs>307</Paragraphs>
  <Slides>26</Slides>
  <Notes>25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26</vt:i4>
      </vt:variant>
    </vt:vector>
  </HeadingPairs>
  <TitlesOfParts>
    <vt:vector size="33" baseType="lpstr">
      <vt:lpstr>Calibri</vt:lpstr>
      <vt:lpstr>Times New Roman</vt:lpstr>
      <vt:lpstr>Arial</vt:lpstr>
      <vt:lpstr>Verdana</vt:lpstr>
      <vt:lpstr>Wingdings</vt:lpstr>
      <vt:lpstr>Wingdings 2</vt:lpstr>
      <vt:lpstr>Eclipse</vt:lpstr>
      <vt:lpstr>RDA Special Topics: Relationship Designators in RDA Name Authority Records (NARs)</vt:lpstr>
      <vt:lpstr>RDA – Appendix K  Chapter 29 Guidelines on recording relationships … Related persons – Chapter 30 Related families – Chapter 31 Related corporate bodies – Chapter 32 RDA- Appendix J Chapter 25 – Related works  Chapter 26 – Related expressions  </vt:lpstr>
      <vt:lpstr>Relationship Designators – Overview</vt:lpstr>
      <vt:lpstr>Appendix I – Reminder:  Relationship Designators for Bibliographic Records – Quiz</vt:lpstr>
      <vt:lpstr>Relationship designators (29.5) - Appendix K </vt:lpstr>
      <vt:lpstr>PowerPoint 演示文稿</vt:lpstr>
      <vt:lpstr>PowerPoint 演示文稿</vt:lpstr>
      <vt:lpstr>LC Policy: code “r” and subfield $i</vt:lpstr>
      <vt:lpstr>LC Policy: code “r” and subfield $i –Family names</vt:lpstr>
      <vt:lpstr>Example  -  code “r” and subfield $i –Family names</vt:lpstr>
      <vt:lpstr>LC Policy for use of code “r” and subfield $i</vt:lpstr>
      <vt:lpstr>LC Policy: code “r” and subfield $i- Pseudonyms</vt:lpstr>
      <vt:lpstr>LC Policy code “r” and subfield $i – Corporate bodies</vt:lpstr>
      <vt:lpstr>Subfield $w – Earlier/Later – Corporate bodies</vt:lpstr>
      <vt:lpstr>LC Policy code “r” and subfield $i –Corporate bodies</vt:lpstr>
      <vt:lpstr> LC policy subfield $w r and $i – Relationship designator – Corporate body</vt:lpstr>
      <vt:lpstr>LC Policy code “r” and subfield $i – Corporate bodies</vt:lpstr>
      <vt:lpstr>LC Policy: code “r” and subfield $i</vt:lpstr>
      <vt:lpstr>LC Policy: code “r” and subfield $i – Relationship designators missing from Appendix K</vt:lpstr>
      <vt:lpstr>LC Policy: code “r” and subfield $i</vt:lpstr>
      <vt:lpstr>LC Policy for use of code “r” and subfield $i</vt:lpstr>
      <vt:lpstr>PowerPoint 演示文稿</vt:lpstr>
      <vt:lpstr>Appendix J:  Relationship designators in NARs </vt:lpstr>
      <vt:lpstr>Appendix J: Relationship designators in NARs </vt:lpstr>
      <vt:lpstr>Appendix J: Relationship designators in NARs Bonus quiz: </vt:lpstr>
      <vt:lpstr>QUESTIONS?  LChelpforRDA@loc.gov  </vt:lpstr>
    </vt:vector>
  </TitlesOfParts>
  <Company>Library of Congress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Relationship Designators in Name Authority Records</dc:title>
  <dc:creator>Ana Cristan</dc:creator>
  <cp:lastModifiedBy>家梁</cp:lastModifiedBy>
  <cp:revision>1082</cp:revision>
  <dcterms:created xsi:type="dcterms:W3CDTF">2010-11-01T19:36:39Z</dcterms:created>
  <dcterms:modified xsi:type="dcterms:W3CDTF">2026-04-21T11:34:06Z</dcterms:modified>
</cp:coreProperties>
</file>