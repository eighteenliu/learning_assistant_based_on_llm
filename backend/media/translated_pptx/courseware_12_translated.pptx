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457" r:id="rId2"/>
    <p:sldId id="445" r:id="rId3"/>
    <p:sldId id="442" r:id="rId4"/>
    <p:sldId id="443" r:id="rId5"/>
    <p:sldId id="444" r:id="rId6"/>
    <p:sldId id="504" r:id="rId7"/>
    <p:sldId id="505" r:id="rId8"/>
    <p:sldId id="506" r:id="rId9"/>
    <p:sldId id="507" r:id="rId10"/>
    <p:sldId id="458" r:id="rId11"/>
    <p:sldId id="459" r:id="rId12"/>
    <p:sldId id="461" r:id="rId13"/>
    <p:sldId id="462" r:id="rId14"/>
    <p:sldId id="463" r:id="rId15"/>
    <p:sldId id="464" r:id="rId16"/>
    <p:sldId id="468" r:id="rId17"/>
    <p:sldId id="469" r:id="rId18"/>
    <p:sldId id="470" r:id="rId19"/>
    <p:sldId id="471" r:id="rId20"/>
    <p:sldId id="472" r:id="rId21"/>
    <p:sldId id="473" r:id="rId22"/>
    <p:sldId id="474" r:id="rId23"/>
    <p:sldId id="475" r:id="rId24"/>
    <p:sldId id="502" r:id="rId25"/>
    <p:sldId id="503" r:id="rId26"/>
    <p:sldId id="479" r:id="rId27"/>
    <p:sldId id="512" r:id="rId28"/>
    <p:sldId id="500" r:id="rId29"/>
    <p:sldId id="480" r:id="rId30"/>
    <p:sldId id="481" r:id="rId31"/>
    <p:sldId id="482" r:id="rId32"/>
    <p:sldId id="483" r:id="rId33"/>
    <p:sldId id="439" r:id="rId3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rgbClr val="FFFF99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rgbClr val="FFFF99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rgbClr val="FFFF99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rgbClr val="FFFF99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rgbClr val="FFFF99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FFFF99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FFFF99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FFFF99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FFFF99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00"/>
    <a:srgbClr val="FFFF66"/>
    <a:srgbClr val="FFFF00"/>
    <a:srgbClr val="FF3300"/>
    <a:srgbClr val="FFFF99"/>
    <a:srgbClr val="EAEAEA"/>
    <a:srgbClr val="3B6190"/>
    <a:srgbClr val="3547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 autoAdjust="0"/>
  </p:normalViewPr>
  <p:slideViewPr>
    <p:cSldViewPr>
      <p:cViewPr>
        <p:scale>
          <a:sx n="75" d="100"/>
          <a:sy n="75" d="100"/>
        </p:scale>
        <p:origin x="-258" y="-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" Type="http://schemas.openxmlformats.org/officeDocument/2006/relationships/slide" Target="slides/slide2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" Type="http://schemas.openxmlformats.org/officeDocument/2006/relationships/slide" Target="slides/slide3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_rels/viewProps.xml.rels><?xml version='1.0' encoding='UTF-8' standalone='yes'?>
<Relationships xmlns="http://schemas.openxmlformats.org/package/2006/relationships"><Relationship Id="rId1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98053B6-20D2-43ED-A6A4-4F17F5181CE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D2CB9A1-A040-42A2-B074-55AB84AEF39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FD9255A7-8710-4419-9073-057A9261C07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DD69E504-969E-4FC1-87B5-A14B549271A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fld id="{2A8E9C74-50E4-4816-9D6F-5C10874341C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7C2269B-3FC7-4E08-AB8D-1D0506547DA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5FCADB4-3570-4DF1-BF53-43228C65F22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DD3F9262-A042-414D-AA80-B0339FC4D1DF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D50B0E2-1BE3-4B93-88E7-273EFCFD27E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4B4860B-25B4-4B31-9909-45AD727228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1DE0067-DCB7-442A-8DFD-1A07153CFF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fld id="{24B65946-DE4F-4D34-B824-EFCC8E8C081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EF06D9E-E496-4488-8B2F-F5B9842E6B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1F7A20-B65A-47FE-A7A9-2F2869397CFE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44738" name="Rectangle 2">
            <a:extLst>
              <a:ext uri="{FF2B5EF4-FFF2-40B4-BE49-F238E27FC236}">
                <a16:creationId xmlns:a16="http://schemas.microsoft.com/office/drawing/2014/main" id="{DBB4C660-9CD9-4E5F-9A65-EEF1040D3DE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5863" y="723900"/>
            <a:ext cx="4640262" cy="3479800"/>
          </a:xfrm>
          <a:ln/>
        </p:spPr>
      </p:sp>
      <p:sp>
        <p:nvSpPr>
          <p:cNvPr id="244739" name="Rectangle 3">
            <a:extLst>
              <a:ext uri="{FF2B5EF4-FFF2-40B4-BE49-F238E27FC236}">
                <a16:creationId xmlns:a16="http://schemas.microsoft.com/office/drawing/2014/main" id="{15C7B3A2-C4E7-47A9-B29A-31C411F8C4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21188"/>
            <a:ext cx="5140325" cy="4205287"/>
          </a:xfrm>
        </p:spPr>
        <p:txBody>
          <a:bodyPr/>
          <a:lstStyle/>
          <a:p>
            <a:endParaRPr lang="de-DE" altLang="zh-CN"/>
          </a:p>
          <a:p>
            <a:endParaRPr lang="de-DE" altLang="zh-CN"/>
          </a:p>
          <a:p>
            <a:r>
              <a:rPr lang="de-DE" altLang="zh-CN"/>
              <a:t>Wegen der zunehmenden Bedeutung von Digitalen Systemlösungen hat Z/I eine Hochauflösende / Digitale / Luftbild / Reihen / Meß / Kamera entwickelt.</a:t>
            </a:r>
          </a:p>
          <a:p>
            <a:endParaRPr lang="de-DE" altLang="zh-CN"/>
          </a:p>
          <a:p>
            <a:r>
              <a:rPr lang="de-DE" altLang="zh-CN"/>
              <a:t>Während der Text gesprochen wird, entsteht eine Bildserie am Folienrand und gleichzeitig auf dem Monitor im Flugzeug, 1 Bild / 2 Sekunden; dabei Geräusch von Kamera / Verschluß, Dreieck Field of View ca. 75° leuchtet auf bei jeder Auslösung</a:t>
            </a:r>
          </a:p>
          <a:p>
            <a:r>
              <a:rPr lang="de-DE" altLang="zh-CN"/>
              <a:t>am Ende der Szene wird das digitale Bild hochgezoomt,</a:t>
            </a:r>
          </a:p>
          <a:p>
            <a:endParaRPr lang="de-DE" altLang="zh-C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5C1AB-CB7C-41F0-9B35-97BB0A5F7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636A35-9409-4F94-B734-274624F48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54840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26EB2-3828-4D88-8E65-ABB776A88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7309F7-7309-44CD-84F4-502C642E8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413614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32B48-19BC-4949-9FCE-631F4B91C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FC7D59-E919-4028-8624-75DDDDDBC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6587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12FA5-5E89-43BB-B34E-3E5A1066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F464FC-CF3F-4862-87E6-0CCA7E90E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114B80-8CA6-4B9C-8D38-5B07A8407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449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ADD9E-BF47-400A-BDD4-889F89D5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89D878-34DE-4377-BB85-DC6B01E93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7AB9D5-B1D7-4AC4-8B65-ECB5D1654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6759E9-FBAE-4FFA-BB69-6E5A35C46C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EF9BC2-9D5A-4570-98FC-3C6DD78995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10651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EA319-0036-4D66-81D9-07BD751B7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07181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9175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AF234-917B-40A5-9CBF-C71A6A4F5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5F97E8-91AC-421D-8620-D2985DDFD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86103C-0494-4DFF-A6D5-E12C50964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80898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1057E-8DE6-4C4D-BBE9-CA264B668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5F27517-DA4A-4D0B-8D90-2C42CC965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323D45-CD5E-4617-AD55-6392AC7F7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33999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74D2C-3F7A-412C-AD9A-1395EF479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3A7663-8D62-411D-8474-F37F7CBA2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86996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E05750-ADD5-4D40-8C6E-5378FD5A9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0182CF-4C46-4681-AB32-7B3BC79CB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940749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AB336-D998-4C24-9982-FA347732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F727DF1B-3699-4148-9ED3-294531831EEC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981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BFE13-8741-41E6-B13D-2AAE33AF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D7CBD5BA-36D9-42FE-B626-E2BF6C0D20D3}"/>
              </a:ext>
            </a:extLst>
          </p:cNvPr>
          <p:cNvSpPr>
            <a:spLocks noGrp="1"/>
          </p:cNvSpPr>
          <p:nvPr>
            <p:ph type="chart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0390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7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0AD16C9-4642-44A6-B155-0EE09A43C5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5825FFC-4889-4895-AEF3-CA530FD453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3"/>
            <a:r>
              <a:rPr lang="en-US" altLang="zh-CN"/>
              <a:t>Second level</a:t>
            </a:r>
          </a:p>
          <a:p>
            <a:pPr lvl="4"/>
            <a:r>
              <a:rPr lang="en-US" altLang="zh-CN"/>
              <a:t>Third level</a:t>
            </a:r>
          </a:p>
          <a:p>
            <a:pPr lvl="4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88C6570-6391-424C-87B2-479C46709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29325"/>
            <a:ext cx="9144000" cy="82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CC9D29FD-0A1B-4626-9E44-D9128152B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38100">
            <a:solidFill>
              <a:srgbClr val="FFFF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fontAlgn="base">
        <a:spcBef>
          <a:spcPct val="0"/>
        </a:spcBef>
        <a:spcAft>
          <a:spcPct val="0"/>
        </a:spcAft>
        <a:defRPr sz="4000" b="1" kern="1200">
          <a:solidFill>
            <a:srgbClr val="FFFF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rgbClr val="FFFF99"/>
          </a:solidFill>
          <a:latin typeface="Calibri" panose="020F050202020403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rgbClr val="FFFF99"/>
          </a:solidFill>
          <a:latin typeface="Calibri" panose="020F050202020403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rgbClr val="FFFF99"/>
          </a:solidFill>
          <a:latin typeface="Calibri" panose="020F050202020403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rgbClr val="FFFF99"/>
          </a:solidFill>
          <a:latin typeface="Calibri" panose="020F0502020204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FFFF99"/>
          </a:solidFill>
          <a:latin typeface="Calibri" panose="020F0502020204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FFFF99"/>
          </a:solidFill>
          <a:latin typeface="Calibri" panose="020F0502020204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FFFF99"/>
          </a:solidFill>
          <a:latin typeface="Calibri" panose="020F0502020204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FFFF99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rgbClr val="EAEAEA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rgbClr val="EAEAEA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rgbClr val="EAEAEA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rgbClr val="EAEAEA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rgbClr val="EAEAE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eg"/><Relationship Id="rId3" Type="http://schemas.openxmlformats.org/officeDocument/2006/relationships/image" Target="../media/image11.w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w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3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146" name="Picture 2">
            <a:extLst>
              <a:ext uri="{FF2B5EF4-FFF2-40B4-BE49-F238E27FC236}">
                <a16:creationId xmlns:a16="http://schemas.microsoft.com/office/drawing/2014/main" id="{7591E4A6-A34F-4104-A513-5A86C6BE8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01200" cy="6018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2147" name="Rectangle 3">
            <a:extLst>
              <a:ext uri="{FF2B5EF4-FFF2-40B4-BE49-F238E27FC236}">
                <a16:creationId xmlns:a16="http://schemas.microsoft.com/office/drawing/2014/main" id="{843A60A9-40D0-422E-B84E-87B0A2333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71600"/>
            <a:ext cx="8229600" cy="11430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4800">
                <a:solidFill>
                  <a:srgbClr val="FFFF66"/>
                </a:solidFill>
                <a:latin typeface="Impact"/>
              </a:defRPr>
            </a:pPr>
            <a:r>
              <a:rPr sz="4800">
                <a:solidFill>
                  <a:srgbClr val="FFFF66"/>
                </a:solidFill>
                <a:latin typeface="Impact"/>
              </a:rPr>
              <a:t>基于数字传感器的高级测绘</a:t>
            </a:r>
          </a:p>
        </p:txBody>
      </p:sp>
      <p:sp>
        <p:nvSpPr>
          <p:cNvPr id="262148" name="Text Box 4">
            <a:extLst>
              <a:ext uri="{FF2B5EF4-FFF2-40B4-BE49-F238E27FC236}">
                <a16:creationId xmlns:a16="http://schemas.microsoft.com/office/drawing/2014/main" id="{263169B8-E9D8-493A-8E75-94DD72C56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114800"/>
            <a:ext cx="7162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FFFF66"/>
                </a:solidFill>
                <a:latin typeface="Impact"/>
              </a:defRPr>
            </a:pPr>
            <a:r>
              <a:rPr sz="3200">
                <a:solidFill>
                  <a:srgbClr val="FFFF66"/>
                </a:solidFill>
                <a:latin typeface="Impact"/>
              </a:rPr>
              <a:t>Mark E. Meade, PE, PLS, CP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FFFF66"/>
                </a:solidFill>
                <a:latin typeface="Impact"/>
              </a:defRPr>
            </a:pPr>
            <a:r>
              <a:rPr sz="3200">
                <a:solidFill>
                  <a:srgbClr val="FFFF66"/>
                </a:solidFill>
                <a:latin typeface="Impact"/>
              </a:rPr>
              <a:t>摄影科学公司</a:t>
            </a:r>
          </a:p>
        </p:txBody>
      </p:sp>
      <p:sp>
        <p:nvSpPr>
          <p:cNvPr id="262149" name="TextBox 262148"/>
          <p:cNvSpPr txBox="1"/>
          <p:nvPr/>
        </p:nvSpPr>
        <p:spPr>
          <a:xfrm>
            <a:off x="0" y="0"/>
            <a:ext cx="9601200" cy="601821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基于数字传感器的高级测绘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Mark E. Meade, PE, PLS, CP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Photo Science,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72EC237F-67D2-4F23-813A-A9F40E62D2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为什么选择数字影像？</a:t>
            </a:r>
          </a:p>
        </p:txBody>
      </p:sp>
      <p:sp>
        <p:nvSpPr>
          <p:cNvPr id="247811" name="Rectangle 3">
            <a:extLst>
              <a:ext uri="{FF2B5EF4-FFF2-40B4-BE49-F238E27FC236}">
                <a16:creationId xmlns:a16="http://schemas.microsoft.com/office/drawing/2014/main" id="{7CF874D6-9A9E-4044-81FD-99A0A50EE1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10600" cy="44196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无需胶片、实验室处理及数字扫描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提供当今最高质量的影像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- 极高的信噪比（SNR）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12位数据可呈现惊艳影像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- 4096个数值对比8位影像的256个数值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无需处理伪影……如棉絮、灰尘、划痕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几何结构高度稳定，属首代影像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同步采集全色、彩色与红外波段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714" name="Picture 2">
            <a:extLst>
              <a:ext uri="{FF2B5EF4-FFF2-40B4-BE49-F238E27FC236}">
                <a16:creationId xmlns:a16="http://schemas.microsoft.com/office/drawing/2014/main" id="{4F3E4EFE-B88D-4186-89A7-BC9033C7C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1292225"/>
            <a:ext cx="77755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3715" name="Picture 3">
            <a:extLst>
              <a:ext uri="{FF2B5EF4-FFF2-40B4-BE49-F238E27FC236}">
                <a16:creationId xmlns:a16="http://schemas.microsoft.com/office/drawing/2014/main" id="{4BAA977E-3119-4CF5-923E-BA467C2D8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09800"/>
            <a:ext cx="2568575" cy="289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716" name="Picture 4">
            <a:extLst>
              <a:ext uri="{FF2B5EF4-FFF2-40B4-BE49-F238E27FC236}">
                <a16:creationId xmlns:a16="http://schemas.microsoft.com/office/drawing/2014/main" id="{20654CF3-C49C-49B4-903E-F8CB273B4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300" y="2063750"/>
            <a:ext cx="1236663" cy="136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717" name="Picture 5">
            <a:extLst>
              <a:ext uri="{FF2B5EF4-FFF2-40B4-BE49-F238E27FC236}">
                <a16:creationId xmlns:a16="http://schemas.microsoft.com/office/drawing/2014/main" id="{26B89E59-10FD-478A-BA20-528AA6635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950" y="4092575"/>
            <a:ext cx="950913" cy="9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718" name="Picture 6">
            <a:extLst>
              <a:ext uri="{FF2B5EF4-FFF2-40B4-BE49-F238E27FC236}">
                <a16:creationId xmlns:a16="http://schemas.microsoft.com/office/drawing/2014/main" id="{72ED65DC-2585-483D-915E-8BBC47930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550" y="3889375"/>
            <a:ext cx="1517650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3719" name="Rectangle 7">
            <a:extLst>
              <a:ext uri="{FF2B5EF4-FFF2-40B4-BE49-F238E27FC236}">
                <a16:creationId xmlns:a16="http://schemas.microsoft.com/office/drawing/2014/main" id="{6F59A1C8-B00A-4711-8481-C6F23129F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156325"/>
            <a:ext cx="74152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5000"/>
              </a:spcBef>
            </a:pPr>
            <a:r>
              <a:rPr lang="de-DE" altLang="zh-CN" sz="2000" b="1">
                <a:solidFill>
                  <a:srgbClr val="FFFF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43720" name="Rectangle 8">
            <a:extLst>
              <a:ext uri="{FF2B5EF4-FFF2-40B4-BE49-F238E27FC236}">
                <a16:creationId xmlns:a16="http://schemas.microsoft.com/office/drawing/2014/main" id="{A2F231D0-99CE-4293-9160-5290917D7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2400"/>
            <a:ext cx="8077200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6038" bIns="46038" anchor="b" wrap="square">
            <a:noAutofit/>
          </a:bodyPr>
          <a:lstStyle>
            <a:lvl1pPr defTabSz="8651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8651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8651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8651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8651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defTabSz="8651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defTabSz="8651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defTabSz="8651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defTabSz="86518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99"/>
                </a:solidFill>
                <a:latin typeface="Calibri"/>
              </a:defRPr>
            </a:pPr>
            <a:r>
              <a:rPr sz="4000">
                <a:solidFill>
                  <a:srgbClr val="FFFF99"/>
                </a:solidFill>
                <a:latin typeface="Calibri"/>
              </a:rPr>
              <a:t>12位影像的优势</a:t>
            </a:r>
          </a:p>
        </p:txBody>
      </p:sp>
      <p:sp>
        <p:nvSpPr>
          <p:cNvPr id="243721" name="TextBox 243720"/>
          <p:cNvSpPr txBox="1"/>
          <p:nvPr/>
        </p:nvSpPr>
        <p:spPr>
          <a:xfrm>
            <a:off x="573088" y="1292225"/>
            <a:ext cx="7775575" cy="46053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43722" name="TextBox 243721"/>
          <p:cNvSpPr txBox="1"/>
          <p:nvPr/>
        </p:nvSpPr>
        <p:spPr>
          <a:xfrm>
            <a:off x="3416300" y="2063750"/>
            <a:ext cx="1236663" cy="1360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43723" name="TextBox 243722"/>
          <p:cNvSpPr txBox="1"/>
          <p:nvPr/>
        </p:nvSpPr>
        <p:spPr>
          <a:xfrm>
            <a:off x="1295400" y="2209800"/>
            <a:ext cx="2568575" cy="28971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43724" name="TextBox 243723"/>
          <p:cNvSpPr txBox="1"/>
          <p:nvPr/>
        </p:nvSpPr>
        <p:spPr>
          <a:xfrm>
            <a:off x="4273550" y="3889375"/>
            <a:ext cx="1517650" cy="1579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</a:p>
        </p:txBody>
      </p:sp>
      <p:sp>
        <p:nvSpPr>
          <p:cNvPr id="243725" name="TextBox 243724"/>
          <p:cNvSpPr txBox="1"/>
          <p:nvPr/>
        </p:nvSpPr>
        <p:spPr>
          <a:xfrm>
            <a:off x="5568950" y="4092575"/>
            <a:ext cx="950913" cy="95091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62" name="Picture 2">
            <a:extLst>
              <a:ext uri="{FF2B5EF4-FFF2-40B4-BE49-F238E27FC236}">
                <a16:creationId xmlns:a16="http://schemas.microsoft.com/office/drawing/2014/main" id="{DC07A742-D99F-4CC7-9AB7-92B159C2E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-1095375"/>
            <a:ext cx="10287000" cy="711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763" name="TextBox 245762"/>
          <p:cNvSpPr txBox="1"/>
          <p:nvPr/>
        </p:nvSpPr>
        <p:spPr>
          <a:xfrm>
            <a:off x="-228600" y="-1095375"/>
            <a:ext cx="10287000" cy="71199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摄影科学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地理空间解决方案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786" name="Picture 2">
            <a:extLst>
              <a:ext uri="{FF2B5EF4-FFF2-40B4-BE49-F238E27FC236}">
                <a16:creationId xmlns:a16="http://schemas.microsoft.com/office/drawing/2014/main" id="{CADBD8B6-900F-4BA2-82CF-791036CA0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90600"/>
            <a:ext cx="9144000" cy="704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787" name="TextBox 246786"/>
          <p:cNvSpPr txBox="1"/>
          <p:nvPr/>
        </p:nvSpPr>
        <p:spPr>
          <a:xfrm>
            <a:off x="0" y="-990600"/>
            <a:ext cx="9144000" cy="70453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摄影科学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地理空间解决方案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61C8A89C-0A9C-4A76-BCE8-830F8E348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Z/I 数字航测相机</a:t>
            </a:r>
          </a:p>
        </p:txBody>
      </p:sp>
      <p:pic>
        <p:nvPicPr>
          <p:cNvPr id="311299" name="Picture 3">
            <a:extLst>
              <a:ext uri="{FF2B5EF4-FFF2-40B4-BE49-F238E27FC236}">
                <a16:creationId xmlns:a16="http://schemas.microsoft.com/office/drawing/2014/main" id="{B9417D23-D051-4B68-8DEE-1A57542B2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3519488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1300" name="Picture 4">
            <a:extLst>
              <a:ext uri="{FF2B5EF4-FFF2-40B4-BE49-F238E27FC236}">
                <a16:creationId xmlns:a16="http://schemas.microsoft.com/office/drawing/2014/main" id="{2C101D50-E13A-471A-B2CB-5816CF1FF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0" r="7880"/>
          <a:stretch>
            <a:fillRect/>
          </a:stretch>
        </p:blipFill>
        <p:spPr bwMode="auto">
          <a:xfrm>
            <a:off x="4267200" y="1524000"/>
            <a:ext cx="3200400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1301" name="Text Box 5">
            <a:extLst>
              <a:ext uri="{FF2B5EF4-FFF2-40B4-BE49-F238E27FC236}">
                <a16:creationId xmlns:a16="http://schemas.microsoft.com/office/drawing/2014/main" id="{C93228EA-24B6-4A4F-B4F9-B77C051B6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648200"/>
            <a:ext cx="3962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最先进的数字框幅相机可生成卓越的影像。</a:t>
            </a:r>
          </a:p>
        </p:txBody>
      </p:sp>
      <p:sp>
        <p:nvSpPr>
          <p:cNvPr id="311302" name="TextBox 311301"/>
          <p:cNvSpPr txBox="1"/>
          <p:nvPr/>
        </p:nvSpPr>
        <p:spPr>
          <a:xfrm>
            <a:off x="457200" y="1371600"/>
            <a:ext cx="3519488" cy="4648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ODMC</a:t>
            </a:r>
          </a:p>
        </p:txBody>
      </p:sp>
      <p:sp>
        <p:nvSpPr>
          <p:cNvPr id="311303" name="TextBox 311302"/>
          <p:cNvSpPr txBox="1"/>
          <p:nvPr/>
        </p:nvSpPr>
        <p:spPr>
          <a:xfrm>
            <a:off x="4267200" y="1524000"/>
            <a:ext cx="3200400" cy="27051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红色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绿色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全色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全色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全色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全色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蓝色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红外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>
            <a:extLst>
              <a:ext uri="{FF2B5EF4-FFF2-40B4-BE49-F238E27FC236}">
                <a16:creationId xmlns:a16="http://schemas.microsoft.com/office/drawing/2014/main" id="{11A5712B-242F-4BAE-94D5-52F22ACB8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DC559DB7-8D11-47F3-A8F3-390287A7D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312324" name="Picture 4">
            <a:extLst>
              <a:ext uri="{FF2B5EF4-FFF2-40B4-BE49-F238E27FC236}">
                <a16:creationId xmlns:a16="http://schemas.microsoft.com/office/drawing/2014/main" id="{E4D3BD1F-2232-48F2-A2B4-AA2FF647E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0" b="8340"/>
          <a:stretch>
            <a:fillRect/>
          </a:stretch>
        </p:blipFill>
        <p:spPr bwMode="auto">
          <a:xfrm>
            <a:off x="0" y="0"/>
            <a:ext cx="91440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2325" name="TextBox 312324"/>
          <p:cNvSpPr txBox="1"/>
          <p:nvPr/>
        </p:nvSpPr>
        <p:spPr>
          <a:xfrm>
            <a:off x="0" y="0"/>
            <a:ext cx="9144000" cy="6019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>
            <a:extLst>
              <a:ext uri="{FF2B5EF4-FFF2-40B4-BE49-F238E27FC236}">
                <a16:creationId xmlns:a16="http://schemas.microsoft.com/office/drawing/2014/main" id="{0A893ED2-F898-4157-A694-5683D1006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A6DB45DB-CACD-453E-A2F4-7863A1EC40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313348" name="Picture 4">
            <a:extLst>
              <a:ext uri="{FF2B5EF4-FFF2-40B4-BE49-F238E27FC236}">
                <a16:creationId xmlns:a16="http://schemas.microsoft.com/office/drawing/2014/main" id="{80C2C03C-F50A-4186-A4CB-500F5BA5A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6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" t="2484" b="2484"/>
          <a:stretch>
            <a:fillRect/>
          </a:stretch>
        </p:blipFill>
        <p:spPr bwMode="auto">
          <a:xfrm>
            <a:off x="0" y="0"/>
            <a:ext cx="91440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3349" name="TextBox 313348"/>
          <p:cNvSpPr txBox="1"/>
          <p:nvPr/>
        </p:nvSpPr>
        <p:spPr>
          <a:xfrm>
            <a:off x="0" y="0"/>
            <a:ext cx="9144000" cy="6019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>
            <a:extLst>
              <a:ext uri="{FF2B5EF4-FFF2-40B4-BE49-F238E27FC236}">
                <a16:creationId xmlns:a16="http://schemas.microsoft.com/office/drawing/2014/main" id="{BE82D0A2-2032-430C-8F34-4C2968F2C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314371" name="Picture 3">
            <a:extLst>
              <a:ext uri="{FF2B5EF4-FFF2-40B4-BE49-F238E27FC236}">
                <a16:creationId xmlns:a16="http://schemas.microsoft.com/office/drawing/2014/main" id="{14B6DAD8-464E-49EF-A8E6-6A626162A632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000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>
            <a:extLst>
              <a:ext uri="{FF2B5EF4-FFF2-40B4-BE49-F238E27FC236}">
                <a16:creationId xmlns:a16="http://schemas.microsoft.com/office/drawing/2014/main" id="{F6A58089-CD9D-4572-8763-FA2078C79F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数码相机</a:t>
            </a:r>
          </a:p>
        </p:txBody>
      </p:sp>
      <p:sp>
        <p:nvSpPr>
          <p:cNvPr id="263171" name="Rectangle 3">
            <a:extLst>
              <a:ext uri="{FF2B5EF4-FFF2-40B4-BE49-F238E27FC236}">
                <a16:creationId xmlns:a16="http://schemas.microsoft.com/office/drawing/2014/main" id="{AB0419E9-926E-4616-A4F9-F4100D5BF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4267200" cy="41148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造价40万至150万美元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两种类型……框幅式相机和推扫式相机。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与胶片相机相比，优势较多，缺点较少。</a:t>
            </a:r>
          </a:p>
        </p:txBody>
      </p:sp>
      <p:pic>
        <p:nvPicPr>
          <p:cNvPr id="263172" name="Picture 4">
            <a:extLst>
              <a:ext uri="{FF2B5EF4-FFF2-40B4-BE49-F238E27FC236}">
                <a16:creationId xmlns:a16="http://schemas.microsoft.com/office/drawing/2014/main" id="{5612B435-F84A-4FF8-BD1D-877220A8D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58" r="18958"/>
          <a:stretch>
            <a:fillRect/>
          </a:stretch>
        </p:blipFill>
        <p:spPr bwMode="auto">
          <a:xfrm>
            <a:off x="5356225" y="0"/>
            <a:ext cx="3787775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3173" name="TextBox 263172"/>
          <p:cNvSpPr txBox="1"/>
          <p:nvPr/>
        </p:nvSpPr>
        <p:spPr>
          <a:xfrm>
            <a:off x="5356225" y="0"/>
            <a:ext cx="3787775" cy="6019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omc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T-AS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6D1E2047-5574-4483-8F74-FD21DFFA5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11430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当今的数字传感器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C81BED64-788E-44F2-9B5A-BC1FF5AB5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1148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大幅面框幅相机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Z/I 数字测图相机 (DMC)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Vexcel UltraCam D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大幅面推扫式传感器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徕卡地理系统 ADS 40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耶拿 JAS 150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中幅面框幅传感器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Applanix 数字传感器系统 (DSS)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数字模块化航摄相机 (DIMAC)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B9C9A07C-5636-4813-823F-EB209BE1B4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数码相机与胶片相机对比</a:t>
            </a:r>
          </a:p>
        </p:txBody>
      </p:sp>
      <p:sp>
        <p:nvSpPr>
          <p:cNvPr id="266243" name="Rectangle 3">
            <a:extLst>
              <a:ext uri="{FF2B5EF4-FFF2-40B4-BE49-F238E27FC236}">
                <a16:creationId xmlns:a16="http://schemas.microsoft.com/office/drawing/2014/main" id="{E3D87621-B48E-42CA-8583-FE26C1BEC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077200" cy="43434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优势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单次飞行即可获取黑白、彩色及红外影像。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无需胶片、冲洗及其他实验室耗材。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无需扫描。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影像无绒毛、灰尘及划痕。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影像处理可在飞行当天启动。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光谱分辨率优于胶片相机。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劣势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校准方面仍存在一定挑战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rPr sz="2400">
                <a:solidFill>
                  <a:srgbClr val="FFFFFF"/>
                </a:solidFill>
                <a:latin typeface="Calibri"/>
              </a:rPr>
              <a:t>- 采集至生产阶段的数据存储压力！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266" name="Picture 2">
            <a:extLst>
              <a:ext uri="{FF2B5EF4-FFF2-40B4-BE49-F238E27FC236}">
                <a16:creationId xmlns:a16="http://schemas.microsoft.com/office/drawing/2014/main" id="{7F33A650-1FEC-43B7-9F42-559A4DEFF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20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7267" name="TextBox 267266"/>
          <p:cNvSpPr txBox="1"/>
          <p:nvPr/>
        </p:nvSpPr>
        <p:spPr>
          <a:xfrm>
            <a:off x="0" y="0"/>
            <a:ext cx="9320213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Z/1 影像快速查看器 - 003012.jpg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文件 视图 窗口 调整 显示 帮助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003012.jpg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行,列: 9010.50, 3917.50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290" name="Picture 2">
            <a:extLst>
              <a:ext uri="{FF2B5EF4-FFF2-40B4-BE49-F238E27FC236}">
                <a16:creationId xmlns:a16="http://schemas.microsoft.com/office/drawing/2014/main" id="{852EE0C5-A406-49E6-8A12-9B88968E1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924800"/>
            <a:ext cx="22250400" cy="1394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8291" name="TextBox 268290"/>
          <p:cNvSpPr txBox="1"/>
          <p:nvPr/>
        </p:nvSpPr>
        <p:spPr>
          <a:xfrm>
            <a:off x="0" y="-7924800"/>
            <a:ext cx="22250400" cy="139461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摄影科学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地理空间解决方案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314" name="Picture 2">
            <a:extLst>
              <a:ext uri="{FF2B5EF4-FFF2-40B4-BE49-F238E27FC236}">
                <a16:creationId xmlns:a16="http://schemas.microsoft.com/office/drawing/2014/main" id="{F9B7CD17-3EB0-4CEE-BC90-4CDB8E322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7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9315" name="TextBox 269314"/>
          <p:cNvSpPr txBox="1"/>
          <p:nvPr/>
        </p:nvSpPr>
        <p:spPr>
          <a:xfrm>
            <a:off x="0" y="0"/>
            <a:ext cx="9144000" cy="6972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729A884D-6F65-4FA7-90E9-AD1CB058C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传统胶片方法</a:t>
            </a:r>
          </a:p>
        </p:txBody>
      </p:sp>
      <p:grpSp>
        <p:nvGrpSpPr>
          <p:cNvPr id="274435" name="Group 3">
            <a:extLst>
              <a:ext uri="{FF2B5EF4-FFF2-40B4-BE49-F238E27FC236}">
                <a16:creationId xmlns:a16="http://schemas.microsoft.com/office/drawing/2014/main" id="{0DE1A2B5-854A-4DC9-AAF6-77C290C83349}"/>
              </a:ext>
            </a:extLst>
          </p:cNvPr>
          <p:cNvGrpSpPr>
            <a:grpSpLocks/>
          </p:cNvGrpSpPr>
          <p:nvPr/>
        </p:nvGrpSpPr>
        <p:grpSpPr bwMode="auto">
          <a:xfrm rot="-20818806">
            <a:off x="1066800" y="1524000"/>
            <a:ext cx="1974850" cy="1346200"/>
            <a:chOff x="295" y="1612"/>
            <a:chExt cx="5602" cy="3205"/>
          </a:xfrm>
        </p:grpSpPr>
        <p:sp>
          <p:nvSpPr>
            <p:cNvPr id="274436" name="Freeform 4">
              <a:extLst>
                <a:ext uri="{FF2B5EF4-FFF2-40B4-BE49-F238E27FC236}">
                  <a16:creationId xmlns:a16="http://schemas.microsoft.com/office/drawing/2014/main" id="{B1B1E365-1F20-4FB3-A8A2-BF32EA574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" y="1612"/>
              <a:ext cx="5602" cy="3205"/>
            </a:xfrm>
            <a:custGeom>
              <a:avLst/>
              <a:gdLst>
                <a:gd name="T0" fmla="*/ 2354 w 5140"/>
                <a:gd name="T1" fmla="*/ 397 h 2942"/>
                <a:gd name="T2" fmla="*/ 1802 w 5140"/>
                <a:gd name="T3" fmla="*/ 716 h 2942"/>
                <a:gd name="T4" fmla="*/ 1182 w 5140"/>
                <a:gd name="T5" fmla="*/ 95 h 2942"/>
                <a:gd name="T6" fmla="*/ 1147 w 5140"/>
                <a:gd name="T7" fmla="*/ 221 h 2942"/>
                <a:gd name="T8" fmla="*/ 1457 w 5140"/>
                <a:gd name="T9" fmla="*/ 846 h 2942"/>
                <a:gd name="T10" fmla="*/ 561 w 5140"/>
                <a:gd name="T11" fmla="*/ 1337 h 2942"/>
                <a:gd name="T12" fmla="*/ 716 w 5140"/>
                <a:gd name="T13" fmla="*/ 1424 h 2942"/>
                <a:gd name="T14" fmla="*/ 1647 w 5140"/>
                <a:gd name="T15" fmla="*/ 984 h 2942"/>
                <a:gd name="T16" fmla="*/ 2285 w 5140"/>
                <a:gd name="T17" fmla="*/ 1631 h 2942"/>
                <a:gd name="T18" fmla="*/ 0 w 5140"/>
                <a:gd name="T19" fmla="*/ 2795 h 2942"/>
                <a:gd name="T20" fmla="*/ 276 w 5140"/>
                <a:gd name="T21" fmla="*/ 2942 h 2942"/>
                <a:gd name="T22" fmla="*/ 2078 w 5140"/>
                <a:gd name="T23" fmla="*/ 2088 h 2942"/>
                <a:gd name="T24" fmla="*/ 2354 w 5140"/>
                <a:gd name="T25" fmla="*/ 2260 h 2942"/>
                <a:gd name="T26" fmla="*/ 2458 w 5140"/>
                <a:gd name="T27" fmla="*/ 2286 h 2942"/>
                <a:gd name="T28" fmla="*/ 2553 w 5140"/>
                <a:gd name="T29" fmla="*/ 2252 h 2942"/>
                <a:gd name="T30" fmla="*/ 2604 w 5140"/>
                <a:gd name="T31" fmla="*/ 2183 h 2942"/>
                <a:gd name="T32" fmla="*/ 2777 w 5140"/>
                <a:gd name="T33" fmla="*/ 2189 h 2942"/>
                <a:gd name="T34" fmla="*/ 2834 w 5140"/>
                <a:gd name="T35" fmla="*/ 2163 h 2942"/>
                <a:gd name="T36" fmla="*/ 2837 w 5140"/>
                <a:gd name="T37" fmla="*/ 2105 h 2942"/>
                <a:gd name="T38" fmla="*/ 2760 w 5140"/>
                <a:gd name="T39" fmla="*/ 2027 h 2942"/>
                <a:gd name="T40" fmla="*/ 2837 w 5140"/>
                <a:gd name="T41" fmla="*/ 1984 h 2942"/>
                <a:gd name="T42" fmla="*/ 2829 w 5140"/>
                <a:gd name="T43" fmla="*/ 1933 h 2942"/>
                <a:gd name="T44" fmla="*/ 2673 w 5140"/>
                <a:gd name="T45" fmla="*/ 1846 h 2942"/>
                <a:gd name="T46" fmla="*/ 2783 w 5140"/>
                <a:gd name="T47" fmla="*/ 1814 h 2942"/>
                <a:gd name="T48" fmla="*/ 3071 w 5140"/>
                <a:gd name="T49" fmla="*/ 1886 h 2942"/>
                <a:gd name="T50" fmla="*/ 3312 w 5140"/>
                <a:gd name="T51" fmla="*/ 1933 h 2942"/>
                <a:gd name="T52" fmla="*/ 3441 w 5140"/>
                <a:gd name="T53" fmla="*/ 1958 h 2942"/>
                <a:gd name="T54" fmla="*/ 3657 w 5140"/>
                <a:gd name="T55" fmla="*/ 1967 h 2942"/>
                <a:gd name="T56" fmla="*/ 3769 w 5140"/>
                <a:gd name="T57" fmla="*/ 1915 h 2942"/>
                <a:gd name="T58" fmla="*/ 3941 w 5140"/>
                <a:gd name="T59" fmla="*/ 1933 h 2942"/>
                <a:gd name="T60" fmla="*/ 4027 w 5140"/>
                <a:gd name="T61" fmla="*/ 1872 h 2942"/>
                <a:gd name="T62" fmla="*/ 4036 w 5140"/>
                <a:gd name="T63" fmla="*/ 1760 h 2942"/>
                <a:gd name="T64" fmla="*/ 3665 w 5140"/>
                <a:gd name="T65" fmla="*/ 1394 h 2942"/>
                <a:gd name="T66" fmla="*/ 3731 w 5140"/>
                <a:gd name="T67" fmla="*/ 1370 h 2942"/>
                <a:gd name="T68" fmla="*/ 3869 w 5140"/>
                <a:gd name="T69" fmla="*/ 1428 h 2942"/>
                <a:gd name="T70" fmla="*/ 3957 w 5140"/>
                <a:gd name="T71" fmla="*/ 1440 h 2942"/>
                <a:gd name="T72" fmla="*/ 4095 w 5140"/>
                <a:gd name="T73" fmla="*/ 1330 h 2942"/>
                <a:gd name="T74" fmla="*/ 4285 w 5140"/>
                <a:gd name="T75" fmla="*/ 1342 h 2942"/>
                <a:gd name="T76" fmla="*/ 4319 w 5140"/>
                <a:gd name="T77" fmla="*/ 1308 h 2942"/>
                <a:gd name="T78" fmla="*/ 4315 w 5140"/>
                <a:gd name="T79" fmla="*/ 1264 h 2942"/>
                <a:gd name="T80" fmla="*/ 4227 w 5140"/>
                <a:gd name="T81" fmla="*/ 1194 h 2942"/>
                <a:gd name="T82" fmla="*/ 4299 w 5140"/>
                <a:gd name="T83" fmla="*/ 1140 h 2942"/>
                <a:gd name="T84" fmla="*/ 4297 w 5140"/>
                <a:gd name="T85" fmla="*/ 1088 h 2942"/>
                <a:gd name="T86" fmla="*/ 4031 w 5140"/>
                <a:gd name="T87" fmla="*/ 946 h 2942"/>
                <a:gd name="T88" fmla="*/ 5140 w 5140"/>
                <a:gd name="T89" fmla="*/ 104 h 2942"/>
                <a:gd name="T90" fmla="*/ 4864 w 5140"/>
                <a:gd name="T91" fmla="*/ 0 h 2942"/>
                <a:gd name="T92" fmla="*/ 3217 w 5140"/>
                <a:gd name="T93" fmla="*/ 1096 h 2942"/>
                <a:gd name="T94" fmla="*/ 3036 w 5140"/>
                <a:gd name="T95" fmla="*/ 940 h 2942"/>
                <a:gd name="T96" fmla="*/ 2872 w 5140"/>
                <a:gd name="T97" fmla="*/ 889 h 2942"/>
                <a:gd name="T98" fmla="*/ 1958 w 5140"/>
                <a:gd name="T99" fmla="*/ 811 h 2942"/>
                <a:gd name="T100" fmla="*/ 2579 w 5140"/>
                <a:gd name="T101" fmla="*/ 431 h 2942"/>
                <a:gd name="T102" fmla="*/ 2354 w 5140"/>
                <a:gd name="T103" fmla="*/ 397 h 2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140" h="2942">
                  <a:moveTo>
                    <a:pt x="2354" y="397"/>
                  </a:moveTo>
                  <a:lnTo>
                    <a:pt x="1802" y="716"/>
                  </a:lnTo>
                  <a:lnTo>
                    <a:pt x="1182" y="95"/>
                  </a:lnTo>
                  <a:lnTo>
                    <a:pt x="1147" y="221"/>
                  </a:lnTo>
                  <a:lnTo>
                    <a:pt x="1457" y="846"/>
                  </a:lnTo>
                  <a:lnTo>
                    <a:pt x="561" y="1337"/>
                  </a:lnTo>
                  <a:lnTo>
                    <a:pt x="716" y="1424"/>
                  </a:lnTo>
                  <a:lnTo>
                    <a:pt x="1647" y="984"/>
                  </a:lnTo>
                  <a:lnTo>
                    <a:pt x="2285" y="1631"/>
                  </a:lnTo>
                  <a:lnTo>
                    <a:pt x="0" y="2795"/>
                  </a:lnTo>
                  <a:lnTo>
                    <a:pt x="276" y="2942"/>
                  </a:lnTo>
                  <a:lnTo>
                    <a:pt x="2078" y="2088"/>
                  </a:lnTo>
                  <a:lnTo>
                    <a:pt x="2354" y="2260"/>
                  </a:lnTo>
                  <a:lnTo>
                    <a:pt x="2458" y="2286"/>
                  </a:lnTo>
                  <a:lnTo>
                    <a:pt x="2553" y="2252"/>
                  </a:lnTo>
                  <a:lnTo>
                    <a:pt x="2604" y="2183"/>
                  </a:lnTo>
                  <a:lnTo>
                    <a:pt x="2777" y="2189"/>
                  </a:lnTo>
                  <a:lnTo>
                    <a:pt x="2834" y="2163"/>
                  </a:lnTo>
                  <a:lnTo>
                    <a:pt x="2837" y="2105"/>
                  </a:lnTo>
                  <a:lnTo>
                    <a:pt x="2760" y="2027"/>
                  </a:lnTo>
                  <a:lnTo>
                    <a:pt x="2837" y="1984"/>
                  </a:lnTo>
                  <a:lnTo>
                    <a:pt x="2829" y="1933"/>
                  </a:lnTo>
                  <a:lnTo>
                    <a:pt x="2673" y="1846"/>
                  </a:lnTo>
                  <a:lnTo>
                    <a:pt x="2783" y="1814"/>
                  </a:lnTo>
                  <a:lnTo>
                    <a:pt x="3071" y="1886"/>
                  </a:lnTo>
                  <a:lnTo>
                    <a:pt x="3312" y="1933"/>
                  </a:lnTo>
                  <a:lnTo>
                    <a:pt x="3441" y="1958"/>
                  </a:lnTo>
                  <a:lnTo>
                    <a:pt x="3657" y="1967"/>
                  </a:lnTo>
                  <a:lnTo>
                    <a:pt x="3769" y="1915"/>
                  </a:lnTo>
                  <a:lnTo>
                    <a:pt x="3941" y="1933"/>
                  </a:lnTo>
                  <a:lnTo>
                    <a:pt x="4027" y="1872"/>
                  </a:lnTo>
                  <a:lnTo>
                    <a:pt x="4036" y="1760"/>
                  </a:lnTo>
                  <a:lnTo>
                    <a:pt x="3665" y="1394"/>
                  </a:lnTo>
                  <a:lnTo>
                    <a:pt x="3731" y="1370"/>
                  </a:lnTo>
                  <a:lnTo>
                    <a:pt x="3869" y="1428"/>
                  </a:lnTo>
                  <a:lnTo>
                    <a:pt x="3957" y="1440"/>
                  </a:lnTo>
                  <a:lnTo>
                    <a:pt x="4095" y="1330"/>
                  </a:lnTo>
                  <a:lnTo>
                    <a:pt x="4285" y="1342"/>
                  </a:lnTo>
                  <a:lnTo>
                    <a:pt x="4319" y="1308"/>
                  </a:lnTo>
                  <a:lnTo>
                    <a:pt x="4315" y="1264"/>
                  </a:lnTo>
                  <a:lnTo>
                    <a:pt x="4227" y="1194"/>
                  </a:lnTo>
                  <a:lnTo>
                    <a:pt x="4299" y="1140"/>
                  </a:lnTo>
                  <a:lnTo>
                    <a:pt x="4297" y="1088"/>
                  </a:lnTo>
                  <a:lnTo>
                    <a:pt x="4031" y="946"/>
                  </a:lnTo>
                  <a:lnTo>
                    <a:pt x="5140" y="104"/>
                  </a:lnTo>
                  <a:lnTo>
                    <a:pt x="4864" y="0"/>
                  </a:lnTo>
                  <a:lnTo>
                    <a:pt x="3217" y="1096"/>
                  </a:lnTo>
                  <a:lnTo>
                    <a:pt x="3036" y="940"/>
                  </a:lnTo>
                  <a:lnTo>
                    <a:pt x="2872" y="889"/>
                  </a:lnTo>
                  <a:lnTo>
                    <a:pt x="1958" y="811"/>
                  </a:lnTo>
                  <a:lnTo>
                    <a:pt x="2579" y="431"/>
                  </a:lnTo>
                  <a:lnTo>
                    <a:pt x="2354" y="397"/>
                  </a:lnTo>
                  <a:close/>
                </a:path>
              </a:pathLst>
            </a:custGeom>
            <a:gradFill rotWithShape="1">
              <a:gsLst>
                <a:gs pos="0">
                  <a:srgbClr val="EFECE5"/>
                </a:gs>
                <a:gs pos="100000">
                  <a:srgbClr val="BAB7AA"/>
                </a:gs>
              </a:gsLst>
              <a:path path="rect">
                <a:fillToRect l="50000" t="50000" r="50000" b="50000"/>
              </a:path>
            </a:gradFill>
            <a:ln w="3175" cmpd="sng">
              <a:solidFill>
                <a:srgbClr val="8A8572"/>
              </a:solidFill>
              <a:round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37" name="Freeform 5">
              <a:extLst>
                <a:ext uri="{FF2B5EF4-FFF2-40B4-BE49-F238E27FC236}">
                  <a16:creationId xmlns:a16="http://schemas.microsoft.com/office/drawing/2014/main" id="{C50E106D-E5E6-4345-B2AB-AF9A8F5B6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0" y="2684"/>
              <a:ext cx="2307" cy="1070"/>
            </a:xfrm>
            <a:custGeom>
              <a:avLst/>
              <a:gdLst>
                <a:gd name="T0" fmla="*/ 2117 w 2117"/>
                <a:gd name="T1" fmla="*/ 928 h 982"/>
                <a:gd name="T2" fmla="*/ 1431 w 2117"/>
                <a:gd name="T3" fmla="*/ 690 h 982"/>
                <a:gd name="T4" fmla="*/ 940 w 2117"/>
                <a:gd name="T5" fmla="*/ 500 h 982"/>
                <a:gd name="T6" fmla="*/ 457 w 2117"/>
                <a:gd name="T7" fmla="*/ 293 h 982"/>
                <a:gd name="T8" fmla="*/ 0 w 2117"/>
                <a:gd name="T9" fmla="*/ 0 h 982"/>
                <a:gd name="T10" fmla="*/ 637 w 2117"/>
                <a:gd name="T11" fmla="*/ 650 h 982"/>
                <a:gd name="T12" fmla="*/ 1103 w 2117"/>
                <a:gd name="T13" fmla="*/ 830 h 982"/>
                <a:gd name="T14" fmla="*/ 1463 w 2117"/>
                <a:gd name="T15" fmla="*/ 910 h 982"/>
                <a:gd name="T16" fmla="*/ 1795 w 2117"/>
                <a:gd name="T17" fmla="*/ 974 h 982"/>
                <a:gd name="T18" fmla="*/ 2005 w 2117"/>
                <a:gd name="T19" fmla="*/ 982 h 982"/>
                <a:gd name="T20" fmla="*/ 2117 w 2117"/>
                <a:gd name="T21" fmla="*/ 928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17" h="982">
                  <a:moveTo>
                    <a:pt x="2117" y="928"/>
                  </a:moveTo>
                  <a:lnTo>
                    <a:pt x="1431" y="690"/>
                  </a:lnTo>
                  <a:lnTo>
                    <a:pt x="940" y="500"/>
                  </a:lnTo>
                  <a:lnTo>
                    <a:pt x="457" y="293"/>
                  </a:lnTo>
                  <a:lnTo>
                    <a:pt x="0" y="0"/>
                  </a:lnTo>
                  <a:lnTo>
                    <a:pt x="637" y="650"/>
                  </a:lnTo>
                  <a:lnTo>
                    <a:pt x="1103" y="830"/>
                  </a:lnTo>
                  <a:lnTo>
                    <a:pt x="1463" y="910"/>
                  </a:lnTo>
                  <a:lnTo>
                    <a:pt x="1795" y="974"/>
                  </a:lnTo>
                  <a:lnTo>
                    <a:pt x="2005" y="982"/>
                  </a:lnTo>
                  <a:lnTo>
                    <a:pt x="2117" y="928"/>
                  </a:lnTo>
                  <a:close/>
                </a:path>
              </a:pathLst>
            </a:custGeom>
            <a:gradFill rotWithShape="1">
              <a:gsLst>
                <a:gs pos="0">
                  <a:srgbClr val="A9A597"/>
                </a:gs>
                <a:gs pos="100000">
                  <a:srgbClr val="E7E3D7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38" name="Freeform 6">
              <a:extLst>
                <a:ext uri="{FF2B5EF4-FFF2-40B4-BE49-F238E27FC236}">
                  <a16:creationId xmlns:a16="http://schemas.microsoft.com/office/drawing/2014/main" id="{18DF40CD-3634-49ED-BDDC-EEA4F5EEF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2656"/>
              <a:ext cx="608" cy="504"/>
            </a:xfrm>
            <a:custGeom>
              <a:avLst/>
              <a:gdLst>
                <a:gd name="T0" fmla="*/ 93 w 194"/>
                <a:gd name="T1" fmla="*/ 0 h 161"/>
                <a:gd name="T2" fmla="*/ 0 w 194"/>
                <a:gd name="T3" fmla="*/ 51 h 161"/>
                <a:gd name="T4" fmla="*/ 44 w 194"/>
                <a:gd name="T5" fmla="*/ 159 h 161"/>
                <a:gd name="T6" fmla="*/ 194 w 194"/>
                <a:gd name="T7" fmla="*/ 80 h 161"/>
                <a:gd name="T8" fmla="*/ 93 w 194"/>
                <a:gd name="T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61">
                  <a:moveTo>
                    <a:pt x="93" y="0"/>
                  </a:moveTo>
                  <a:lnTo>
                    <a:pt x="0" y="51"/>
                  </a:lnTo>
                  <a:cubicBezTo>
                    <a:pt x="40" y="161"/>
                    <a:pt x="12" y="153"/>
                    <a:pt x="44" y="159"/>
                  </a:cubicBezTo>
                  <a:lnTo>
                    <a:pt x="194" y="80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BAB7AA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39" name="Freeform 7">
              <a:extLst>
                <a:ext uri="{FF2B5EF4-FFF2-40B4-BE49-F238E27FC236}">
                  <a16:creationId xmlns:a16="http://schemas.microsoft.com/office/drawing/2014/main" id="{2412539B-6707-4BE5-BA3B-0EC6A67BA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2818"/>
              <a:ext cx="225" cy="345"/>
            </a:xfrm>
            <a:custGeom>
              <a:avLst/>
              <a:gdLst>
                <a:gd name="T0" fmla="*/ 0 w 81"/>
                <a:gd name="T1" fmla="*/ 0 h 123"/>
                <a:gd name="T2" fmla="*/ 6 w 81"/>
                <a:gd name="T3" fmla="*/ 99 h 123"/>
                <a:gd name="T4" fmla="*/ 81 w 81"/>
                <a:gd name="T5" fmla="*/ 123 h 123"/>
                <a:gd name="T6" fmla="*/ 78 w 81"/>
                <a:gd name="T7" fmla="*/ 81 h 123"/>
                <a:gd name="T8" fmla="*/ 33 w 81"/>
                <a:gd name="T9" fmla="*/ 9 h 123"/>
                <a:gd name="T10" fmla="*/ 0 w 81"/>
                <a:gd name="T1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123">
                  <a:moveTo>
                    <a:pt x="0" y="0"/>
                  </a:moveTo>
                  <a:lnTo>
                    <a:pt x="6" y="99"/>
                  </a:lnTo>
                  <a:lnTo>
                    <a:pt x="81" y="123"/>
                  </a:lnTo>
                  <a:cubicBezTo>
                    <a:pt x="78" y="85"/>
                    <a:pt x="78" y="99"/>
                    <a:pt x="78" y="81"/>
                  </a:cubicBezTo>
                  <a:lnTo>
                    <a:pt x="33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BAB7A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40" name="Freeform 8">
              <a:extLst>
                <a:ext uri="{FF2B5EF4-FFF2-40B4-BE49-F238E27FC236}">
                  <a16:creationId xmlns:a16="http://schemas.microsoft.com/office/drawing/2014/main" id="{D4D2532B-3CB7-471F-8B7C-BD457CB9E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2784"/>
              <a:ext cx="206" cy="294"/>
            </a:xfrm>
            <a:custGeom>
              <a:avLst/>
              <a:gdLst>
                <a:gd name="T0" fmla="*/ 0 w 66"/>
                <a:gd name="T1" fmla="*/ 0 h 105"/>
                <a:gd name="T2" fmla="*/ 1 w 66"/>
                <a:gd name="T3" fmla="*/ 84 h 105"/>
                <a:gd name="T4" fmla="*/ 66 w 66"/>
                <a:gd name="T5" fmla="*/ 105 h 105"/>
                <a:gd name="T6" fmla="*/ 60 w 66"/>
                <a:gd name="T7" fmla="*/ 9 h 105"/>
                <a:gd name="T8" fmla="*/ 0 w 66"/>
                <a:gd name="T9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105">
                  <a:moveTo>
                    <a:pt x="0" y="0"/>
                  </a:moveTo>
                  <a:lnTo>
                    <a:pt x="1" y="84"/>
                  </a:lnTo>
                  <a:lnTo>
                    <a:pt x="66" y="105"/>
                  </a:lnTo>
                  <a:lnTo>
                    <a:pt x="60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BAB7A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41" name="Freeform 9">
              <a:extLst>
                <a:ext uri="{FF2B5EF4-FFF2-40B4-BE49-F238E27FC236}">
                  <a16:creationId xmlns:a16="http://schemas.microsoft.com/office/drawing/2014/main" id="{F669D99E-E84A-4D03-86AF-0982BEB19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2756"/>
              <a:ext cx="125" cy="257"/>
            </a:xfrm>
            <a:custGeom>
              <a:avLst/>
              <a:gdLst>
                <a:gd name="T0" fmla="*/ 0 w 40"/>
                <a:gd name="T1" fmla="*/ 0 h 91"/>
                <a:gd name="T2" fmla="*/ 4 w 40"/>
                <a:gd name="T3" fmla="*/ 76 h 91"/>
                <a:gd name="T4" fmla="*/ 40 w 40"/>
                <a:gd name="T5" fmla="*/ 91 h 91"/>
                <a:gd name="T6" fmla="*/ 39 w 40"/>
                <a:gd name="T7" fmla="*/ 6 h 91"/>
                <a:gd name="T8" fmla="*/ 0 w 40"/>
                <a:gd name="T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91">
                  <a:moveTo>
                    <a:pt x="0" y="0"/>
                  </a:moveTo>
                  <a:lnTo>
                    <a:pt x="4" y="76"/>
                  </a:lnTo>
                  <a:lnTo>
                    <a:pt x="40" y="91"/>
                  </a:lnTo>
                  <a:lnTo>
                    <a:pt x="39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BAB7A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42" name="Freeform 10">
              <a:extLst>
                <a:ext uri="{FF2B5EF4-FFF2-40B4-BE49-F238E27FC236}">
                  <a16:creationId xmlns:a16="http://schemas.microsoft.com/office/drawing/2014/main" id="{AB8BD690-B6F0-4EDA-A7B3-6BD031761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2740"/>
              <a:ext cx="107" cy="222"/>
            </a:xfrm>
            <a:custGeom>
              <a:avLst/>
              <a:gdLst>
                <a:gd name="T0" fmla="*/ 0 w 34"/>
                <a:gd name="T1" fmla="*/ 0 h 79"/>
                <a:gd name="T2" fmla="*/ 1 w 34"/>
                <a:gd name="T3" fmla="*/ 63 h 79"/>
                <a:gd name="T4" fmla="*/ 34 w 34"/>
                <a:gd name="T5" fmla="*/ 79 h 79"/>
                <a:gd name="T6" fmla="*/ 33 w 34"/>
                <a:gd name="T7" fmla="*/ 3 h 79"/>
                <a:gd name="T8" fmla="*/ 0 w 34"/>
                <a:gd name="T9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79">
                  <a:moveTo>
                    <a:pt x="0" y="0"/>
                  </a:moveTo>
                  <a:lnTo>
                    <a:pt x="1" y="63"/>
                  </a:lnTo>
                  <a:lnTo>
                    <a:pt x="34" y="79"/>
                  </a:lnTo>
                  <a:lnTo>
                    <a:pt x="3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BAB7A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43" name="Freeform 11">
              <a:extLst>
                <a:ext uri="{FF2B5EF4-FFF2-40B4-BE49-F238E27FC236}">
                  <a16:creationId xmlns:a16="http://schemas.microsoft.com/office/drawing/2014/main" id="{921098B2-EB7E-4D15-AA5D-CD636DD37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1744"/>
              <a:ext cx="634" cy="948"/>
            </a:xfrm>
            <a:custGeom>
              <a:avLst/>
              <a:gdLst>
                <a:gd name="T0" fmla="*/ 26 w 581"/>
                <a:gd name="T1" fmla="*/ 0 h 870"/>
                <a:gd name="T2" fmla="*/ 581 w 581"/>
                <a:gd name="T3" fmla="*/ 647 h 870"/>
                <a:gd name="T4" fmla="*/ 434 w 581"/>
                <a:gd name="T5" fmla="*/ 682 h 870"/>
                <a:gd name="T6" fmla="*/ 408 w 581"/>
                <a:gd name="T7" fmla="*/ 742 h 870"/>
                <a:gd name="T8" fmla="*/ 508 w 581"/>
                <a:gd name="T9" fmla="*/ 870 h 870"/>
                <a:gd name="T10" fmla="*/ 302 w 581"/>
                <a:gd name="T11" fmla="*/ 722 h 870"/>
                <a:gd name="T12" fmla="*/ 0 w 581"/>
                <a:gd name="T13" fmla="*/ 83 h 870"/>
                <a:gd name="T14" fmla="*/ 26 w 581"/>
                <a:gd name="T15" fmla="*/ 0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1" h="870">
                  <a:moveTo>
                    <a:pt x="26" y="0"/>
                  </a:moveTo>
                  <a:lnTo>
                    <a:pt x="581" y="647"/>
                  </a:lnTo>
                  <a:lnTo>
                    <a:pt x="434" y="682"/>
                  </a:lnTo>
                  <a:lnTo>
                    <a:pt x="408" y="742"/>
                  </a:lnTo>
                  <a:lnTo>
                    <a:pt x="508" y="870"/>
                  </a:lnTo>
                  <a:lnTo>
                    <a:pt x="302" y="722"/>
                  </a:lnTo>
                  <a:lnTo>
                    <a:pt x="0" y="83"/>
                  </a:lnTo>
                  <a:lnTo>
                    <a:pt x="26" y="0"/>
                  </a:lnTo>
                  <a:close/>
                </a:path>
              </a:pathLst>
            </a:custGeom>
            <a:gradFill rotWithShape="1">
              <a:gsLst>
                <a:gs pos="0">
                  <a:srgbClr val="8A8572"/>
                </a:gs>
                <a:gs pos="100000">
                  <a:srgbClr val="E7E3D7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44" name="Freeform 12">
              <a:extLst>
                <a:ext uri="{FF2B5EF4-FFF2-40B4-BE49-F238E27FC236}">
                  <a16:creationId xmlns:a16="http://schemas.microsoft.com/office/drawing/2014/main" id="{EB03F5FE-E1FC-4F3B-BB17-30280601B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3676"/>
              <a:ext cx="1003" cy="414"/>
            </a:xfrm>
            <a:custGeom>
              <a:avLst/>
              <a:gdLst>
                <a:gd name="T0" fmla="*/ 229 w 320"/>
                <a:gd name="T1" fmla="*/ 66 h 132"/>
                <a:gd name="T2" fmla="*/ 211 w 320"/>
                <a:gd name="T3" fmla="*/ 84 h 132"/>
                <a:gd name="T4" fmla="*/ 169 w 320"/>
                <a:gd name="T5" fmla="*/ 102 h 132"/>
                <a:gd name="T6" fmla="*/ 0 w 320"/>
                <a:gd name="T7" fmla="*/ 0 h 132"/>
                <a:gd name="T8" fmla="*/ 67 w 320"/>
                <a:gd name="T9" fmla="*/ 69 h 132"/>
                <a:gd name="T10" fmla="*/ 162 w 320"/>
                <a:gd name="T11" fmla="*/ 127 h 132"/>
                <a:gd name="T12" fmla="*/ 195 w 320"/>
                <a:gd name="T13" fmla="*/ 132 h 132"/>
                <a:gd name="T14" fmla="*/ 219 w 320"/>
                <a:gd name="T15" fmla="*/ 123 h 132"/>
                <a:gd name="T16" fmla="*/ 244 w 320"/>
                <a:gd name="T17" fmla="*/ 96 h 132"/>
                <a:gd name="T18" fmla="*/ 310 w 320"/>
                <a:gd name="T19" fmla="*/ 99 h 132"/>
                <a:gd name="T20" fmla="*/ 320 w 320"/>
                <a:gd name="T21" fmla="*/ 88 h 132"/>
                <a:gd name="T22" fmla="*/ 318 w 320"/>
                <a:gd name="T23" fmla="*/ 72 h 132"/>
                <a:gd name="T24" fmla="*/ 286 w 320"/>
                <a:gd name="T25" fmla="*/ 72 h 132"/>
                <a:gd name="T26" fmla="*/ 229 w 320"/>
                <a:gd name="T27" fmla="*/ 6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0" h="132">
                  <a:moveTo>
                    <a:pt x="229" y="66"/>
                  </a:moveTo>
                  <a:lnTo>
                    <a:pt x="211" y="84"/>
                  </a:lnTo>
                  <a:lnTo>
                    <a:pt x="169" y="102"/>
                  </a:lnTo>
                  <a:lnTo>
                    <a:pt x="0" y="0"/>
                  </a:lnTo>
                  <a:lnTo>
                    <a:pt x="67" y="69"/>
                  </a:lnTo>
                  <a:lnTo>
                    <a:pt x="162" y="127"/>
                  </a:lnTo>
                  <a:lnTo>
                    <a:pt x="195" y="132"/>
                  </a:lnTo>
                  <a:lnTo>
                    <a:pt x="219" y="123"/>
                  </a:lnTo>
                  <a:lnTo>
                    <a:pt x="244" y="96"/>
                  </a:lnTo>
                  <a:lnTo>
                    <a:pt x="310" y="99"/>
                  </a:lnTo>
                  <a:lnTo>
                    <a:pt x="320" y="88"/>
                  </a:lnTo>
                  <a:lnTo>
                    <a:pt x="318" y="72"/>
                  </a:lnTo>
                  <a:lnTo>
                    <a:pt x="286" y="72"/>
                  </a:lnTo>
                  <a:lnTo>
                    <a:pt x="229" y="66"/>
                  </a:lnTo>
                  <a:close/>
                </a:path>
              </a:pathLst>
            </a:custGeom>
            <a:gradFill rotWithShape="1">
              <a:gsLst>
                <a:gs pos="0">
                  <a:srgbClr val="8A8572"/>
                </a:gs>
                <a:gs pos="100000">
                  <a:srgbClr val="E7E3D7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45" name="Freeform 13">
              <a:extLst>
                <a:ext uri="{FF2B5EF4-FFF2-40B4-BE49-F238E27FC236}">
                  <a16:creationId xmlns:a16="http://schemas.microsoft.com/office/drawing/2014/main" id="{313BE84E-7E80-449D-836D-9987B0035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2863"/>
              <a:ext cx="949" cy="316"/>
            </a:xfrm>
            <a:custGeom>
              <a:avLst/>
              <a:gdLst>
                <a:gd name="T0" fmla="*/ 608 w 870"/>
                <a:gd name="T1" fmla="*/ 99 h 290"/>
                <a:gd name="T2" fmla="*/ 557 w 870"/>
                <a:gd name="T3" fmla="*/ 151 h 290"/>
                <a:gd name="T4" fmla="*/ 436 w 870"/>
                <a:gd name="T5" fmla="*/ 203 h 290"/>
                <a:gd name="T6" fmla="*/ 0 w 870"/>
                <a:gd name="T7" fmla="*/ 0 h 290"/>
                <a:gd name="T8" fmla="*/ 282 w 870"/>
                <a:gd name="T9" fmla="*/ 216 h 290"/>
                <a:gd name="T10" fmla="*/ 432 w 870"/>
                <a:gd name="T11" fmla="*/ 280 h 290"/>
                <a:gd name="T12" fmla="*/ 510 w 870"/>
                <a:gd name="T13" fmla="*/ 290 h 290"/>
                <a:gd name="T14" fmla="*/ 572 w 870"/>
                <a:gd name="T15" fmla="*/ 246 h 290"/>
                <a:gd name="T16" fmla="*/ 652 w 870"/>
                <a:gd name="T17" fmla="*/ 185 h 290"/>
                <a:gd name="T18" fmla="*/ 841 w 870"/>
                <a:gd name="T19" fmla="*/ 194 h 290"/>
                <a:gd name="T20" fmla="*/ 870 w 870"/>
                <a:gd name="T21" fmla="*/ 162 h 290"/>
                <a:gd name="T22" fmla="*/ 864 w 870"/>
                <a:gd name="T23" fmla="*/ 116 h 290"/>
                <a:gd name="T24" fmla="*/ 772 w 870"/>
                <a:gd name="T25" fmla="*/ 116 h 290"/>
                <a:gd name="T26" fmla="*/ 608 w 870"/>
                <a:gd name="T27" fmla="*/ 99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0" h="290">
                  <a:moveTo>
                    <a:pt x="608" y="99"/>
                  </a:moveTo>
                  <a:lnTo>
                    <a:pt x="557" y="151"/>
                  </a:lnTo>
                  <a:lnTo>
                    <a:pt x="436" y="203"/>
                  </a:lnTo>
                  <a:lnTo>
                    <a:pt x="0" y="0"/>
                  </a:lnTo>
                  <a:lnTo>
                    <a:pt x="282" y="216"/>
                  </a:lnTo>
                  <a:lnTo>
                    <a:pt x="432" y="280"/>
                  </a:lnTo>
                  <a:lnTo>
                    <a:pt x="510" y="290"/>
                  </a:lnTo>
                  <a:lnTo>
                    <a:pt x="572" y="246"/>
                  </a:lnTo>
                  <a:lnTo>
                    <a:pt x="652" y="185"/>
                  </a:lnTo>
                  <a:lnTo>
                    <a:pt x="841" y="194"/>
                  </a:lnTo>
                  <a:lnTo>
                    <a:pt x="870" y="162"/>
                  </a:lnTo>
                  <a:lnTo>
                    <a:pt x="864" y="116"/>
                  </a:lnTo>
                  <a:lnTo>
                    <a:pt x="772" y="116"/>
                  </a:lnTo>
                  <a:lnTo>
                    <a:pt x="608" y="99"/>
                  </a:lnTo>
                  <a:close/>
                </a:path>
              </a:pathLst>
            </a:custGeom>
            <a:gradFill rotWithShape="1">
              <a:gsLst>
                <a:gs pos="0">
                  <a:srgbClr val="8A8572"/>
                </a:gs>
                <a:gs pos="100000">
                  <a:srgbClr val="E7E3D7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46" name="Line 14">
              <a:extLst>
                <a:ext uri="{FF2B5EF4-FFF2-40B4-BE49-F238E27FC236}">
                  <a16:creationId xmlns:a16="http://schemas.microsoft.com/office/drawing/2014/main" id="{18EEFD42-E027-4595-95E0-CB2B90D850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99" y="2804"/>
              <a:ext cx="490" cy="327"/>
            </a:xfrm>
            <a:prstGeom prst="line">
              <a:avLst/>
            </a:prstGeom>
            <a:noFill/>
            <a:ln w="3175">
              <a:solidFill>
                <a:srgbClr val="8A857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4447" name="Line 15">
            <a:extLst>
              <a:ext uri="{FF2B5EF4-FFF2-40B4-BE49-F238E27FC236}">
                <a16:creationId xmlns:a16="http://schemas.microsoft.com/office/drawing/2014/main" id="{7E93236F-9A3F-48C4-8980-D6A955D2B5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438400"/>
            <a:ext cx="137160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4448" name="Line 16">
            <a:extLst>
              <a:ext uri="{FF2B5EF4-FFF2-40B4-BE49-F238E27FC236}">
                <a16:creationId xmlns:a16="http://schemas.microsoft.com/office/drawing/2014/main" id="{17C29EAA-819F-459D-B948-074B8A5E07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09800" y="2438400"/>
            <a:ext cx="609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4449" name="Line 17">
            <a:extLst>
              <a:ext uri="{FF2B5EF4-FFF2-40B4-BE49-F238E27FC236}">
                <a16:creationId xmlns:a16="http://schemas.microsoft.com/office/drawing/2014/main" id="{A6BF3D81-190F-46E4-9415-F61E98D772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3657600"/>
            <a:ext cx="198120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4450" name="Line 18">
            <a:extLst>
              <a:ext uri="{FF2B5EF4-FFF2-40B4-BE49-F238E27FC236}">
                <a16:creationId xmlns:a16="http://schemas.microsoft.com/office/drawing/2014/main" id="{BC5DFE6F-06EA-40F2-B838-C35029B76A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4495800"/>
            <a:ext cx="198120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4451" name="Line 19">
            <a:extLst>
              <a:ext uri="{FF2B5EF4-FFF2-40B4-BE49-F238E27FC236}">
                <a16:creationId xmlns:a16="http://schemas.microsoft.com/office/drawing/2014/main" id="{EC1FE0AF-2E63-4539-A946-24EFAFF4B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438400"/>
            <a:ext cx="38100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4452" name="Line 20">
            <a:extLst>
              <a:ext uri="{FF2B5EF4-FFF2-40B4-BE49-F238E27FC236}">
                <a16:creationId xmlns:a16="http://schemas.microsoft.com/office/drawing/2014/main" id="{875EAFE8-5A3D-4A62-9FB5-D6F5C0383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438400"/>
            <a:ext cx="228600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4453" name="Line 21">
            <a:extLst>
              <a:ext uri="{FF2B5EF4-FFF2-40B4-BE49-F238E27FC236}">
                <a16:creationId xmlns:a16="http://schemas.microsoft.com/office/drawing/2014/main" id="{C7260BC6-E586-4929-AC55-A3EAB999B7B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876800"/>
            <a:ext cx="175260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4454" name="Line 22">
            <a:extLst>
              <a:ext uri="{FF2B5EF4-FFF2-40B4-BE49-F238E27FC236}">
                <a16:creationId xmlns:a16="http://schemas.microsoft.com/office/drawing/2014/main" id="{84D63EFE-9F15-46BB-A335-E91B70C7CC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657600"/>
            <a:ext cx="167640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74455" name="Picture 23">
            <a:extLst>
              <a:ext uri="{FF2B5EF4-FFF2-40B4-BE49-F238E27FC236}">
                <a16:creationId xmlns:a16="http://schemas.microsoft.com/office/drawing/2014/main" id="{818E44FD-6B67-4649-9A63-789BA9E47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6" b="2869"/>
          <a:stretch>
            <a:fillRect/>
          </a:stretch>
        </p:blipFill>
        <p:spPr bwMode="auto">
          <a:xfrm>
            <a:off x="5105400" y="1524000"/>
            <a:ext cx="3589338" cy="275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4456" name="TextBox 274455"/>
          <p:cNvSpPr txBox="1"/>
          <p:nvPr/>
        </p:nvSpPr>
        <p:spPr>
          <a:xfrm>
            <a:off x="5105400" y="1524000"/>
            <a:ext cx="3589338" cy="275431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RMK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TOP15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>
            <a:extLst>
              <a:ext uri="{FF2B5EF4-FFF2-40B4-BE49-F238E27FC236}">
                <a16:creationId xmlns:a16="http://schemas.microsoft.com/office/drawing/2014/main" id="{C186EE28-543E-4AD8-A931-E074E57232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胶片法</a:t>
            </a:r>
          </a:p>
        </p:txBody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C492B410-B4D8-4EBA-BD58-E54EA0FA2D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153400" cy="41148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99"/>
                </a:solidFill>
                <a:latin typeface="Microsoft YaHei"/>
              </a:defRPr>
            </a:pPr>
            <a:r>
              <a:rPr sz="2800">
                <a:solidFill>
                  <a:srgbClr val="FFFF99"/>
                </a:solidFill>
                <a:latin typeface="Microsoft YaHei"/>
              </a:rPr>
              <a:t>优势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99"/>
                </a:solidFill>
                <a:latin typeface="Microsoft YaHei"/>
              </a:defRPr>
            </a:pPr>
            <a:r>
              <a:rPr sz="2800">
                <a:solidFill>
                  <a:srgbClr val="FFFF99"/>
                </a:solidFill>
                <a:latin typeface="Microsoft YaHei"/>
              </a:rPr>
              <a:t>测绘公司普遍拥有大量胶片相机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99"/>
                </a:solidFill>
                <a:latin typeface="Microsoft YaHei"/>
              </a:defRPr>
            </a:pPr>
            <a:r>
              <a:rPr sz="2800">
                <a:solidFill>
                  <a:srgbClr val="FFFF99"/>
                </a:solidFill>
                <a:latin typeface="Microsoft YaHei"/>
              </a:rPr>
              <a:t>多数具备FMC功能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99"/>
                </a:solidFill>
                <a:latin typeface="Microsoft YaHei"/>
              </a:defRPr>
            </a:pPr>
            <a:r>
              <a:rPr sz="2800">
                <a:solidFill>
                  <a:srgbClr val="FFFF99"/>
                </a:solidFill>
                <a:latin typeface="Microsoft YaHei"/>
              </a:rPr>
              <a:t>成本相对较低（10万至50万美元）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99"/>
                </a:solidFill>
                <a:latin typeface="Microsoft YaHei"/>
              </a:defRPr>
            </a:pPr>
            <a:r>
              <a:rPr sz="2800">
                <a:solidFill>
                  <a:srgbClr val="FFFF99"/>
                </a:solidFill>
                <a:latin typeface="Microsoft YaHei"/>
              </a:rPr>
              <a:t>几何构型优良，适用于测绘应用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99"/>
                </a:solidFill>
                <a:latin typeface="Microsoft YaHei"/>
              </a:defRPr>
            </a:pPr>
            <a:r>
              <a:rPr sz="2800">
                <a:solidFill>
                  <a:srgbClr val="FFFF99"/>
                </a:solidFill>
                <a:latin typeface="Microsoft YaHei"/>
              </a:rPr>
              <a:t>缺点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99"/>
                </a:solidFill>
                <a:latin typeface="Microsoft YaHei"/>
              </a:defRPr>
            </a:pPr>
            <a:r>
              <a:rPr sz="2800">
                <a:solidFill>
                  <a:srgbClr val="FFFF99"/>
                </a:solidFill>
                <a:latin typeface="Microsoft YaHei"/>
              </a:rPr>
              <a:t>需扫描模拟胶片以实现数字化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99"/>
                </a:solidFill>
                <a:latin typeface="Microsoft YaHei"/>
              </a:defRPr>
            </a:pPr>
            <a:r>
              <a:rPr sz="2800">
                <a:solidFill>
                  <a:srgbClr val="FFFF99"/>
                </a:solidFill>
                <a:latin typeface="Microsoft YaHei"/>
              </a:rPr>
              <a:t>影像中易显现胶片颗粒、灰尘、绒毛及毛发等瑕疵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B89E2F2C-B0D0-4666-B60F-A227A18BC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534400" cy="11430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800">
                <a:solidFill>
                  <a:srgbClr val="FFFFFF"/>
                </a:solidFill>
                <a:latin typeface="Microsoft YaHei"/>
              </a:defRPr>
            </a:pPr>
            <a:r>
              <a:rPr sz="3800">
                <a:solidFill>
                  <a:srgbClr val="FFFFFF"/>
                </a:solidFill>
                <a:latin typeface="Microsoft YaHei"/>
              </a:rPr>
              <a:t>推扫式传感器（徕卡ADS 40）</a:t>
            </a:r>
          </a:p>
        </p:txBody>
      </p:sp>
      <p:grpSp>
        <p:nvGrpSpPr>
          <p:cNvPr id="276483" name="Group 3">
            <a:extLst>
              <a:ext uri="{FF2B5EF4-FFF2-40B4-BE49-F238E27FC236}">
                <a16:creationId xmlns:a16="http://schemas.microsoft.com/office/drawing/2014/main" id="{9A7D7075-74C4-443F-99A1-8BA77AE89064}"/>
              </a:ext>
            </a:extLst>
          </p:cNvPr>
          <p:cNvGrpSpPr>
            <a:grpSpLocks/>
          </p:cNvGrpSpPr>
          <p:nvPr/>
        </p:nvGrpSpPr>
        <p:grpSpPr bwMode="auto">
          <a:xfrm rot="-20818806">
            <a:off x="1066800" y="1524000"/>
            <a:ext cx="1974850" cy="1346200"/>
            <a:chOff x="295" y="1612"/>
            <a:chExt cx="5602" cy="3205"/>
          </a:xfrm>
        </p:grpSpPr>
        <p:sp>
          <p:nvSpPr>
            <p:cNvPr id="276484" name="Freeform 4">
              <a:extLst>
                <a:ext uri="{FF2B5EF4-FFF2-40B4-BE49-F238E27FC236}">
                  <a16:creationId xmlns:a16="http://schemas.microsoft.com/office/drawing/2014/main" id="{743D2BB7-A377-4335-A96E-6C91C4A91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" y="1612"/>
              <a:ext cx="5602" cy="3205"/>
            </a:xfrm>
            <a:custGeom>
              <a:avLst/>
              <a:gdLst>
                <a:gd name="T0" fmla="*/ 2354 w 5140"/>
                <a:gd name="T1" fmla="*/ 397 h 2942"/>
                <a:gd name="T2" fmla="*/ 1802 w 5140"/>
                <a:gd name="T3" fmla="*/ 716 h 2942"/>
                <a:gd name="T4" fmla="*/ 1182 w 5140"/>
                <a:gd name="T5" fmla="*/ 95 h 2942"/>
                <a:gd name="T6" fmla="*/ 1147 w 5140"/>
                <a:gd name="T7" fmla="*/ 221 h 2942"/>
                <a:gd name="T8" fmla="*/ 1457 w 5140"/>
                <a:gd name="T9" fmla="*/ 846 h 2942"/>
                <a:gd name="T10" fmla="*/ 561 w 5140"/>
                <a:gd name="T11" fmla="*/ 1337 h 2942"/>
                <a:gd name="T12" fmla="*/ 716 w 5140"/>
                <a:gd name="T13" fmla="*/ 1424 h 2942"/>
                <a:gd name="T14" fmla="*/ 1647 w 5140"/>
                <a:gd name="T15" fmla="*/ 984 h 2942"/>
                <a:gd name="T16" fmla="*/ 2285 w 5140"/>
                <a:gd name="T17" fmla="*/ 1631 h 2942"/>
                <a:gd name="T18" fmla="*/ 0 w 5140"/>
                <a:gd name="T19" fmla="*/ 2795 h 2942"/>
                <a:gd name="T20" fmla="*/ 276 w 5140"/>
                <a:gd name="T21" fmla="*/ 2942 h 2942"/>
                <a:gd name="T22" fmla="*/ 2078 w 5140"/>
                <a:gd name="T23" fmla="*/ 2088 h 2942"/>
                <a:gd name="T24" fmla="*/ 2354 w 5140"/>
                <a:gd name="T25" fmla="*/ 2260 h 2942"/>
                <a:gd name="T26" fmla="*/ 2458 w 5140"/>
                <a:gd name="T27" fmla="*/ 2286 h 2942"/>
                <a:gd name="T28" fmla="*/ 2553 w 5140"/>
                <a:gd name="T29" fmla="*/ 2252 h 2942"/>
                <a:gd name="T30" fmla="*/ 2604 w 5140"/>
                <a:gd name="T31" fmla="*/ 2183 h 2942"/>
                <a:gd name="T32" fmla="*/ 2777 w 5140"/>
                <a:gd name="T33" fmla="*/ 2189 h 2942"/>
                <a:gd name="T34" fmla="*/ 2834 w 5140"/>
                <a:gd name="T35" fmla="*/ 2163 h 2942"/>
                <a:gd name="T36" fmla="*/ 2837 w 5140"/>
                <a:gd name="T37" fmla="*/ 2105 h 2942"/>
                <a:gd name="T38" fmla="*/ 2760 w 5140"/>
                <a:gd name="T39" fmla="*/ 2027 h 2942"/>
                <a:gd name="T40" fmla="*/ 2837 w 5140"/>
                <a:gd name="T41" fmla="*/ 1984 h 2942"/>
                <a:gd name="T42" fmla="*/ 2829 w 5140"/>
                <a:gd name="T43" fmla="*/ 1933 h 2942"/>
                <a:gd name="T44" fmla="*/ 2673 w 5140"/>
                <a:gd name="T45" fmla="*/ 1846 h 2942"/>
                <a:gd name="T46" fmla="*/ 2783 w 5140"/>
                <a:gd name="T47" fmla="*/ 1814 h 2942"/>
                <a:gd name="T48" fmla="*/ 3071 w 5140"/>
                <a:gd name="T49" fmla="*/ 1886 h 2942"/>
                <a:gd name="T50" fmla="*/ 3312 w 5140"/>
                <a:gd name="T51" fmla="*/ 1933 h 2942"/>
                <a:gd name="T52" fmla="*/ 3441 w 5140"/>
                <a:gd name="T53" fmla="*/ 1958 h 2942"/>
                <a:gd name="T54" fmla="*/ 3657 w 5140"/>
                <a:gd name="T55" fmla="*/ 1967 h 2942"/>
                <a:gd name="T56" fmla="*/ 3769 w 5140"/>
                <a:gd name="T57" fmla="*/ 1915 h 2942"/>
                <a:gd name="T58" fmla="*/ 3941 w 5140"/>
                <a:gd name="T59" fmla="*/ 1933 h 2942"/>
                <a:gd name="T60" fmla="*/ 4027 w 5140"/>
                <a:gd name="T61" fmla="*/ 1872 h 2942"/>
                <a:gd name="T62" fmla="*/ 4036 w 5140"/>
                <a:gd name="T63" fmla="*/ 1760 h 2942"/>
                <a:gd name="T64" fmla="*/ 3665 w 5140"/>
                <a:gd name="T65" fmla="*/ 1394 h 2942"/>
                <a:gd name="T66" fmla="*/ 3731 w 5140"/>
                <a:gd name="T67" fmla="*/ 1370 h 2942"/>
                <a:gd name="T68" fmla="*/ 3869 w 5140"/>
                <a:gd name="T69" fmla="*/ 1428 h 2942"/>
                <a:gd name="T70" fmla="*/ 3957 w 5140"/>
                <a:gd name="T71" fmla="*/ 1440 h 2942"/>
                <a:gd name="T72" fmla="*/ 4095 w 5140"/>
                <a:gd name="T73" fmla="*/ 1330 h 2942"/>
                <a:gd name="T74" fmla="*/ 4285 w 5140"/>
                <a:gd name="T75" fmla="*/ 1342 h 2942"/>
                <a:gd name="T76" fmla="*/ 4319 w 5140"/>
                <a:gd name="T77" fmla="*/ 1308 h 2942"/>
                <a:gd name="T78" fmla="*/ 4315 w 5140"/>
                <a:gd name="T79" fmla="*/ 1264 h 2942"/>
                <a:gd name="T80" fmla="*/ 4227 w 5140"/>
                <a:gd name="T81" fmla="*/ 1194 h 2942"/>
                <a:gd name="T82" fmla="*/ 4299 w 5140"/>
                <a:gd name="T83" fmla="*/ 1140 h 2942"/>
                <a:gd name="T84" fmla="*/ 4297 w 5140"/>
                <a:gd name="T85" fmla="*/ 1088 h 2942"/>
                <a:gd name="T86" fmla="*/ 4031 w 5140"/>
                <a:gd name="T87" fmla="*/ 946 h 2942"/>
                <a:gd name="T88" fmla="*/ 5140 w 5140"/>
                <a:gd name="T89" fmla="*/ 104 h 2942"/>
                <a:gd name="T90" fmla="*/ 4864 w 5140"/>
                <a:gd name="T91" fmla="*/ 0 h 2942"/>
                <a:gd name="T92" fmla="*/ 3217 w 5140"/>
                <a:gd name="T93" fmla="*/ 1096 h 2942"/>
                <a:gd name="T94" fmla="*/ 3036 w 5140"/>
                <a:gd name="T95" fmla="*/ 940 h 2942"/>
                <a:gd name="T96" fmla="*/ 2872 w 5140"/>
                <a:gd name="T97" fmla="*/ 889 h 2942"/>
                <a:gd name="T98" fmla="*/ 1958 w 5140"/>
                <a:gd name="T99" fmla="*/ 811 h 2942"/>
                <a:gd name="T100" fmla="*/ 2579 w 5140"/>
                <a:gd name="T101" fmla="*/ 431 h 2942"/>
                <a:gd name="T102" fmla="*/ 2354 w 5140"/>
                <a:gd name="T103" fmla="*/ 397 h 2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140" h="2942">
                  <a:moveTo>
                    <a:pt x="2354" y="397"/>
                  </a:moveTo>
                  <a:lnTo>
                    <a:pt x="1802" y="716"/>
                  </a:lnTo>
                  <a:lnTo>
                    <a:pt x="1182" y="95"/>
                  </a:lnTo>
                  <a:lnTo>
                    <a:pt x="1147" y="221"/>
                  </a:lnTo>
                  <a:lnTo>
                    <a:pt x="1457" y="846"/>
                  </a:lnTo>
                  <a:lnTo>
                    <a:pt x="561" y="1337"/>
                  </a:lnTo>
                  <a:lnTo>
                    <a:pt x="716" y="1424"/>
                  </a:lnTo>
                  <a:lnTo>
                    <a:pt x="1647" y="984"/>
                  </a:lnTo>
                  <a:lnTo>
                    <a:pt x="2285" y="1631"/>
                  </a:lnTo>
                  <a:lnTo>
                    <a:pt x="0" y="2795"/>
                  </a:lnTo>
                  <a:lnTo>
                    <a:pt x="276" y="2942"/>
                  </a:lnTo>
                  <a:lnTo>
                    <a:pt x="2078" y="2088"/>
                  </a:lnTo>
                  <a:lnTo>
                    <a:pt x="2354" y="2260"/>
                  </a:lnTo>
                  <a:lnTo>
                    <a:pt x="2458" y="2286"/>
                  </a:lnTo>
                  <a:lnTo>
                    <a:pt x="2553" y="2252"/>
                  </a:lnTo>
                  <a:lnTo>
                    <a:pt x="2604" y="2183"/>
                  </a:lnTo>
                  <a:lnTo>
                    <a:pt x="2777" y="2189"/>
                  </a:lnTo>
                  <a:lnTo>
                    <a:pt x="2834" y="2163"/>
                  </a:lnTo>
                  <a:lnTo>
                    <a:pt x="2837" y="2105"/>
                  </a:lnTo>
                  <a:lnTo>
                    <a:pt x="2760" y="2027"/>
                  </a:lnTo>
                  <a:lnTo>
                    <a:pt x="2837" y="1984"/>
                  </a:lnTo>
                  <a:lnTo>
                    <a:pt x="2829" y="1933"/>
                  </a:lnTo>
                  <a:lnTo>
                    <a:pt x="2673" y="1846"/>
                  </a:lnTo>
                  <a:lnTo>
                    <a:pt x="2783" y="1814"/>
                  </a:lnTo>
                  <a:lnTo>
                    <a:pt x="3071" y="1886"/>
                  </a:lnTo>
                  <a:lnTo>
                    <a:pt x="3312" y="1933"/>
                  </a:lnTo>
                  <a:lnTo>
                    <a:pt x="3441" y="1958"/>
                  </a:lnTo>
                  <a:lnTo>
                    <a:pt x="3657" y="1967"/>
                  </a:lnTo>
                  <a:lnTo>
                    <a:pt x="3769" y="1915"/>
                  </a:lnTo>
                  <a:lnTo>
                    <a:pt x="3941" y="1933"/>
                  </a:lnTo>
                  <a:lnTo>
                    <a:pt x="4027" y="1872"/>
                  </a:lnTo>
                  <a:lnTo>
                    <a:pt x="4036" y="1760"/>
                  </a:lnTo>
                  <a:lnTo>
                    <a:pt x="3665" y="1394"/>
                  </a:lnTo>
                  <a:lnTo>
                    <a:pt x="3731" y="1370"/>
                  </a:lnTo>
                  <a:lnTo>
                    <a:pt x="3869" y="1428"/>
                  </a:lnTo>
                  <a:lnTo>
                    <a:pt x="3957" y="1440"/>
                  </a:lnTo>
                  <a:lnTo>
                    <a:pt x="4095" y="1330"/>
                  </a:lnTo>
                  <a:lnTo>
                    <a:pt x="4285" y="1342"/>
                  </a:lnTo>
                  <a:lnTo>
                    <a:pt x="4319" y="1308"/>
                  </a:lnTo>
                  <a:lnTo>
                    <a:pt x="4315" y="1264"/>
                  </a:lnTo>
                  <a:lnTo>
                    <a:pt x="4227" y="1194"/>
                  </a:lnTo>
                  <a:lnTo>
                    <a:pt x="4299" y="1140"/>
                  </a:lnTo>
                  <a:lnTo>
                    <a:pt x="4297" y="1088"/>
                  </a:lnTo>
                  <a:lnTo>
                    <a:pt x="4031" y="946"/>
                  </a:lnTo>
                  <a:lnTo>
                    <a:pt x="5140" y="104"/>
                  </a:lnTo>
                  <a:lnTo>
                    <a:pt x="4864" y="0"/>
                  </a:lnTo>
                  <a:lnTo>
                    <a:pt x="3217" y="1096"/>
                  </a:lnTo>
                  <a:lnTo>
                    <a:pt x="3036" y="940"/>
                  </a:lnTo>
                  <a:lnTo>
                    <a:pt x="2872" y="889"/>
                  </a:lnTo>
                  <a:lnTo>
                    <a:pt x="1958" y="811"/>
                  </a:lnTo>
                  <a:lnTo>
                    <a:pt x="2579" y="431"/>
                  </a:lnTo>
                  <a:lnTo>
                    <a:pt x="2354" y="397"/>
                  </a:lnTo>
                  <a:close/>
                </a:path>
              </a:pathLst>
            </a:custGeom>
            <a:gradFill rotWithShape="1">
              <a:gsLst>
                <a:gs pos="0">
                  <a:srgbClr val="EFECE5"/>
                </a:gs>
                <a:gs pos="100000">
                  <a:srgbClr val="BAB7AA"/>
                </a:gs>
              </a:gsLst>
              <a:path path="rect">
                <a:fillToRect l="50000" t="50000" r="50000" b="50000"/>
              </a:path>
            </a:gradFill>
            <a:ln w="3175" cmpd="sng">
              <a:solidFill>
                <a:srgbClr val="8A8572"/>
              </a:solidFill>
              <a:round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485" name="Freeform 5">
              <a:extLst>
                <a:ext uri="{FF2B5EF4-FFF2-40B4-BE49-F238E27FC236}">
                  <a16:creationId xmlns:a16="http://schemas.microsoft.com/office/drawing/2014/main" id="{AF71DA84-2404-4B5C-A7A6-C17969747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0" y="2684"/>
              <a:ext cx="2307" cy="1070"/>
            </a:xfrm>
            <a:custGeom>
              <a:avLst/>
              <a:gdLst>
                <a:gd name="T0" fmla="*/ 2117 w 2117"/>
                <a:gd name="T1" fmla="*/ 928 h 982"/>
                <a:gd name="T2" fmla="*/ 1431 w 2117"/>
                <a:gd name="T3" fmla="*/ 690 h 982"/>
                <a:gd name="T4" fmla="*/ 940 w 2117"/>
                <a:gd name="T5" fmla="*/ 500 h 982"/>
                <a:gd name="T6" fmla="*/ 457 w 2117"/>
                <a:gd name="T7" fmla="*/ 293 h 982"/>
                <a:gd name="T8" fmla="*/ 0 w 2117"/>
                <a:gd name="T9" fmla="*/ 0 h 982"/>
                <a:gd name="T10" fmla="*/ 637 w 2117"/>
                <a:gd name="T11" fmla="*/ 650 h 982"/>
                <a:gd name="T12" fmla="*/ 1103 w 2117"/>
                <a:gd name="T13" fmla="*/ 830 h 982"/>
                <a:gd name="T14" fmla="*/ 1463 w 2117"/>
                <a:gd name="T15" fmla="*/ 910 h 982"/>
                <a:gd name="T16" fmla="*/ 1795 w 2117"/>
                <a:gd name="T17" fmla="*/ 974 h 982"/>
                <a:gd name="T18" fmla="*/ 2005 w 2117"/>
                <a:gd name="T19" fmla="*/ 982 h 982"/>
                <a:gd name="T20" fmla="*/ 2117 w 2117"/>
                <a:gd name="T21" fmla="*/ 928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17" h="982">
                  <a:moveTo>
                    <a:pt x="2117" y="928"/>
                  </a:moveTo>
                  <a:lnTo>
                    <a:pt x="1431" y="690"/>
                  </a:lnTo>
                  <a:lnTo>
                    <a:pt x="940" y="500"/>
                  </a:lnTo>
                  <a:lnTo>
                    <a:pt x="457" y="293"/>
                  </a:lnTo>
                  <a:lnTo>
                    <a:pt x="0" y="0"/>
                  </a:lnTo>
                  <a:lnTo>
                    <a:pt x="637" y="650"/>
                  </a:lnTo>
                  <a:lnTo>
                    <a:pt x="1103" y="830"/>
                  </a:lnTo>
                  <a:lnTo>
                    <a:pt x="1463" y="910"/>
                  </a:lnTo>
                  <a:lnTo>
                    <a:pt x="1795" y="974"/>
                  </a:lnTo>
                  <a:lnTo>
                    <a:pt x="2005" y="982"/>
                  </a:lnTo>
                  <a:lnTo>
                    <a:pt x="2117" y="928"/>
                  </a:lnTo>
                  <a:close/>
                </a:path>
              </a:pathLst>
            </a:custGeom>
            <a:gradFill rotWithShape="1">
              <a:gsLst>
                <a:gs pos="0">
                  <a:srgbClr val="A9A597"/>
                </a:gs>
                <a:gs pos="100000">
                  <a:srgbClr val="E7E3D7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486" name="Freeform 6">
              <a:extLst>
                <a:ext uri="{FF2B5EF4-FFF2-40B4-BE49-F238E27FC236}">
                  <a16:creationId xmlns:a16="http://schemas.microsoft.com/office/drawing/2014/main" id="{7B015212-D7DD-4903-974F-4C58E93B6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2656"/>
              <a:ext cx="608" cy="504"/>
            </a:xfrm>
            <a:custGeom>
              <a:avLst/>
              <a:gdLst>
                <a:gd name="T0" fmla="*/ 93 w 194"/>
                <a:gd name="T1" fmla="*/ 0 h 161"/>
                <a:gd name="T2" fmla="*/ 0 w 194"/>
                <a:gd name="T3" fmla="*/ 51 h 161"/>
                <a:gd name="T4" fmla="*/ 44 w 194"/>
                <a:gd name="T5" fmla="*/ 159 h 161"/>
                <a:gd name="T6" fmla="*/ 194 w 194"/>
                <a:gd name="T7" fmla="*/ 80 h 161"/>
                <a:gd name="T8" fmla="*/ 93 w 194"/>
                <a:gd name="T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61">
                  <a:moveTo>
                    <a:pt x="93" y="0"/>
                  </a:moveTo>
                  <a:lnTo>
                    <a:pt x="0" y="51"/>
                  </a:lnTo>
                  <a:cubicBezTo>
                    <a:pt x="40" y="161"/>
                    <a:pt x="12" y="153"/>
                    <a:pt x="44" y="159"/>
                  </a:cubicBezTo>
                  <a:lnTo>
                    <a:pt x="194" y="80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BAB7AA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487" name="Freeform 7">
              <a:extLst>
                <a:ext uri="{FF2B5EF4-FFF2-40B4-BE49-F238E27FC236}">
                  <a16:creationId xmlns:a16="http://schemas.microsoft.com/office/drawing/2014/main" id="{3450FA04-7463-4902-BD17-582EA1134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2818"/>
              <a:ext cx="225" cy="345"/>
            </a:xfrm>
            <a:custGeom>
              <a:avLst/>
              <a:gdLst>
                <a:gd name="T0" fmla="*/ 0 w 81"/>
                <a:gd name="T1" fmla="*/ 0 h 123"/>
                <a:gd name="T2" fmla="*/ 6 w 81"/>
                <a:gd name="T3" fmla="*/ 99 h 123"/>
                <a:gd name="T4" fmla="*/ 81 w 81"/>
                <a:gd name="T5" fmla="*/ 123 h 123"/>
                <a:gd name="T6" fmla="*/ 78 w 81"/>
                <a:gd name="T7" fmla="*/ 81 h 123"/>
                <a:gd name="T8" fmla="*/ 33 w 81"/>
                <a:gd name="T9" fmla="*/ 9 h 123"/>
                <a:gd name="T10" fmla="*/ 0 w 81"/>
                <a:gd name="T1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123">
                  <a:moveTo>
                    <a:pt x="0" y="0"/>
                  </a:moveTo>
                  <a:lnTo>
                    <a:pt x="6" y="99"/>
                  </a:lnTo>
                  <a:lnTo>
                    <a:pt x="81" y="123"/>
                  </a:lnTo>
                  <a:cubicBezTo>
                    <a:pt x="78" y="85"/>
                    <a:pt x="78" y="99"/>
                    <a:pt x="78" y="81"/>
                  </a:cubicBezTo>
                  <a:lnTo>
                    <a:pt x="33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BAB7A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488" name="Freeform 8">
              <a:extLst>
                <a:ext uri="{FF2B5EF4-FFF2-40B4-BE49-F238E27FC236}">
                  <a16:creationId xmlns:a16="http://schemas.microsoft.com/office/drawing/2014/main" id="{062A3329-92F7-40D3-B2FE-D81E3F2DD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2784"/>
              <a:ext cx="206" cy="294"/>
            </a:xfrm>
            <a:custGeom>
              <a:avLst/>
              <a:gdLst>
                <a:gd name="T0" fmla="*/ 0 w 66"/>
                <a:gd name="T1" fmla="*/ 0 h 105"/>
                <a:gd name="T2" fmla="*/ 1 w 66"/>
                <a:gd name="T3" fmla="*/ 84 h 105"/>
                <a:gd name="T4" fmla="*/ 66 w 66"/>
                <a:gd name="T5" fmla="*/ 105 h 105"/>
                <a:gd name="T6" fmla="*/ 60 w 66"/>
                <a:gd name="T7" fmla="*/ 9 h 105"/>
                <a:gd name="T8" fmla="*/ 0 w 66"/>
                <a:gd name="T9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105">
                  <a:moveTo>
                    <a:pt x="0" y="0"/>
                  </a:moveTo>
                  <a:lnTo>
                    <a:pt x="1" y="84"/>
                  </a:lnTo>
                  <a:lnTo>
                    <a:pt x="66" y="105"/>
                  </a:lnTo>
                  <a:lnTo>
                    <a:pt x="60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BAB7A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489" name="Freeform 9">
              <a:extLst>
                <a:ext uri="{FF2B5EF4-FFF2-40B4-BE49-F238E27FC236}">
                  <a16:creationId xmlns:a16="http://schemas.microsoft.com/office/drawing/2014/main" id="{A65DEAD3-AFFF-438C-8AB9-7A7BF7372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2756"/>
              <a:ext cx="125" cy="257"/>
            </a:xfrm>
            <a:custGeom>
              <a:avLst/>
              <a:gdLst>
                <a:gd name="T0" fmla="*/ 0 w 40"/>
                <a:gd name="T1" fmla="*/ 0 h 91"/>
                <a:gd name="T2" fmla="*/ 4 w 40"/>
                <a:gd name="T3" fmla="*/ 76 h 91"/>
                <a:gd name="T4" fmla="*/ 40 w 40"/>
                <a:gd name="T5" fmla="*/ 91 h 91"/>
                <a:gd name="T6" fmla="*/ 39 w 40"/>
                <a:gd name="T7" fmla="*/ 6 h 91"/>
                <a:gd name="T8" fmla="*/ 0 w 40"/>
                <a:gd name="T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91">
                  <a:moveTo>
                    <a:pt x="0" y="0"/>
                  </a:moveTo>
                  <a:lnTo>
                    <a:pt x="4" y="76"/>
                  </a:lnTo>
                  <a:lnTo>
                    <a:pt x="40" y="91"/>
                  </a:lnTo>
                  <a:lnTo>
                    <a:pt x="39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BAB7A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490" name="Freeform 10">
              <a:extLst>
                <a:ext uri="{FF2B5EF4-FFF2-40B4-BE49-F238E27FC236}">
                  <a16:creationId xmlns:a16="http://schemas.microsoft.com/office/drawing/2014/main" id="{6DF3E077-D486-44F7-A7F0-74571A037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2740"/>
              <a:ext cx="107" cy="222"/>
            </a:xfrm>
            <a:custGeom>
              <a:avLst/>
              <a:gdLst>
                <a:gd name="T0" fmla="*/ 0 w 34"/>
                <a:gd name="T1" fmla="*/ 0 h 79"/>
                <a:gd name="T2" fmla="*/ 1 w 34"/>
                <a:gd name="T3" fmla="*/ 63 h 79"/>
                <a:gd name="T4" fmla="*/ 34 w 34"/>
                <a:gd name="T5" fmla="*/ 79 h 79"/>
                <a:gd name="T6" fmla="*/ 33 w 34"/>
                <a:gd name="T7" fmla="*/ 3 h 79"/>
                <a:gd name="T8" fmla="*/ 0 w 34"/>
                <a:gd name="T9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79">
                  <a:moveTo>
                    <a:pt x="0" y="0"/>
                  </a:moveTo>
                  <a:lnTo>
                    <a:pt x="1" y="63"/>
                  </a:lnTo>
                  <a:lnTo>
                    <a:pt x="34" y="79"/>
                  </a:lnTo>
                  <a:lnTo>
                    <a:pt x="3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BAB7A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491" name="Freeform 11">
              <a:extLst>
                <a:ext uri="{FF2B5EF4-FFF2-40B4-BE49-F238E27FC236}">
                  <a16:creationId xmlns:a16="http://schemas.microsoft.com/office/drawing/2014/main" id="{6D31F969-6EE9-4CD2-9147-17424AEB6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1744"/>
              <a:ext cx="634" cy="948"/>
            </a:xfrm>
            <a:custGeom>
              <a:avLst/>
              <a:gdLst>
                <a:gd name="T0" fmla="*/ 26 w 581"/>
                <a:gd name="T1" fmla="*/ 0 h 870"/>
                <a:gd name="T2" fmla="*/ 581 w 581"/>
                <a:gd name="T3" fmla="*/ 647 h 870"/>
                <a:gd name="T4" fmla="*/ 434 w 581"/>
                <a:gd name="T5" fmla="*/ 682 h 870"/>
                <a:gd name="T6" fmla="*/ 408 w 581"/>
                <a:gd name="T7" fmla="*/ 742 h 870"/>
                <a:gd name="T8" fmla="*/ 508 w 581"/>
                <a:gd name="T9" fmla="*/ 870 h 870"/>
                <a:gd name="T10" fmla="*/ 302 w 581"/>
                <a:gd name="T11" fmla="*/ 722 h 870"/>
                <a:gd name="T12" fmla="*/ 0 w 581"/>
                <a:gd name="T13" fmla="*/ 83 h 870"/>
                <a:gd name="T14" fmla="*/ 26 w 581"/>
                <a:gd name="T15" fmla="*/ 0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1" h="870">
                  <a:moveTo>
                    <a:pt x="26" y="0"/>
                  </a:moveTo>
                  <a:lnTo>
                    <a:pt x="581" y="647"/>
                  </a:lnTo>
                  <a:lnTo>
                    <a:pt x="434" y="682"/>
                  </a:lnTo>
                  <a:lnTo>
                    <a:pt x="408" y="742"/>
                  </a:lnTo>
                  <a:lnTo>
                    <a:pt x="508" y="870"/>
                  </a:lnTo>
                  <a:lnTo>
                    <a:pt x="302" y="722"/>
                  </a:lnTo>
                  <a:lnTo>
                    <a:pt x="0" y="83"/>
                  </a:lnTo>
                  <a:lnTo>
                    <a:pt x="26" y="0"/>
                  </a:lnTo>
                  <a:close/>
                </a:path>
              </a:pathLst>
            </a:custGeom>
            <a:gradFill rotWithShape="1">
              <a:gsLst>
                <a:gs pos="0">
                  <a:srgbClr val="8A8572"/>
                </a:gs>
                <a:gs pos="100000">
                  <a:srgbClr val="E7E3D7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492" name="Freeform 12">
              <a:extLst>
                <a:ext uri="{FF2B5EF4-FFF2-40B4-BE49-F238E27FC236}">
                  <a16:creationId xmlns:a16="http://schemas.microsoft.com/office/drawing/2014/main" id="{CC614CDA-05F2-42F9-A759-1978C0DDA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3676"/>
              <a:ext cx="1003" cy="414"/>
            </a:xfrm>
            <a:custGeom>
              <a:avLst/>
              <a:gdLst>
                <a:gd name="T0" fmla="*/ 229 w 320"/>
                <a:gd name="T1" fmla="*/ 66 h 132"/>
                <a:gd name="T2" fmla="*/ 211 w 320"/>
                <a:gd name="T3" fmla="*/ 84 h 132"/>
                <a:gd name="T4" fmla="*/ 169 w 320"/>
                <a:gd name="T5" fmla="*/ 102 h 132"/>
                <a:gd name="T6" fmla="*/ 0 w 320"/>
                <a:gd name="T7" fmla="*/ 0 h 132"/>
                <a:gd name="T8" fmla="*/ 67 w 320"/>
                <a:gd name="T9" fmla="*/ 69 h 132"/>
                <a:gd name="T10" fmla="*/ 162 w 320"/>
                <a:gd name="T11" fmla="*/ 127 h 132"/>
                <a:gd name="T12" fmla="*/ 195 w 320"/>
                <a:gd name="T13" fmla="*/ 132 h 132"/>
                <a:gd name="T14" fmla="*/ 219 w 320"/>
                <a:gd name="T15" fmla="*/ 123 h 132"/>
                <a:gd name="T16" fmla="*/ 244 w 320"/>
                <a:gd name="T17" fmla="*/ 96 h 132"/>
                <a:gd name="T18" fmla="*/ 310 w 320"/>
                <a:gd name="T19" fmla="*/ 99 h 132"/>
                <a:gd name="T20" fmla="*/ 320 w 320"/>
                <a:gd name="T21" fmla="*/ 88 h 132"/>
                <a:gd name="T22" fmla="*/ 318 w 320"/>
                <a:gd name="T23" fmla="*/ 72 h 132"/>
                <a:gd name="T24" fmla="*/ 286 w 320"/>
                <a:gd name="T25" fmla="*/ 72 h 132"/>
                <a:gd name="T26" fmla="*/ 229 w 320"/>
                <a:gd name="T27" fmla="*/ 6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0" h="132">
                  <a:moveTo>
                    <a:pt x="229" y="66"/>
                  </a:moveTo>
                  <a:lnTo>
                    <a:pt x="211" y="84"/>
                  </a:lnTo>
                  <a:lnTo>
                    <a:pt x="169" y="102"/>
                  </a:lnTo>
                  <a:lnTo>
                    <a:pt x="0" y="0"/>
                  </a:lnTo>
                  <a:lnTo>
                    <a:pt x="67" y="69"/>
                  </a:lnTo>
                  <a:lnTo>
                    <a:pt x="162" y="127"/>
                  </a:lnTo>
                  <a:lnTo>
                    <a:pt x="195" y="132"/>
                  </a:lnTo>
                  <a:lnTo>
                    <a:pt x="219" y="123"/>
                  </a:lnTo>
                  <a:lnTo>
                    <a:pt x="244" y="96"/>
                  </a:lnTo>
                  <a:lnTo>
                    <a:pt x="310" y="99"/>
                  </a:lnTo>
                  <a:lnTo>
                    <a:pt x="320" y="88"/>
                  </a:lnTo>
                  <a:lnTo>
                    <a:pt x="318" y="72"/>
                  </a:lnTo>
                  <a:lnTo>
                    <a:pt x="286" y="72"/>
                  </a:lnTo>
                  <a:lnTo>
                    <a:pt x="229" y="66"/>
                  </a:lnTo>
                  <a:close/>
                </a:path>
              </a:pathLst>
            </a:custGeom>
            <a:gradFill rotWithShape="1">
              <a:gsLst>
                <a:gs pos="0">
                  <a:srgbClr val="8A8572"/>
                </a:gs>
                <a:gs pos="100000">
                  <a:srgbClr val="E7E3D7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493" name="Freeform 13">
              <a:extLst>
                <a:ext uri="{FF2B5EF4-FFF2-40B4-BE49-F238E27FC236}">
                  <a16:creationId xmlns:a16="http://schemas.microsoft.com/office/drawing/2014/main" id="{B0B54365-FD3C-45C2-A8A3-EE23E0140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2863"/>
              <a:ext cx="949" cy="316"/>
            </a:xfrm>
            <a:custGeom>
              <a:avLst/>
              <a:gdLst>
                <a:gd name="T0" fmla="*/ 608 w 870"/>
                <a:gd name="T1" fmla="*/ 99 h 290"/>
                <a:gd name="T2" fmla="*/ 557 w 870"/>
                <a:gd name="T3" fmla="*/ 151 h 290"/>
                <a:gd name="T4" fmla="*/ 436 w 870"/>
                <a:gd name="T5" fmla="*/ 203 h 290"/>
                <a:gd name="T6" fmla="*/ 0 w 870"/>
                <a:gd name="T7" fmla="*/ 0 h 290"/>
                <a:gd name="T8" fmla="*/ 282 w 870"/>
                <a:gd name="T9" fmla="*/ 216 h 290"/>
                <a:gd name="T10" fmla="*/ 432 w 870"/>
                <a:gd name="T11" fmla="*/ 280 h 290"/>
                <a:gd name="T12" fmla="*/ 510 w 870"/>
                <a:gd name="T13" fmla="*/ 290 h 290"/>
                <a:gd name="T14" fmla="*/ 572 w 870"/>
                <a:gd name="T15" fmla="*/ 246 h 290"/>
                <a:gd name="T16" fmla="*/ 652 w 870"/>
                <a:gd name="T17" fmla="*/ 185 h 290"/>
                <a:gd name="T18" fmla="*/ 841 w 870"/>
                <a:gd name="T19" fmla="*/ 194 h 290"/>
                <a:gd name="T20" fmla="*/ 870 w 870"/>
                <a:gd name="T21" fmla="*/ 162 h 290"/>
                <a:gd name="T22" fmla="*/ 864 w 870"/>
                <a:gd name="T23" fmla="*/ 116 h 290"/>
                <a:gd name="T24" fmla="*/ 772 w 870"/>
                <a:gd name="T25" fmla="*/ 116 h 290"/>
                <a:gd name="T26" fmla="*/ 608 w 870"/>
                <a:gd name="T27" fmla="*/ 99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0" h="290">
                  <a:moveTo>
                    <a:pt x="608" y="99"/>
                  </a:moveTo>
                  <a:lnTo>
                    <a:pt x="557" y="151"/>
                  </a:lnTo>
                  <a:lnTo>
                    <a:pt x="436" y="203"/>
                  </a:lnTo>
                  <a:lnTo>
                    <a:pt x="0" y="0"/>
                  </a:lnTo>
                  <a:lnTo>
                    <a:pt x="282" y="216"/>
                  </a:lnTo>
                  <a:lnTo>
                    <a:pt x="432" y="280"/>
                  </a:lnTo>
                  <a:lnTo>
                    <a:pt x="510" y="290"/>
                  </a:lnTo>
                  <a:lnTo>
                    <a:pt x="572" y="246"/>
                  </a:lnTo>
                  <a:lnTo>
                    <a:pt x="652" y="185"/>
                  </a:lnTo>
                  <a:lnTo>
                    <a:pt x="841" y="194"/>
                  </a:lnTo>
                  <a:lnTo>
                    <a:pt x="870" y="162"/>
                  </a:lnTo>
                  <a:lnTo>
                    <a:pt x="864" y="116"/>
                  </a:lnTo>
                  <a:lnTo>
                    <a:pt x="772" y="116"/>
                  </a:lnTo>
                  <a:lnTo>
                    <a:pt x="608" y="99"/>
                  </a:lnTo>
                  <a:close/>
                </a:path>
              </a:pathLst>
            </a:custGeom>
            <a:gradFill rotWithShape="1">
              <a:gsLst>
                <a:gs pos="0">
                  <a:srgbClr val="8A8572"/>
                </a:gs>
                <a:gs pos="100000">
                  <a:srgbClr val="E7E3D7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494" name="Line 14">
              <a:extLst>
                <a:ext uri="{FF2B5EF4-FFF2-40B4-BE49-F238E27FC236}">
                  <a16:creationId xmlns:a16="http://schemas.microsoft.com/office/drawing/2014/main" id="{CD007088-7942-487D-9B82-1C3B47C52D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99" y="2804"/>
              <a:ext cx="490" cy="327"/>
            </a:xfrm>
            <a:prstGeom prst="line">
              <a:avLst/>
            </a:prstGeom>
            <a:noFill/>
            <a:ln w="3175">
              <a:solidFill>
                <a:srgbClr val="8A857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495" name="Line 15">
            <a:extLst>
              <a:ext uri="{FF2B5EF4-FFF2-40B4-BE49-F238E27FC236}">
                <a16:creationId xmlns:a16="http://schemas.microsoft.com/office/drawing/2014/main" id="{DE50F349-0457-4285-AFCD-F26379E9F2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" y="2438400"/>
            <a:ext cx="152400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496" name="Line 16">
            <a:extLst>
              <a:ext uri="{FF2B5EF4-FFF2-40B4-BE49-F238E27FC236}">
                <a16:creationId xmlns:a16="http://schemas.microsoft.com/office/drawing/2014/main" id="{26DF3F1F-2013-4F3B-92BF-8DE043F39F0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09800" y="2438400"/>
            <a:ext cx="1905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497" name="Line 17">
            <a:extLst>
              <a:ext uri="{FF2B5EF4-FFF2-40B4-BE49-F238E27FC236}">
                <a16:creationId xmlns:a16="http://schemas.microsoft.com/office/drawing/2014/main" id="{0C76AED4-0B6C-4D12-853C-6A2E0A21AB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" y="3124200"/>
            <a:ext cx="3429000" cy="2209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498" name="Text Box 18">
            <a:extLst>
              <a:ext uri="{FF2B5EF4-FFF2-40B4-BE49-F238E27FC236}">
                <a16:creationId xmlns:a16="http://schemas.microsoft.com/office/drawing/2014/main" id="{0B6B99B2-BDEA-439E-8BD9-685F12C49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343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12,000像素宽</a:t>
            </a:r>
          </a:p>
        </p:txBody>
      </p:sp>
      <p:pic>
        <p:nvPicPr>
          <p:cNvPr id="276499" name="Picture 19">
            <a:extLst>
              <a:ext uri="{FF2B5EF4-FFF2-40B4-BE49-F238E27FC236}">
                <a16:creationId xmlns:a16="http://schemas.microsoft.com/office/drawing/2014/main" id="{C367BB20-C272-4EF1-BF33-CD6D0EDCC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743200"/>
            <a:ext cx="25527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6500" name="TextBox 276499"/>
          <p:cNvSpPr txBox="1"/>
          <p:nvPr/>
        </p:nvSpPr>
        <p:spPr>
          <a:xfrm>
            <a:off x="6019800" y="2743200"/>
            <a:ext cx="2552700" cy="25527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EF6082E3-6B02-4822-99D1-CFF42CC60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推扫式数字成像方法</a:t>
            </a:r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878B5758-8B1E-4F66-95C3-1CC0516D4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05800" cy="41148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优势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高质量数字影像（分辨率≤1英尺）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中等成本数字平台（约100万美元）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同步采集全色、彩色与红外波段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高效生成数字正射影像图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沿飞行方向无需拼接缝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劣势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测绘几何精度不及胶片相机与DMC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空中三角测量解算严密性较差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制作用于成图的立体像对较为困难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8ACAEE4B-8890-4A65-B4BC-04EFF09BC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框幅式传感器（Z/I DMC）</a:t>
            </a:r>
          </a:p>
        </p:txBody>
      </p:sp>
      <p:grpSp>
        <p:nvGrpSpPr>
          <p:cNvPr id="278531" name="Group 3">
            <a:extLst>
              <a:ext uri="{FF2B5EF4-FFF2-40B4-BE49-F238E27FC236}">
                <a16:creationId xmlns:a16="http://schemas.microsoft.com/office/drawing/2014/main" id="{CCBAF2AE-9BF7-4CA8-BCE2-FAF0B186CDAE}"/>
              </a:ext>
            </a:extLst>
          </p:cNvPr>
          <p:cNvGrpSpPr>
            <a:grpSpLocks/>
          </p:cNvGrpSpPr>
          <p:nvPr/>
        </p:nvGrpSpPr>
        <p:grpSpPr bwMode="auto">
          <a:xfrm rot="-20818806">
            <a:off x="914400" y="1524000"/>
            <a:ext cx="1974850" cy="1346200"/>
            <a:chOff x="295" y="1612"/>
            <a:chExt cx="5602" cy="3205"/>
          </a:xfrm>
        </p:grpSpPr>
        <p:sp>
          <p:nvSpPr>
            <p:cNvPr id="278532" name="Freeform 4">
              <a:extLst>
                <a:ext uri="{FF2B5EF4-FFF2-40B4-BE49-F238E27FC236}">
                  <a16:creationId xmlns:a16="http://schemas.microsoft.com/office/drawing/2014/main" id="{C6BAEE99-590D-4106-B94B-11A26B8B5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" y="1612"/>
              <a:ext cx="5602" cy="3205"/>
            </a:xfrm>
            <a:custGeom>
              <a:avLst/>
              <a:gdLst>
                <a:gd name="T0" fmla="*/ 2354 w 5140"/>
                <a:gd name="T1" fmla="*/ 397 h 2942"/>
                <a:gd name="T2" fmla="*/ 1802 w 5140"/>
                <a:gd name="T3" fmla="*/ 716 h 2942"/>
                <a:gd name="T4" fmla="*/ 1182 w 5140"/>
                <a:gd name="T5" fmla="*/ 95 h 2942"/>
                <a:gd name="T6" fmla="*/ 1147 w 5140"/>
                <a:gd name="T7" fmla="*/ 221 h 2942"/>
                <a:gd name="T8" fmla="*/ 1457 w 5140"/>
                <a:gd name="T9" fmla="*/ 846 h 2942"/>
                <a:gd name="T10" fmla="*/ 561 w 5140"/>
                <a:gd name="T11" fmla="*/ 1337 h 2942"/>
                <a:gd name="T12" fmla="*/ 716 w 5140"/>
                <a:gd name="T13" fmla="*/ 1424 h 2942"/>
                <a:gd name="T14" fmla="*/ 1647 w 5140"/>
                <a:gd name="T15" fmla="*/ 984 h 2942"/>
                <a:gd name="T16" fmla="*/ 2285 w 5140"/>
                <a:gd name="T17" fmla="*/ 1631 h 2942"/>
                <a:gd name="T18" fmla="*/ 0 w 5140"/>
                <a:gd name="T19" fmla="*/ 2795 h 2942"/>
                <a:gd name="T20" fmla="*/ 276 w 5140"/>
                <a:gd name="T21" fmla="*/ 2942 h 2942"/>
                <a:gd name="T22" fmla="*/ 2078 w 5140"/>
                <a:gd name="T23" fmla="*/ 2088 h 2942"/>
                <a:gd name="T24" fmla="*/ 2354 w 5140"/>
                <a:gd name="T25" fmla="*/ 2260 h 2942"/>
                <a:gd name="T26" fmla="*/ 2458 w 5140"/>
                <a:gd name="T27" fmla="*/ 2286 h 2942"/>
                <a:gd name="T28" fmla="*/ 2553 w 5140"/>
                <a:gd name="T29" fmla="*/ 2252 h 2942"/>
                <a:gd name="T30" fmla="*/ 2604 w 5140"/>
                <a:gd name="T31" fmla="*/ 2183 h 2942"/>
                <a:gd name="T32" fmla="*/ 2777 w 5140"/>
                <a:gd name="T33" fmla="*/ 2189 h 2942"/>
                <a:gd name="T34" fmla="*/ 2834 w 5140"/>
                <a:gd name="T35" fmla="*/ 2163 h 2942"/>
                <a:gd name="T36" fmla="*/ 2837 w 5140"/>
                <a:gd name="T37" fmla="*/ 2105 h 2942"/>
                <a:gd name="T38" fmla="*/ 2760 w 5140"/>
                <a:gd name="T39" fmla="*/ 2027 h 2942"/>
                <a:gd name="T40" fmla="*/ 2837 w 5140"/>
                <a:gd name="T41" fmla="*/ 1984 h 2942"/>
                <a:gd name="T42" fmla="*/ 2829 w 5140"/>
                <a:gd name="T43" fmla="*/ 1933 h 2942"/>
                <a:gd name="T44" fmla="*/ 2673 w 5140"/>
                <a:gd name="T45" fmla="*/ 1846 h 2942"/>
                <a:gd name="T46" fmla="*/ 2783 w 5140"/>
                <a:gd name="T47" fmla="*/ 1814 h 2942"/>
                <a:gd name="T48" fmla="*/ 3071 w 5140"/>
                <a:gd name="T49" fmla="*/ 1886 h 2942"/>
                <a:gd name="T50" fmla="*/ 3312 w 5140"/>
                <a:gd name="T51" fmla="*/ 1933 h 2942"/>
                <a:gd name="T52" fmla="*/ 3441 w 5140"/>
                <a:gd name="T53" fmla="*/ 1958 h 2942"/>
                <a:gd name="T54" fmla="*/ 3657 w 5140"/>
                <a:gd name="T55" fmla="*/ 1967 h 2942"/>
                <a:gd name="T56" fmla="*/ 3769 w 5140"/>
                <a:gd name="T57" fmla="*/ 1915 h 2942"/>
                <a:gd name="T58" fmla="*/ 3941 w 5140"/>
                <a:gd name="T59" fmla="*/ 1933 h 2942"/>
                <a:gd name="T60" fmla="*/ 4027 w 5140"/>
                <a:gd name="T61" fmla="*/ 1872 h 2942"/>
                <a:gd name="T62" fmla="*/ 4036 w 5140"/>
                <a:gd name="T63" fmla="*/ 1760 h 2942"/>
                <a:gd name="T64" fmla="*/ 3665 w 5140"/>
                <a:gd name="T65" fmla="*/ 1394 h 2942"/>
                <a:gd name="T66" fmla="*/ 3731 w 5140"/>
                <a:gd name="T67" fmla="*/ 1370 h 2942"/>
                <a:gd name="T68" fmla="*/ 3869 w 5140"/>
                <a:gd name="T69" fmla="*/ 1428 h 2942"/>
                <a:gd name="T70" fmla="*/ 3957 w 5140"/>
                <a:gd name="T71" fmla="*/ 1440 h 2942"/>
                <a:gd name="T72" fmla="*/ 4095 w 5140"/>
                <a:gd name="T73" fmla="*/ 1330 h 2942"/>
                <a:gd name="T74" fmla="*/ 4285 w 5140"/>
                <a:gd name="T75" fmla="*/ 1342 h 2942"/>
                <a:gd name="T76" fmla="*/ 4319 w 5140"/>
                <a:gd name="T77" fmla="*/ 1308 h 2942"/>
                <a:gd name="T78" fmla="*/ 4315 w 5140"/>
                <a:gd name="T79" fmla="*/ 1264 h 2942"/>
                <a:gd name="T80" fmla="*/ 4227 w 5140"/>
                <a:gd name="T81" fmla="*/ 1194 h 2942"/>
                <a:gd name="T82" fmla="*/ 4299 w 5140"/>
                <a:gd name="T83" fmla="*/ 1140 h 2942"/>
                <a:gd name="T84" fmla="*/ 4297 w 5140"/>
                <a:gd name="T85" fmla="*/ 1088 h 2942"/>
                <a:gd name="T86" fmla="*/ 4031 w 5140"/>
                <a:gd name="T87" fmla="*/ 946 h 2942"/>
                <a:gd name="T88" fmla="*/ 5140 w 5140"/>
                <a:gd name="T89" fmla="*/ 104 h 2942"/>
                <a:gd name="T90" fmla="*/ 4864 w 5140"/>
                <a:gd name="T91" fmla="*/ 0 h 2942"/>
                <a:gd name="T92" fmla="*/ 3217 w 5140"/>
                <a:gd name="T93" fmla="*/ 1096 h 2942"/>
                <a:gd name="T94" fmla="*/ 3036 w 5140"/>
                <a:gd name="T95" fmla="*/ 940 h 2942"/>
                <a:gd name="T96" fmla="*/ 2872 w 5140"/>
                <a:gd name="T97" fmla="*/ 889 h 2942"/>
                <a:gd name="T98" fmla="*/ 1958 w 5140"/>
                <a:gd name="T99" fmla="*/ 811 h 2942"/>
                <a:gd name="T100" fmla="*/ 2579 w 5140"/>
                <a:gd name="T101" fmla="*/ 431 h 2942"/>
                <a:gd name="T102" fmla="*/ 2354 w 5140"/>
                <a:gd name="T103" fmla="*/ 397 h 2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140" h="2942">
                  <a:moveTo>
                    <a:pt x="2354" y="397"/>
                  </a:moveTo>
                  <a:lnTo>
                    <a:pt x="1802" y="716"/>
                  </a:lnTo>
                  <a:lnTo>
                    <a:pt x="1182" y="95"/>
                  </a:lnTo>
                  <a:lnTo>
                    <a:pt x="1147" y="221"/>
                  </a:lnTo>
                  <a:lnTo>
                    <a:pt x="1457" y="846"/>
                  </a:lnTo>
                  <a:lnTo>
                    <a:pt x="561" y="1337"/>
                  </a:lnTo>
                  <a:lnTo>
                    <a:pt x="716" y="1424"/>
                  </a:lnTo>
                  <a:lnTo>
                    <a:pt x="1647" y="984"/>
                  </a:lnTo>
                  <a:lnTo>
                    <a:pt x="2285" y="1631"/>
                  </a:lnTo>
                  <a:lnTo>
                    <a:pt x="0" y="2795"/>
                  </a:lnTo>
                  <a:lnTo>
                    <a:pt x="276" y="2942"/>
                  </a:lnTo>
                  <a:lnTo>
                    <a:pt x="2078" y="2088"/>
                  </a:lnTo>
                  <a:lnTo>
                    <a:pt x="2354" y="2260"/>
                  </a:lnTo>
                  <a:lnTo>
                    <a:pt x="2458" y="2286"/>
                  </a:lnTo>
                  <a:lnTo>
                    <a:pt x="2553" y="2252"/>
                  </a:lnTo>
                  <a:lnTo>
                    <a:pt x="2604" y="2183"/>
                  </a:lnTo>
                  <a:lnTo>
                    <a:pt x="2777" y="2189"/>
                  </a:lnTo>
                  <a:lnTo>
                    <a:pt x="2834" y="2163"/>
                  </a:lnTo>
                  <a:lnTo>
                    <a:pt x="2837" y="2105"/>
                  </a:lnTo>
                  <a:lnTo>
                    <a:pt x="2760" y="2027"/>
                  </a:lnTo>
                  <a:lnTo>
                    <a:pt x="2837" y="1984"/>
                  </a:lnTo>
                  <a:lnTo>
                    <a:pt x="2829" y="1933"/>
                  </a:lnTo>
                  <a:lnTo>
                    <a:pt x="2673" y="1846"/>
                  </a:lnTo>
                  <a:lnTo>
                    <a:pt x="2783" y="1814"/>
                  </a:lnTo>
                  <a:lnTo>
                    <a:pt x="3071" y="1886"/>
                  </a:lnTo>
                  <a:lnTo>
                    <a:pt x="3312" y="1933"/>
                  </a:lnTo>
                  <a:lnTo>
                    <a:pt x="3441" y="1958"/>
                  </a:lnTo>
                  <a:lnTo>
                    <a:pt x="3657" y="1967"/>
                  </a:lnTo>
                  <a:lnTo>
                    <a:pt x="3769" y="1915"/>
                  </a:lnTo>
                  <a:lnTo>
                    <a:pt x="3941" y="1933"/>
                  </a:lnTo>
                  <a:lnTo>
                    <a:pt x="4027" y="1872"/>
                  </a:lnTo>
                  <a:lnTo>
                    <a:pt x="4036" y="1760"/>
                  </a:lnTo>
                  <a:lnTo>
                    <a:pt x="3665" y="1394"/>
                  </a:lnTo>
                  <a:lnTo>
                    <a:pt x="3731" y="1370"/>
                  </a:lnTo>
                  <a:lnTo>
                    <a:pt x="3869" y="1428"/>
                  </a:lnTo>
                  <a:lnTo>
                    <a:pt x="3957" y="1440"/>
                  </a:lnTo>
                  <a:lnTo>
                    <a:pt x="4095" y="1330"/>
                  </a:lnTo>
                  <a:lnTo>
                    <a:pt x="4285" y="1342"/>
                  </a:lnTo>
                  <a:lnTo>
                    <a:pt x="4319" y="1308"/>
                  </a:lnTo>
                  <a:lnTo>
                    <a:pt x="4315" y="1264"/>
                  </a:lnTo>
                  <a:lnTo>
                    <a:pt x="4227" y="1194"/>
                  </a:lnTo>
                  <a:lnTo>
                    <a:pt x="4299" y="1140"/>
                  </a:lnTo>
                  <a:lnTo>
                    <a:pt x="4297" y="1088"/>
                  </a:lnTo>
                  <a:lnTo>
                    <a:pt x="4031" y="946"/>
                  </a:lnTo>
                  <a:lnTo>
                    <a:pt x="5140" y="104"/>
                  </a:lnTo>
                  <a:lnTo>
                    <a:pt x="4864" y="0"/>
                  </a:lnTo>
                  <a:lnTo>
                    <a:pt x="3217" y="1096"/>
                  </a:lnTo>
                  <a:lnTo>
                    <a:pt x="3036" y="940"/>
                  </a:lnTo>
                  <a:lnTo>
                    <a:pt x="2872" y="889"/>
                  </a:lnTo>
                  <a:lnTo>
                    <a:pt x="1958" y="811"/>
                  </a:lnTo>
                  <a:lnTo>
                    <a:pt x="2579" y="431"/>
                  </a:lnTo>
                  <a:lnTo>
                    <a:pt x="2354" y="397"/>
                  </a:lnTo>
                  <a:close/>
                </a:path>
              </a:pathLst>
            </a:custGeom>
            <a:gradFill rotWithShape="1">
              <a:gsLst>
                <a:gs pos="0">
                  <a:srgbClr val="EFECE5"/>
                </a:gs>
                <a:gs pos="100000">
                  <a:srgbClr val="BAB7AA"/>
                </a:gs>
              </a:gsLst>
              <a:path path="rect">
                <a:fillToRect l="50000" t="50000" r="50000" b="50000"/>
              </a:path>
            </a:gradFill>
            <a:ln w="3175" cmpd="sng">
              <a:solidFill>
                <a:srgbClr val="8A8572"/>
              </a:solidFill>
              <a:round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533" name="Freeform 5">
              <a:extLst>
                <a:ext uri="{FF2B5EF4-FFF2-40B4-BE49-F238E27FC236}">
                  <a16:creationId xmlns:a16="http://schemas.microsoft.com/office/drawing/2014/main" id="{D6EF7745-3361-4322-A72D-18D7181DB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0" y="2684"/>
              <a:ext cx="2307" cy="1070"/>
            </a:xfrm>
            <a:custGeom>
              <a:avLst/>
              <a:gdLst>
                <a:gd name="T0" fmla="*/ 2117 w 2117"/>
                <a:gd name="T1" fmla="*/ 928 h 982"/>
                <a:gd name="T2" fmla="*/ 1431 w 2117"/>
                <a:gd name="T3" fmla="*/ 690 h 982"/>
                <a:gd name="T4" fmla="*/ 940 w 2117"/>
                <a:gd name="T5" fmla="*/ 500 h 982"/>
                <a:gd name="T6" fmla="*/ 457 w 2117"/>
                <a:gd name="T7" fmla="*/ 293 h 982"/>
                <a:gd name="T8" fmla="*/ 0 w 2117"/>
                <a:gd name="T9" fmla="*/ 0 h 982"/>
                <a:gd name="T10" fmla="*/ 637 w 2117"/>
                <a:gd name="T11" fmla="*/ 650 h 982"/>
                <a:gd name="T12" fmla="*/ 1103 w 2117"/>
                <a:gd name="T13" fmla="*/ 830 h 982"/>
                <a:gd name="T14" fmla="*/ 1463 w 2117"/>
                <a:gd name="T15" fmla="*/ 910 h 982"/>
                <a:gd name="T16" fmla="*/ 1795 w 2117"/>
                <a:gd name="T17" fmla="*/ 974 h 982"/>
                <a:gd name="T18" fmla="*/ 2005 w 2117"/>
                <a:gd name="T19" fmla="*/ 982 h 982"/>
                <a:gd name="T20" fmla="*/ 2117 w 2117"/>
                <a:gd name="T21" fmla="*/ 928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17" h="982">
                  <a:moveTo>
                    <a:pt x="2117" y="928"/>
                  </a:moveTo>
                  <a:lnTo>
                    <a:pt x="1431" y="690"/>
                  </a:lnTo>
                  <a:lnTo>
                    <a:pt x="940" y="500"/>
                  </a:lnTo>
                  <a:lnTo>
                    <a:pt x="457" y="293"/>
                  </a:lnTo>
                  <a:lnTo>
                    <a:pt x="0" y="0"/>
                  </a:lnTo>
                  <a:lnTo>
                    <a:pt x="637" y="650"/>
                  </a:lnTo>
                  <a:lnTo>
                    <a:pt x="1103" y="830"/>
                  </a:lnTo>
                  <a:lnTo>
                    <a:pt x="1463" y="910"/>
                  </a:lnTo>
                  <a:lnTo>
                    <a:pt x="1795" y="974"/>
                  </a:lnTo>
                  <a:lnTo>
                    <a:pt x="2005" y="982"/>
                  </a:lnTo>
                  <a:lnTo>
                    <a:pt x="2117" y="928"/>
                  </a:lnTo>
                  <a:close/>
                </a:path>
              </a:pathLst>
            </a:custGeom>
            <a:gradFill rotWithShape="1">
              <a:gsLst>
                <a:gs pos="0">
                  <a:srgbClr val="A9A597"/>
                </a:gs>
                <a:gs pos="100000">
                  <a:srgbClr val="E7E3D7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534" name="Freeform 6">
              <a:extLst>
                <a:ext uri="{FF2B5EF4-FFF2-40B4-BE49-F238E27FC236}">
                  <a16:creationId xmlns:a16="http://schemas.microsoft.com/office/drawing/2014/main" id="{859DD1DB-E60D-493F-9078-74768C833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2656"/>
              <a:ext cx="608" cy="504"/>
            </a:xfrm>
            <a:custGeom>
              <a:avLst/>
              <a:gdLst>
                <a:gd name="T0" fmla="*/ 93 w 194"/>
                <a:gd name="T1" fmla="*/ 0 h 161"/>
                <a:gd name="T2" fmla="*/ 0 w 194"/>
                <a:gd name="T3" fmla="*/ 51 h 161"/>
                <a:gd name="T4" fmla="*/ 44 w 194"/>
                <a:gd name="T5" fmla="*/ 159 h 161"/>
                <a:gd name="T6" fmla="*/ 194 w 194"/>
                <a:gd name="T7" fmla="*/ 80 h 161"/>
                <a:gd name="T8" fmla="*/ 93 w 194"/>
                <a:gd name="T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61">
                  <a:moveTo>
                    <a:pt x="93" y="0"/>
                  </a:moveTo>
                  <a:lnTo>
                    <a:pt x="0" y="51"/>
                  </a:lnTo>
                  <a:cubicBezTo>
                    <a:pt x="40" y="161"/>
                    <a:pt x="12" y="153"/>
                    <a:pt x="44" y="159"/>
                  </a:cubicBezTo>
                  <a:lnTo>
                    <a:pt x="194" y="80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BAB7AA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535" name="Freeform 7">
              <a:extLst>
                <a:ext uri="{FF2B5EF4-FFF2-40B4-BE49-F238E27FC236}">
                  <a16:creationId xmlns:a16="http://schemas.microsoft.com/office/drawing/2014/main" id="{8E68425A-F124-4F3E-9A60-049C0CCCA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2818"/>
              <a:ext cx="225" cy="345"/>
            </a:xfrm>
            <a:custGeom>
              <a:avLst/>
              <a:gdLst>
                <a:gd name="T0" fmla="*/ 0 w 81"/>
                <a:gd name="T1" fmla="*/ 0 h 123"/>
                <a:gd name="T2" fmla="*/ 6 w 81"/>
                <a:gd name="T3" fmla="*/ 99 h 123"/>
                <a:gd name="T4" fmla="*/ 81 w 81"/>
                <a:gd name="T5" fmla="*/ 123 h 123"/>
                <a:gd name="T6" fmla="*/ 78 w 81"/>
                <a:gd name="T7" fmla="*/ 81 h 123"/>
                <a:gd name="T8" fmla="*/ 33 w 81"/>
                <a:gd name="T9" fmla="*/ 9 h 123"/>
                <a:gd name="T10" fmla="*/ 0 w 81"/>
                <a:gd name="T1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123">
                  <a:moveTo>
                    <a:pt x="0" y="0"/>
                  </a:moveTo>
                  <a:lnTo>
                    <a:pt x="6" y="99"/>
                  </a:lnTo>
                  <a:lnTo>
                    <a:pt x="81" y="123"/>
                  </a:lnTo>
                  <a:cubicBezTo>
                    <a:pt x="78" y="85"/>
                    <a:pt x="78" y="99"/>
                    <a:pt x="78" y="81"/>
                  </a:cubicBezTo>
                  <a:lnTo>
                    <a:pt x="33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BAB7A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536" name="Freeform 8">
              <a:extLst>
                <a:ext uri="{FF2B5EF4-FFF2-40B4-BE49-F238E27FC236}">
                  <a16:creationId xmlns:a16="http://schemas.microsoft.com/office/drawing/2014/main" id="{DE32CE57-9D09-4ECB-89E6-7306E120F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2784"/>
              <a:ext cx="206" cy="294"/>
            </a:xfrm>
            <a:custGeom>
              <a:avLst/>
              <a:gdLst>
                <a:gd name="T0" fmla="*/ 0 w 66"/>
                <a:gd name="T1" fmla="*/ 0 h 105"/>
                <a:gd name="T2" fmla="*/ 1 w 66"/>
                <a:gd name="T3" fmla="*/ 84 h 105"/>
                <a:gd name="T4" fmla="*/ 66 w 66"/>
                <a:gd name="T5" fmla="*/ 105 h 105"/>
                <a:gd name="T6" fmla="*/ 60 w 66"/>
                <a:gd name="T7" fmla="*/ 9 h 105"/>
                <a:gd name="T8" fmla="*/ 0 w 66"/>
                <a:gd name="T9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105">
                  <a:moveTo>
                    <a:pt x="0" y="0"/>
                  </a:moveTo>
                  <a:lnTo>
                    <a:pt x="1" y="84"/>
                  </a:lnTo>
                  <a:lnTo>
                    <a:pt x="66" y="105"/>
                  </a:lnTo>
                  <a:lnTo>
                    <a:pt x="60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BAB7A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537" name="Freeform 9">
              <a:extLst>
                <a:ext uri="{FF2B5EF4-FFF2-40B4-BE49-F238E27FC236}">
                  <a16:creationId xmlns:a16="http://schemas.microsoft.com/office/drawing/2014/main" id="{7330575A-AFA2-4ADF-8958-5D87703CE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2756"/>
              <a:ext cx="125" cy="257"/>
            </a:xfrm>
            <a:custGeom>
              <a:avLst/>
              <a:gdLst>
                <a:gd name="T0" fmla="*/ 0 w 40"/>
                <a:gd name="T1" fmla="*/ 0 h 91"/>
                <a:gd name="T2" fmla="*/ 4 w 40"/>
                <a:gd name="T3" fmla="*/ 76 h 91"/>
                <a:gd name="T4" fmla="*/ 40 w 40"/>
                <a:gd name="T5" fmla="*/ 91 h 91"/>
                <a:gd name="T6" fmla="*/ 39 w 40"/>
                <a:gd name="T7" fmla="*/ 6 h 91"/>
                <a:gd name="T8" fmla="*/ 0 w 40"/>
                <a:gd name="T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91">
                  <a:moveTo>
                    <a:pt x="0" y="0"/>
                  </a:moveTo>
                  <a:lnTo>
                    <a:pt x="4" y="76"/>
                  </a:lnTo>
                  <a:lnTo>
                    <a:pt x="40" y="91"/>
                  </a:lnTo>
                  <a:lnTo>
                    <a:pt x="39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BAB7A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538" name="Freeform 10">
              <a:extLst>
                <a:ext uri="{FF2B5EF4-FFF2-40B4-BE49-F238E27FC236}">
                  <a16:creationId xmlns:a16="http://schemas.microsoft.com/office/drawing/2014/main" id="{CE29E8F5-82F9-4459-825A-B9A0DAF02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" y="2740"/>
              <a:ext cx="107" cy="222"/>
            </a:xfrm>
            <a:custGeom>
              <a:avLst/>
              <a:gdLst>
                <a:gd name="T0" fmla="*/ 0 w 34"/>
                <a:gd name="T1" fmla="*/ 0 h 79"/>
                <a:gd name="T2" fmla="*/ 1 w 34"/>
                <a:gd name="T3" fmla="*/ 63 h 79"/>
                <a:gd name="T4" fmla="*/ 34 w 34"/>
                <a:gd name="T5" fmla="*/ 79 h 79"/>
                <a:gd name="T6" fmla="*/ 33 w 34"/>
                <a:gd name="T7" fmla="*/ 3 h 79"/>
                <a:gd name="T8" fmla="*/ 0 w 34"/>
                <a:gd name="T9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79">
                  <a:moveTo>
                    <a:pt x="0" y="0"/>
                  </a:moveTo>
                  <a:lnTo>
                    <a:pt x="1" y="63"/>
                  </a:lnTo>
                  <a:lnTo>
                    <a:pt x="34" y="79"/>
                  </a:lnTo>
                  <a:lnTo>
                    <a:pt x="3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6F6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BAB7A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539" name="Freeform 11">
              <a:extLst>
                <a:ext uri="{FF2B5EF4-FFF2-40B4-BE49-F238E27FC236}">
                  <a16:creationId xmlns:a16="http://schemas.microsoft.com/office/drawing/2014/main" id="{9BEB816A-3A03-47AB-BC87-5B305EDBA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1744"/>
              <a:ext cx="634" cy="948"/>
            </a:xfrm>
            <a:custGeom>
              <a:avLst/>
              <a:gdLst>
                <a:gd name="T0" fmla="*/ 26 w 581"/>
                <a:gd name="T1" fmla="*/ 0 h 870"/>
                <a:gd name="T2" fmla="*/ 581 w 581"/>
                <a:gd name="T3" fmla="*/ 647 h 870"/>
                <a:gd name="T4" fmla="*/ 434 w 581"/>
                <a:gd name="T5" fmla="*/ 682 h 870"/>
                <a:gd name="T6" fmla="*/ 408 w 581"/>
                <a:gd name="T7" fmla="*/ 742 h 870"/>
                <a:gd name="T8" fmla="*/ 508 w 581"/>
                <a:gd name="T9" fmla="*/ 870 h 870"/>
                <a:gd name="T10" fmla="*/ 302 w 581"/>
                <a:gd name="T11" fmla="*/ 722 h 870"/>
                <a:gd name="T12" fmla="*/ 0 w 581"/>
                <a:gd name="T13" fmla="*/ 83 h 870"/>
                <a:gd name="T14" fmla="*/ 26 w 581"/>
                <a:gd name="T15" fmla="*/ 0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1" h="870">
                  <a:moveTo>
                    <a:pt x="26" y="0"/>
                  </a:moveTo>
                  <a:lnTo>
                    <a:pt x="581" y="647"/>
                  </a:lnTo>
                  <a:lnTo>
                    <a:pt x="434" y="682"/>
                  </a:lnTo>
                  <a:lnTo>
                    <a:pt x="408" y="742"/>
                  </a:lnTo>
                  <a:lnTo>
                    <a:pt x="508" y="870"/>
                  </a:lnTo>
                  <a:lnTo>
                    <a:pt x="302" y="722"/>
                  </a:lnTo>
                  <a:lnTo>
                    <a:pt x="0" y="83"/>
                  </a:lnTo>
                  <a:lnTo>
                    <a:pt x="26" y="0"/>
                  </a:lnTo>
                  <a:close/>
                </a:path>
              </a:pathLst>
            </a:custGeom>
            <a:gradFill rotWithShape="1">
              <a:gsLst>
                <a:gs pos="0">
                  <a:srgbClr val="8A8572"/>
                </a:gs>
                <a:gs pos="100000">
                  <a:srgbClr val="E7E3D7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540" name="Freeform 12">
              <a:extLst>
                <a:ext uri="{FF2B5EF4-FFF2-40B4-BE49-F238E27FC236}">
                  <a16:creationId xmlns:a16="http://schemas.microsoft.com/office/drawing/2014/main" id="{F27989CD-8300-4030-BDA0-6BE12DB71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3676"/>
              <a:ext cx="1003" cy="414"/>
            </a:xfrm>
            <a:custGeom>
              <a:avLst/>
              <a:gdLst>
                <a:gd name="T0" fmla="*/ 229 w 320"/>
                <a:gd name="T1" fmla="*/ 66 h 132"/>
                <a:gd name="T2" fmla="*/ 211 w 320"/>
                <a:gd name="T3" fmla="*/ 84 h 132"/>
                <a:gd name="T4" fmla="*/ 169 w 320"/>
                <a:gd name="T5" fmla="*/ 102 h 132"/>
                <a:gd name="T6" fmla="*/ 0 w 320"/>
                <a:gd name="T7" fmla="*/ 0 h 132"/>
                <a:gd name="T8" fmla="*/ 67 w 320"/>
                <a:gd name="T9" fmla="*/ 69 h 132"/>
                <a:gd name="T10" fmla="*/ 162 w 320"/>
                <a:gd name="T11" fmla="*/ 127 h 132"/>
                <a:gd name="T12" fmla="*/ 195 w 320"/>
                <a:gd name="T13" fmla="*/ 132 h 132"/>
                <a:gd name="T14" fmla="*/ 219 w 320"/>
                <a:gd name="T15" fmla="*/ 123 h 132"/>
                <a:gd name="T16" fmla="*/ 244 w 320"/>
                <a:gd name="T17" fmla="*/ 96 h 132"/>
                <a:gd name="T18" fmla="*/ 310 w 320"/>
                <a:gd name="T19" fmla="*/ 99 h 132"/>
                <a:gd name="T20" fmla="*/ 320 w 320"/>
                <a:gd name="T21" fmla="*/ 88 h 132"/>
                <a:gd name="T22" fmla="*/ 318 w 320"/>
                <a:gd name="T23" fmla="*/ 72 h 132"/>
                <a:gd name="T24" fmla="*/ 286 w 320"/>
                <a:gd name="T25" fmla="*/ 72 h 132"/>
                <a:gd name="T26" fmla="*/ 229 w 320"/>
                <a:gd name="T27" fmla="*/ 6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0" h="132">
                  <a:moveTo>
                    <a:pt x="229" y="66"/>
                  </a:moveTo>
                  <a:lnTo>
                    <a:pt x="211" y="84"/>
                  </a:lnTo>
                  <a:lnTo>
                    <a:pt x="169" y="102"/>
                  </a:lnTo>
                  <a:lnTo>
                    <a:pt x="0" y="0"/>
                  </a:lnTo>
                  <a:lnTo>
                    <a:pt x="67" y="69"/>
                  </a:lnTo>
                  <a:lnTo>
                    <a:pt x="162" y="127"/>
                  </a:lnTo>
                  <a:lnTo>
                    <a:pt x="195" y="132"/>
                  </a:lnTo>
                  <a:lnTo>
                    <a:pt x="219" y="123"/>
                  </a:lnTo>
                  <a:lnTo>
                    <a:pt x="244" y="96"/>
                  </a:lnTo>
                  <a:lnTo>
                    <a:pt x="310" y="99"/>
                  </a:lnTo>
                  <a:lnTo>
                    <a:pt x="320" y="88"/>
                  </a:lnTo>
                  <a:lnTo>
                    <a:pt x="318" y="72"/>
                  </a:lnTo>
                  <a:lnTo>
                    <a:pt x="286" y="72"/>
                  </a:lnTo>
                  <a:lnTo>
                    <a:pt x="229" y="66"/>
                  </a:lnTo>
                  <a:close/>
                </a:path>
              </a:pathLst>
            </a:custGeom>
            <a:gradFill rotWithShape="1">
              <a:gsLst>
                <a:gs pos="0">
                  <a:srgbClr val="8A8572"/>
                </a:gs>
                <a:gs pos="100000">
                  <a:srgbClr val="E7E3D7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541" name="Freeform 13">
              <a:extLst>
                <a:ext uri="{FF2B5EF4-FFF2-40B4-BE49-F238E27FC236}">
                  <a16:creationId xmlns:a16="http://schemas.microsoft.com/office/drawing/2014/main" id="{907B1A92-7B91-46BF-9301-8C2174A93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2863"/>
              <a:ext cx="949" cy="316"/>
            </a:xfrm>
            <a:custGeom>
              <a:avLst/>
              <a:gdLst>
                <a:gd name="T0" fmla="*/ 608 w 870"/>
                <a:gd name="T1" fmla="*/ 99 h 290"/>
                <a:gd name="T2" fmla="*/ 557 w 870"/>
                <a:gd name="T3" fmla="*/ 151 h 290"/>
                <a:gd name="T4" fmla="*/ 436 w 870"/>
                <a:gd name="T5" fmla="*/ 203 h 290"/>
                <a:gd name="T6" fmla="*/ 0 w 870"/>
                <a:gd name="T7" fmla="*/ 0 h 290"/>
                <a:gd name="T8" fmla="*/ 282 w 870"/>
                <a:gd name="T9" fmla="*/ 216 h 290"/>
                <a:gd name="T10" fmla="*/ 432 w 870"/>
                <a:gd name="T11" fmla="*/ 280 h 290"/>
                <a:gd name="T12" fmla="*/ 510 w 870"/>
                <a:gd name="T13" fmla="*/ 290 h 290"/>
                <a:gd name="T14" fmla="*/ 572 w 870"/>
                <a:gd name="T15" fmla="*/ 246 h 290"/>
                <a:gd name="T16" fmla="*/ 652 w 870"/>
                <a:gd name="T17" fmla="*/ 185 h 290"/>
                <a:gd name="T18" fmla="*/ 841 w 870"/>
                <a:gd name="T19" fmla="*/ 194 h 290"/>
                <a:gd name="T20" fmla="*/ 870 w 870"/>
                <a:gd name="T21" fmla="*/ 162 h 290"/>
                <a:gd name="T22" fmla="*/ 864 w 870"/>
                <a:gd name="T23" fmla="*/ 116 h 290"/>
                <a:gd name="T24" fmla="*/ 772 w 870"/>
                <a:gd name="T25" fmla="*/ 116 h 290"/>
                <a:gd name="T26" fmla="*/ 608 w 870"/>
                <a:gd name="T27" fmla="*/ 99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0" h="290">
                  <a:moveTo>
                    <a:pt x="608" y="99"/>
                  </a:moveTo>
                  <a:lnTo>
                    <a:pt x="557" y="151"/>
                  </a:lnTo>
                  <a:lnTo>
                    <a:pt x="436" y="203"/>
                  </a:lnTo>
                  <a:lnTo>
                    <a:pt x="0" y="0"/>
                  </a:lnTo>
                  <a:lnTo>
                    <a:pt x="282" y="216"/>
                  </a:lnTo>
                  <a:lnTo>
                    <a:pt x="432" y="280"/>
                  </a:lnTo>
                  <a:lnTo>
                    <a:pt x="510" y="290"/>
                  </a:lnTo>
                  <a:lnTo>
                    <a:pt x="572" y="246"/>
                  </a:lnTo>
                  <a:lnTo>
                    <a:pt x="652" y="185"/>
                  </a:lnTo>
                  <a:lnTo>
                    <a:pt x="841" y="194"/>
                  </a:lnTo>
                  <a:lnTo>
                    <a:pt x="870" y="162"/>
                  </a:lnTo>
                  <a:lnTo>
                    <a:pt x="864" y="116"/>
                  </a:lnTo>
                  <a:lnTo>
                    <a:pt x="772" y="116"/>
                  </a:lnTo>
                  <a:lnTo>
                    <a:pt x="608" y="99"/>
                  </a:lnTo>
                  <a:close/>
                </a:path>
              </a:pathLst>
            </a:custGeom>
            <a:gradFill rotWithShape="1">
              <a:gsLst>
                <a:gs pos="0">
                  <a:srgbClr val="8A8572"/>
                </a:gs>
                <a:gs pos="100000">
                  <a:srgbClr val="E7E3D7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542" name="Line 14">
              <a:extLst>
                <a:ext uri="{FF2B5EF4-FFF2-40B4-BE49-F238E27FC236}">
                  <a16:creationId xmlns:a16="http://schemas.microsoft.com/office/drawing/2014/main" id="{5C27F4D8-AEBE-4540-9F4D-8EABDA658F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99" y="2804"/>
              <a:ext cx="490" cy="327"/>
            </a:xfrm>
            <a:prstGeom prst="line">
              <a:avLst/>
            </a:prstGeom>
            <a:noFill/>
            <a:ln w="3175">
              <a:solidFill>
                <a:srgbClr val="8A857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8543" name="Line 15">
            <a:extLst>
              <a:ext uri="{FF2B5EF4-FFF2-40B4-BE49-F238E27FC236}">
                <a16:creationId xmlns:a16="http://schemas.microsoft.com/office/drawing/2014/main" id="{F588D655-F36F-4940-BD4D-96697407F0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" y="2438400"/>
            <a:ext cx="137160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8544" name="Line 16">
            <a:extLst>
              <a:ext uri="{FF2B5EF4-FFF2-40B4-BE49-F238E27FC236}">
                <a16:creationId xmlns:a16="http://schemas.microsoft.com/office/drawing/2014/main" id="{04170C95-6C83-40E6-A899-6996F0BA071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57400" y="2438400"/>
            <a:ext cx="609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8545" name="Line 17">
            <a:extLst>
              <a:ext uri="{FF2B5EF4-FFF2-40B4-BE49-F238E27FC236}">
                <a16:creationId xmlns:a16="http://schemas.microsoft.com/office/drawing/2014/main" id="{A33CC353-46C6-4259-8A7E-8B081BE19E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" y="3657600"/>
            <a:ext cx="198120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8546" name="Line 18">
            <a:extLst>
              <a:ext uri="{FF2B5EF4-FFF2-40B4-BE49-F238E27FC236}">
                <a16:creationId xmlns:a16="http://schemas.microsoft.com/office/drawing/2014/main" id="{0E9FB503-DFB3-41A4-A741-621963EFBC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4191000"/>
            <a:ext cx="190500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8547" name="Line 19">
            <a:extLst>
              <a:ext uri="{FF2B5EF4-FFF2-40B4-BE49-F238E27FC236}">
                <a16:creationId xmlns:a16="http://schemas.microsoft.com/office/drawing/2014/main" id="{C0985C32-5B5D-43E5-A7F9-F09C910687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2600" y="2438400"/>
            <a:ext cx="30480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8548" name="Line 20">
            <a:extLst>
              <a:ext uri="{FF2B5EF4-FFF2-40B4-BE49-F238E27FC236}">
                <a16:creationId xmlns:a16="http://schemas.microsoft.com/office/drawing/2014/main" id="{1F57FD13-4AAF-4C11-AC9A-6A07D335C3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438400"/>
            <a:ext cx="16002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8549" name="Line 21">
            <a:extLst>
              <a:ext uri="{FF2B5EF4-FFF2-40B4-BE49-F238E27FC236}">
                <a16:creationId xmlns:a16="http://schemas.microsoft.com/office/drawing/2014/main" id="{4B12BC61-6779-48F5-9AA3-BA4439F22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4876800"/>
            <a:ext cx="1066800" cy="457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8550" name="Line 22">
            <a:extLst>
              <a:ext uri="{FF2B5EF4-FFF2-40B4-BE49-F238E27FC236}">
                <a16:creationId xmlns:a16="http://schemas.microsoft.com/office/drawing/2014/main" id="{F03E551A-AB17-46A8-A568-D88508903E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657600"/>
            <a:ext cx="99060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78551" name="Picture 23">
            <a:extLst>
              <a:ext uri="{FF2B5EF4-FFF2-40B4-BE49-F238E27FC236}">
                <a16:creationId xmlns:a16="http://schemas.microsoft.com/office/drawing/2014/main" id="{1DD2A17B-DA9D-42FC-A5D2-3CACCBC95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58" r="18958"/>
          <a:stretch>
            <a:fillRect/>
          </a:stretch>
        </p:blipFill>
        <p:spPr bwMode="auto">
          <a:xfrm>
            <a:off x="5410200" y="1447800"/>
            <a:ext cx="3209925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8552" name="TextBox 278551"/>
          <p:cNvSpPr txBox="1"/>
          <p:nvPr/>
        </p:nvSpPr>
        <p:spPr>
          <a:xfrm>
            <a:off x="5410200" y="1447800"/>
            <a:ext cx="3209925" cy="434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OMC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T-AS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B5840073-1D68-486D-828D-334B86508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DMC方法</a:t>
            </a:r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0BDB4A05-4DC2-4B79-A246-9C7F1CDBDD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458200" cy="41148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优势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目前可用的最高质量数字影像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所有相机均内置FMC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具有极强的测绘几何精度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非常适合空中三角测量（AT），易于生成用于测图的立体像对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可实现极高的图像分辨率（低至0.10英尺）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同步采集全色、彩色和红外影像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缺点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硬件成本最高（约180万美元）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99"/>
                </a:solidFill>
                <a:latin typeface="Microsoft YaHei"/>
              </a:defRPr>
            </a:pPr>
            <a:r>
              <a:rPr sz="2600">
                <a:solidFill>
                  <a:srgbClr val="FFFF99"/>
                </a:solidFill>
                <a:latin typeface="Microsoft YaHei"/>
              </a:rPr>
              <a:t>需沿飞行方向设置正射镶嵌线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>
            <a:extLst>
              <a:ext uri="{FF2B5EF4-FFF2-40B4-BE49-F238E27FC236}">
                <a16:creationId xmlns:a16="http://schemas.microsoft.com/office/drawing/2014/main" id="{76EA319D-4070-4C46-B572-04F45DA66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相机选项对比</a:t>
            </a:r>
          </a:p>
        </p:txBody>
      </p:sp>
      <p:graphicFrame>
        <p:nvGraphicFramePr>
          <p:cNvPr id="280579" name="Group 3">
            <a:extLst>
              <a:ext uri="{FF2B5EF4-FFF2-40B4-BE49-F238E27FC236}">
                <a16:creationId xmlns:a16="http://schemas.microsoft.com/office/drawing/2014/main" id="{2A1B9983-700F-41E3-93FA-A77E9009904B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304800" y="1600200"/>
          <a:ext cx="8458200" cy="4140200"/>
        </p:xfrm>
        <a:graphic>
          <a:graphicData uri="http://schemas.openxmlformats.org/drawingml/2006/table">
            <a:tbl>
              <a:tblPr/>
              <a:tblGrid>
                <a:gridCol w="4808538">
                  <a:extLst>
                    <a:ext uri="{9D8B030D-6E8A-4147-A177-3AD203B41FA5}">
                      <a16:colId xmlns:a16="http://schemas.microsoft.com/office/drawing/2014/main" val="3095437223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583156677"/>
                    </a:ext>
                  </a:extLst>
                </a:gridCol>
                <a:gridCol w="1493838">
                  <a:extLst>
                    <a:ext uri="{9D8B030D-6E8A-4147-A177-3AD203B41FA5}">
                      <a16:colId xmlns:a16="http://schemas.microsoft.com/office/drawing/2014/main" val="883256222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3302037733"/>
                    </a:ext>
                  </a:extLst>
                </a:gridCol>
              </a:tblGrid>
              <a:tr h="514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EAEAE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DMC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ADS 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胶片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3165"/>
                  </a:ext>
                </a:extLst>
              </a:tr>
              <a:tr h="473075"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最高质量影像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EAEAE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364278"/>
                  </a:ext>
                </a:extLst>
              </a:tr>
              <a:tr h="514350"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前向运动补偿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EAEAE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073626"/>
                  </a:ext>
                </a:extLst>
              </a:tr>
              <a:tr h="514350"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强测绘几何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EAEAE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208961"/>
                  </a:ext>
                </a:extLst>
              </a:tr>
              <a:tr h="514350"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正射影像生产效率最高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EAEAE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EAEAEA"/>
                        </a:solidFill>
                        <a:effectLst/>
                        <a:latin typeface="Calibri" panose="020F0502020204030204" pitchFamily="34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73730"/>
                  </a:ext>
                </a:extLst>
              </a:tr>
              <a:tr h="514350"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具备空中三角测量能力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EAEAE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629620"/>
                  </a:ext>
                </a:extLst>
              </a:tr>
              <a:tr h="514350"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黑白、彩色、彩色红外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EAEAE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708062"/>
                  </a:ext>
                </a:extLst>
              </a:tr>
              <a:tr h="514350"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最大理想分辨率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3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300">
                          <a:solidFill>
                            <a:srgbClr val="EAEAEA"/>
                          </a:solidFill>
                          <a:latin typeface="Calibri"/>
                        </a:rPr>
                        <a:t>0.10英尺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8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800">
                          <a:solidFill>
                            <a:srgbClr val="EAEAEA"/>
                          </a:solidFill>
                          <a:latin typeface="Calibri"/>
                        </a:rPr>
                        <a:t>0.5英尺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EAEAEA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EAEAEA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300">
                          <a:solidFill>
                            <a:srgbClr val="EAEAEA"/>
                          </a:solidFill>
                          <a:latin typeface="Calibri"/>
                        </a:defRPr>
                      </a:pPr>
                      <a:r>
                        <a:rPr sz="2300">
                          <a:solidFill>
                            <a:srgbClr val="EAEAEA"/>
                          </a:solidFill>
                          <a:latin typeface="Calibri"/>
                        </a:rPr>
                        <a:t>0.25英尺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4303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>
            <a:extLst>
              <a:ext uri="{FF2B5EF4-FFF2-40B4-BE49-F238E27FC236}">
                <a16:creationId xmlns:a16="http://schemas.microsoft.com/office/drawing/2014/main" id="{A56BC9A2-95F7-4D87-9A65-E80AA9F74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数据问题</a:t>
            </a:r>
          </a:p>
        </p:txBody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8AFC2AF0-B723-48B2-8669-21A5A4B0A4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9530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高分辨率相机每天飞行可生成900 GB的数据。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数据存储与备份问题十分显著。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从飞行到生产的时间周期存在问题。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>
            <a:extLst>
              <a:ext uri="{FF2B5EF4-FFF2-40B4-BE49-F238E27FC236}">
                <a16:creationId xmlns:a16="http://schemas.microsoft.com/office/drawing/2014/main" id="{93A8566A-973D-4DC8-B0D1-186608803D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PennDOT 准确性分析</a:t>
            </a:r>
          </a:p>
        </p:txBody>
      </p:sp>
      <p:pic>
        <p:nvPicPr>
          <p:cNvPr id="309251" name="Picture 3">
            <a:extLst>
              <a:ext uri="{FF2B5EF4-FFF2-40B4-BE49-F238E27FC236}">
                <a16:creationId xmlns:a16="http://schemas.microsoft.com/office/drawing/2014/main" id="{B4FE6D03-673D-4C0C-AE60-7340E1032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91440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252" name="TextBox 309251"/>
          <p:cNvSpPr txBox="1"/>
          <p:nvPr/>
        </p:nvSpPr>
        <p:spPr>
          <a:xfrm>
            <a:off x="0" y="1371600"/>
            <a:ext cx="9144000" cy="4648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2,000英尺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胶片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DMC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1,200英尺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000000"/>
                </a:solidFill>
                <a:latin typeface="Microsoft YaHei"/>
              </a:defRPr>
            </a:pPr>
            <a:r>
              <a:rPr sz="2000">
                <a:solidFill>
                  <a:srgbClr val="000000"/>
                </a:solidFill>
                <a:latin typeface="Microsoft YaHei"/>
              </a:rPr>
              <a:t>胶片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5B3735EC-9566-431D-9657-CB9A8AC654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DMC精度分析</a:t>
            </a: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846FC76B-69DF-4DB9-852D-21A67984E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7772400" cy="41148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与PennDOT联合开展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胶片航拍高度：1,200英尺与2,000英尺AMT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DMC航拍高度：2,000英尺AMT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45个地面检查点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DMC水平精度与1,200英尺AMT胶片相当（RMSE 0.27英尺 vs 0.28英尺）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DMC垂直精度与2,000英尺AMT胶片相当（RMSE 0.27英尺 vs 0.27英尺）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309F29DA-6ADE-4D02-AD2C-12B1002EB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数字传感器总结</a:t>
            </a:r>
          </a:p>
        </p:txBody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2B7DBD91-1A72-4C48-B8AA-DDB1A470F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7772400" cy="4419600"/>
          </a:xfrm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我们正处于技术曲线的早期阶段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2008年将会有更多测绘公司采购数字传感器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硬件制造商将继续保持强劲的研发投入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并非适用于所有项目，但对合适的项目意义重大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Microsoft YaHei"/>
              </a:defRPr>
            </a:pPr>
            <a:r>
              <a:rPr sz="2800">
                <a:solidFill>
                  <a:srgbClr val="FFFFFF"/>
                </a:solidFill>
                <a:latin typeface="Microsoft YaHei"/>
              </a:rPr>
              <a:t>光谱信息量远超其他任何采集方法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121E726E-ABE9-478D-8D92-F58C0AC384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Microsoft YaHei"/>
              </a:defRPr>
            </a:pPr>
            <a:r>
              <a:rPr sz="3200">
                <a:solidFill>
                  <a:srgbClr val="FFFFFF"/>
                </a:solidFill>
                <a:latin typeface="Microsoft YaHei"/>
              </a:rPr>
              <a:t>曝光次数……胶片与数码</a:t>
            </a:r>
          </a:p>
        </p:txBody>
      </p:sp>
      <p:sp>
        <p:nvSpPr>
          <p:cNvPr id="319492" name="Line 4">
            <a:extLst>
              <a:ext uri="{FF2B5EF4-FFF2-40B4-BE49-F238E27FC236}">
                <a16:creationId xmlns:a16="http://schemas.microsoft.com/office/drawing/2014/main" id="{DC873B09-773D-440A-9DE3-453E397FA4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5913" y="1676400"/>
            <a:ext cx="0" cy="388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9493" name="Line 5">
            <a:extLst>
              <a:ext uri="{FF2B5EF4-FFF2-40B4-BE49-F238E27FC236}">
                <a16:creationId xmlns:a16="http://schemas.microsoft.com/office/drawing/2014/main" id="{C5C29AE3-273B-4BA0-8819-B185CC4BAD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85913" y="5562600"/>
            <a:ext cx="655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9494" name="Text Box 6">
            <a:extLst>
              <a:ext uri="{FF2B5EF4-FFF2-40B4-BE49-F238E27FC236}">
                <a16:creationId xmlns:a16="http://schemas.microsoft.com/office/drawing/2014/main" id="{4D7C3307-0208-474C-B620-934F2602D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2514600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60,000</a:t>
            </a:r>
          </a:p>
        </p:txBody>
      </p:sp>
      <p:sp>
        <p:nvSpPr>
          <p:cNvPr id="319495" name="Text Box 7">
            <a:extLst>
              <a:ext uri="{FF2B5EF4-FFF2-40B4-BE49-F238E27FC236}">
                <a16:creationId xmlns:a16="http://schemas.microsoft.com/office/drawing/2014/main" id="{33DE47B1-647C-44E1-A969-6060F43F1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3505200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40,000</a:t>
            </a:r>
          </a:p>
        </p:txBody>
      </p:sp>
      <p:sp>
        <p:nvSpPr>
          <p:cNvPr id="319496" name="Text Box 8">
            <a:extLst>
              <a:ext uri="{FF2B5EF4-FFF2-40B4-BE49-F238E27FC236}">
                <a16:creationId xmlns:a16="http://schemas.microsoft.com/office/drawing/2014/main" id="{05579E79-D269-41C9-B647-C69F555A2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4495800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20,000</a:t>
            </a:r>
          </a:p>
        </p:txBody>
      </p:sp>
      <p:sp>
        <p:nvSpPr>
          <p:cNvPr id="319497" name="Text Box 9">
            <a:extLst>
              <a:ext uri="{FF2B5EF4-FFF2-40B4-BE49-F238E27FC236}">
                <a16:creationId xmlns:a16="http://schemas.microsoft.com/office/drawing/2014/main" id="{EA3914C2-A13D-43AB-9599-05F06D8AC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3838" y="5527675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2004</a:t>
            </a:r>
          </a:p>
        </p:txBody>
      </p:sp>
      <p:sp>
        <p:nvSpPr>
          <p:cNvPr id="319498" name="Text Box 10">
            <a:extLst>
              <a:ext uri="{FF2B5EF4-FFF2-40B4-BE49-F238E27FC236}">
                <a16:creationId xmlns:a16="http://schemas.microsoft.com/office/drawing/2014/main" id="{FA0B53E6-2314-4689-96C6-DEB834DC4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2963" y="556260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2005</a:t>
            </a:r>
          </a:p>
        </p:txBody>
      </p:sp>
      <p:sp>
        <p:nvSpPr>
          <p:cNvPr id="319499" name="Text Box 11">
            <a:extLst>
              <a:ext uri="{FF2B5EF4-FFF2-40B4-BE49-F238E27FC236}">
                <a16:creationId xmlns:a16="http://schemas.microsoft.com/office/drawing/2014/main" id="{838AFC66-EA80-4A69-9F4E-B7F9567FD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763" y="556260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2006</a:t>
            </a:r>
          </a:p>
        </p:txBody>
      </p:sp>
      <p:sp>
        <p:nvSpPr>
          <p:cNvPr id="319500" name="Text Box 12">
            <a:extLst>
              <a:ext uri="{FF2B5EF4-FFF2-40B4-BE49-F238E27FC236}">
                <a16:creationId xmlns:a16="http://schemas.microsoft.com/office/drawing/2014/main" id="{42C619D6-F78A-448C-9277-62BDB5CE7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763" y="556260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2007</a:t>
            </a:r>
          </a:p>
        </p:txBody>
      </p:sp>
      <p:sp>
        <p:nvSpPr>
          <p:cNvPr id="319503" name="Line 15">
            <a:extLst>
              <a:ext uri="{FF2B5EF4-FFF2-40B4-BE49-F238E27FC236}">
                <a16:creationId xmlns:a16="http://schemas.microsoft.com/office/drawing/2014/main" id="{CDB2B383-D875-46BA-825C-3E6337BB4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1981200"/>
            <a:ext cx="6858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19504" name="Text Box 16">
            <a:extLst>
              <a:ext uri="{FF2B5EF4-FFF2-40B4-BE49-F238E27FC236}">
                <a16:creationId xmlns:a16="http://schemas.microsoft.com/office/drawing/2014/main" id="{534B365B-BD82-4423-AD00-670F5304C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25" y="1727200"/>
            <a:ext cx="236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sz="2000">
                <a:solidFill>
                  <a:srgbClr val="FFFFFF"/>
                </a:solidFill>
                <a:latin typeface="Calibri"/>
              </a:rPr>
              <a:t>胶片摄影</a:t>
            </a:r>
          </a:p>
        </p:txBody>
      </p:sp>
      <p:sp>
        <p:nvSpPr>
          <p:cNvPr id="319505" name="Text Box 17">
            <a:extLst>
              <a:ext uri="{FF2B5EF4-FFF2-40B4-BE49-F238E27FC236}">
                <a16:creationId xmlns:a16="http://schemas.microsoft.com/office/drawing/2014/main" id="{DEF1F235-BE3C-4FEE-B229-94BCE4F60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143125"/>
            <a:ext cx="204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rPr sz="2000">
                <a:solidFill>
                  <a:srgbClr val="FFFFFF"/>
                </a:solidFill>
                <a:latin typeface="Calibri"/>
              </a:rPr>
              <a:t>数码影像</a:t>
            </a:r>
          </a:p>
        </p:txBody>
      </p:sp>
      <p:sp>
        <p:nvSpPr>
          <p:cNvPr id="319506" name="Line 18">
            <a:extLst>
              <a:ext uri="{FF2B5EF4-FFF2-40B4-BE49-F238E27FC236}">
                <a16:creationId xmlns:a16="http://schemas.microsoft.com/office/drawing/2014/main" id="{8CD8687A-EF11-4372-BB24-E0D525C73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5088" y="2362200"/>
            <a:ext cx="6858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19509" name="Text Box 21">
            <a:extLst>
              <a:ext uri="{FF2B5EF4-FFF2-40B4-BE49-F238E27FC236}">
                <a16:creationId xmlns:a16="http://schemas.microsoft.com/office/drawing/2014/main" id="{EECA3C31-3F4F-4C43-AD27-5FE8B8744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0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80,000</a:t>
            </a:r>
          </a:p>
        </p:txBody>
      </p:sp>
      <p:sp>
        <p:nvSpPr>
          <p:cNvPr id="319510" name="Freeform 22">
            <a:extLst>
              <a:ext uri="{FF2B5EF4-FFF2-40B4-BE49-F238E27FC236}">
                <a16:creationId xmlns:a16="http://schemas.microsoft.com/office/drawing/2014/main" id="{6F14D4CA-8532-46E3-8B06-C3D6ACAF8716}"/>
              </a:ext>
            </a:extLst>
          </p:cNvPr>
          <p:cNvSpPr>
            <a:spLocks/>
          </p:cNvSpPr>
          <p:nvPr/>
        </p:nvSpPr>
        <p:spPr bwMode="auto">
          <a:xfrm>
            <a:off x="1600200" y="3276600"/>
            <a:ext cx="5638800" cy="2133600"/>
          </a:xfrm>
          <a:custGeom>
            <a:avLst/>
            <a:gdLst>
              <a:gd name="T0" fmla="*/ 0 w 3552"/>
              <a:gd name="T1" fmla="*/ 0 h 1344"/>
              <a:gd name="T2" fmla="*/ 1200 w 3552"/>
              <a:gd name="T3" fmla="*/ 528 h 1344"/>
              <a:gd name="T4" fmla="*/ 2352 w 3552"/>
              <a:gd name="T5" fmla="*/ 1248 h 1344"/>
              <a:gd name="T6" fmla="*/ 3552 w 3552"/>
              <a:gd name="T7" fmla="*/ 1344 h 1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52" h="1344">
                <a:moveTo>
                  <a:pt x="0" y="0"/>
                </a:moveTo>
                <a:lnTo>
                  <a:pt x="1200" y="528"/>
                </a:lnTo>
                <a:lnTo>
                  <a:pt x="2352" y="1248"/>
                </a:lnTo>
                <a:lnTo>
                  <a:pt x="3552" y="1344"/>
                </a:lnTo>
              </a:path>
            </a:pathLst>
          </a:custGeom>
          <a:noFill/>
          <a:ln w="41275" cap="flat" cmpd="sng">
            <a:solidFill>
              <a:srgbClr val="3399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19511" name="Freeform 23">
            <a:extLst>
              <a:ext uri="{FF2B5EF4-FFF2-40B4-BE49-F238E27FC236}">
                <a16:creationId xmlns:a16="http://schemas.microsoft.com/office/drawing/2014/main" id="{643267E5-0D66-409D-B26A-6EF754E90219}"/>
              </a:ext>
            </a:extLst>
          </p:cNvPr>
          <p:cNvSpPr>
            <a:spLocks/>
          </p:cNvSpPr>
          <p:nvPr/>
        </p:nvSpPr>
        <p:spPr bwMode="auto">
          <a:xfrm>
            <a:off x="3505200" y="1371600"/>
            <a:ext cx="3886200" cy="3581400"/>
          </a:xfrm>
          <a:custGeom>
            <a:avLst/>
            <a:gdLst>
              <a:gd name="T0" fmla="*/ 0 w 2448"/>
              <a:gd name="T1" fmla="*/ 2256 h 2256"/>
              <a:gd name="T2" fmla="*/ 1104 w 2448"/>
              <a:gd name="T3" fmla="*/ 2112 h 2256"/>
              <a:gd name="T4" fmla="*/ 2448 w 2448"/>
              <a:gd name="T5" fmla="*/ 0 h 2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48" h="2256">
                <a:moveTo>
                  <a:pt x="0" y="2256"/>
                </a:moveTo>
                <a:lnTo>
                  <a:pt x="1104" y="2112"/>
                </a:lnTo>
                <a:lnTo>
                  <a:pt x="2448" y="0"/>
                </a:lnTo>
              </a:path>
            </a:pathLst>
          </a:custGeom>
          <a:noFill/>
          <a:ln w="41275" cap="flat" cmpd="sng">
            <a:solidFill>
              <a:srgbClr val="FF99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81E1F43E-B85D-4F6A-B427-0F18270F8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A20A3F5D-CF41-467B-A441-1D914515D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307204" name="Picture 4">
            <a:extLst>
              <a:ext uri="{FF2B5EF4-FFF2-40B4-BE49-F238E27FC236}">
                <a16:creationId xmlns:a16="http://schemas.microsoft.com/office/drawing/2014/main" id="{AE63BE73-1F3C-4AD8-B2B5-B12054C8F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02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205" name="TextBox 307204"/>
          <p:cNvSpPr txBox="1"/>
          <p:nvPr/>
        </p:nvSpPr>
        <p:spPr>
          <a:xfrm>
            <a:off x="0" y="0"/>
            <a:ext cx="9144000" cy="6024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22" name="Picture 2">
            <a:extLst>
              <a:ext uri="{FF2B5EF4-FFF2-40B4-BE49-F238E27FC236}">
                <a16:creationId xmlns:a16="http://schemas.microsoft.com/office/drawing/2014/main" id="{4F83D6FA-87C3-45C0-99A4-184483FE2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00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723" name="TextBox 286722"/>
          <p:cNvSpPr txBox="1"/>
          <p:nvPr/>
        </p:nvSpPr>
        <p:spPr>
          <a:xfrm>
            <a:off x="0" y="0"/>
            <a:ext cx="9144000" cy="6000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746" name="Picture 2">
            <a:extLst>
              <a:ext uri="{FF2B5EF4-FFF2-40B4-BE49-F238E27FC236}">
                <a16:creationId xmlns:a16="http://schemas.microsoft.com/office/drawing/2014/main" id="{3D1A3402-2EAC-4F36-BBA0-55BF3BC23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contras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7747" name="TextBox 287746"/>
          <p:cNvSpPr txBox="1"/>
          <p:nvPr/>
        </p:nvSpPr>
        <p:spPr>
          <a:xfrm>
            <a:off x="0" y="0"/>
            <a:ext cx="9144000" cy="6000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770" name="Picture 2">
            <a:extLst>
              <a:ext uri="{FF2B5EF4-FFF2-40B4-BE49-F238E27FC236}">
                <a16:creationId xmlns:a16="http://schemas.microsoft.com/office/drawing/2014/main" id="{2F6A367E-EBF0-45BB-83EE-F2C30823D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55"/>
          <a:stretch>
            <a:fillRect/>
          </a:stretch>
        </p:blipFill>
        <p:spPr bwMode="auto">
          <a:xfrm>
            <a:off x="-374650" y="0"/>
            <a:ext cx="9891713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8771" name="TextBox 288770"/>
          <p:cNvSpPr txBox="1"/>
          <p:nvPr/>
        </p:nvSpPr>
        <p:spPr>
          <a:xfrm>
            <a:off x="-374650" y="0"/>
            <a:ext cx="9891713" cy="6019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794" name="Picture 2">
            <a:extLst>
              <a:ext uri="{FF2B5EF4-FFF2-40B4-BE49-F238E27FC236}">
                <a16:creationId xmlns:a16="http://schemas.microsoft.com/office/drawing/2014/main" id="{05790537-FB61-4E4D-B258-281610DA2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95400"/>
            <a:ext cx="9144000" cy="7327900"/>
          </a:xfrm>
          <a:prstGeom prst="rect">
            <a:avLst/>
          </a:prstGeom>
          <a:noFill/>
          <a:ln w="15875">
            <a:solidFill>
              <a:srgbClr val="243B7F"/>
            </a:solidFill>
            <a:miter lim="800000"/>
            <a:headEnd/>
            <a:tailEnd/>
          </a:ln>
          <a:effectLst>
            <a:outerShdw dist="53882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795" name="TextBox 289794"/>
          <p:cNvSpPr txBox="1"/>
          <p:nvPr/>
        </p:nvSpPr>
        <p:spPr>
          <a:xfrm>
            <a:off x="0" y="-1295400"/>
            <a:ext cx="9144000" cy="7327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摄影科学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地理空间解决方案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63EED746-1A6D-4832-A811-6F6480830F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rPr sz="2000">
                <a:solidFill>
                  <a:srgbClr val="FFFFFF"/>
                </a:solidFill>
                <a:latin typeface="Microsoft YaHei"/>
              </a:rPr>
              <a:t>有问题吗？</a:t>
            </a:r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AAB89C1E-AB97-4BAC-A830-7903062D38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_design_for_Presentation">
  <a:themeElements>
    <a:clrScheme name="new_design_for_Presentatio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new_design_for_Presentatio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new_design_for_Presentatio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w_design_for_Presentatio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w_design_for_Presentatio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w_design_for_Presentatio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w_design_for_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w_design_for_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w_design_for_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J:\Photo Science\powerpoint\new_design_for_Presentation.pot</Template>
  <TotalTime>27217</TotalTime>
  <Words>760</Words>
  <Application>Microsoft Office PowerPoint</Application>
  <PresentationFormat>全屏显示(4:3)</PresentationFormat>
  <Paragraphs>138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Times New Roman</vt:lpstr>
      <vt:lpstr>Calibri</vt:lpstr>
      <vt:lpstr>Impact</vt:lpstr>
      <vt:lpstr>Arial</vt:lpstr>
      <vt:lpstr>Symbol</vt:lpstr>
      <vt:lpstr>new_design_for_Presentation</vt:lpstr>
      <vt:lpstr>Advanced Mapping with Digital     Sensors</vt:lpstr>
      <vt:lpstr>Why Digital Imagery?</vt:lpstr>
      <vt:lpstr>PowerPoint 演示文稿</vt:lpstr>
      <vt:lpstr>PowerPoint 演示文稿</vt:lpstr>
      <vt:lpstr>PowerPoint 演示文稿</vt:lpstr>
      <vt:lpstr>Z/I Digital Mapping Camera</vt:lpstr>
      <vt:lpstr>PowerPoint 演示文稿</vt:lpstr>
      <vt:lpstr>PowerPoint 演示文稿</vt:lpstr>
      <vt:lpstr>PowerPoint 演示文稿</vt:lpstr>
      <vt:lpstr>Digital Cameras</vt:lpstr>
      <vt:lpstr>Digital Sensors Today</vt:lpstr>
      <vt:lpstr>Digital Camera versus Film</vt:lpstr>
      <vt:lpstr>PowerPoint 演示文稿</vt:lpstr>
      <vt:lpstr>PowerPoint 演示文稿</vt:lpstr>
      <vt:lpstr>PowerPoint 演示文稿</vt:lpstr>
      <vt:lpstr>Traditional Film Approach</vt:lpstr>
      <vt:lpstr>Film Approach</vt:lpstr>
      <vt:lpstr>Pushbroom Sensor (Leica ADS 40)</vt:lpstr>
      <vt:lpstr>Pushbroom Digital Approach</vt:lpstr>
      <vt:lpstr>Framing Sensor (Z/I DMC)</vt:lpstr>
      <vt:lpstr>DMC Approach</vt:lpstr>
      <vt:lpstr>Comparison of Camera Options</vt:lpstr>
      <vt:lpstr>Data Issues</vt:lpstr>
      <vt:lpstr>PennDOT Accuracy Analysis</vt:lpstr>
      <vt:lpstr>DMC Accuracy Analysis</vt:lpstr>
      <vt:lpstr>Digital Sensor Summary</vt:lpstr>
      <vt:lpstr>Number of Exposures… Film vs Digital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Jennie Sweo</dc:creator>
  <cp:lastModifiedBy>家梁</cp:lastModifiedBy>
  <cp:revision>161</cp:revision>
  <dcterms:created xsi:type="dcterms:W3CDTF">2004-05-12T19:07:09Z</dcterms:created>
  <dcterms:modified xsi:type="dcterms:W3CDTF">2026-04-21T15:18:55Z</dcterms:modified>
</cp:coreProperties>
</file>